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317" r:id="rId2"/>
    <p:sldId id="259" r:id="rId3"/>
    <p:sldId id="257" r:id="rId4"/>
    <p:sldId id="261" r:id="rId5"/>
    <p:sldId id="270" r:id="rId6"/>
    <p:sldId id="262" r:id="rId7"/>
    <p:sldId id="263" r:id="rId8"/>
    <p:sldId id="265" r:id="rId9"/>
    <p:sldId id="264" r:id="rId10"/>
    <p:sldId id="295" r:id="rId11"/>
    <p:sldId id="266" r:id="rId12"/>
    <p:sldId id="269" r:id="rId13"/>
    <p:sldId id="267" r:id="rId14"/>
    <p:sldId id="268" r:id="rId15"/>
    <p:sldId id="271" r:id="rId16"/>
    <p:sldId id="272" r:id="rId17"/>
    <p:sldId id="273" r:id="rId18"/>
    <p:sldId id="274" r:id="rId19"/>
    <p:sldId id="275" r:id="rId20"/>
    <p:sldId id="279" r:id="rId21"/>
    <p:sldId id="280" r:id="rId22"/>
    <p:sldId id="281" r:id="rId23"/>
    <p:sldId id="282" r:id="rId24"/>
    <p:sldId id="284" r:id="rId25"/>
    <p:sldId id="283" r:id="rId26"/>
    <p:sldId id="285" r:id="rId27"/>
    <p:sldId id="286" r:id="rId28"/>
    <p:sldId id="287" r:id="rId29"/>
    <p:sldId id="288" r:id="rId30"/>
    <p:sldId id="289" r:id="rId31"/>
    <p:sldId id="290" r:id="rId32"/>
    <p:sldId id="292" r:id="rId33"/>
    <p:sldId id="293" r:id="rId34"/>
    <p:sldId id="294" r:id="rId35"/>
    <p:sldId id="296" r:id="rId36"/>
    <p:sldId id="297" r:id="rId37"/>
    <p:sldId id="298" r:id="rId38"/>
    <p:sldId id="300" r:id="rId39"/>
    <p:sldId id="299" r:id="rId40"/>
    <p:sldId id="301" r:id="rId41"/>
    <p:sldId id="302" r:id="rId42"/>
    <p:sldId id="303" r:id="rId43"/>
    <p:sldId id="304" r:id="rId44"/>
    <p:sldId id="305" r:id="rId45"/>
    <p:sldId id="306" r:id="rId46"/>
    <p:sldId id="307" r:id="rId47"/>
    <p:sldId id="308" r:id="rId48"/>
    <p:sldId id="309" r:id="rId49"/>
    <p:sldId id="310" r:id="rId50"/>
    <p:sldId id="312" r:id="rId51"/>
    <p:sldId id="311" r:id="rId52"/>
    <p:sldId id="313" r:id="rId53"/>
    <p:sldId id="314" r:id="rId54"/>
    <p:sldId id="315" r:id="rId55"/>
    <p:sldId id="316" r:id="rId56"/>
    <p:sldId id="291" r:id="rId57"/>
    <p:sldId id="318" r:id="rId58"/>
    <p:sldId id="31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3" autoAdjust="0"/>
    <p:restoredTop sz="94660"/>
  </p:normalViewPr>
  <p:slideViewPr>
    <p:cSldViewPr snapToGrid="0">
      <p:cViewPr varScale="1">
        <p:scale>
          <a:sx n="82" d="100"/>
          <a:sy n="82" d="100"/>
        </p:scale>
        <p:origin x="5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AC463-3AE7-4D55-B08D-A3587DCEBF2B}" type="datetimeFigureOut">
              <a:rPr lang="en-US" smtClean="0"/>
              <a:t>6/2/2025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D85E13-B53D-4347-9ED7-8382E669D4BF}" type="slidenum">
              <a:rPr lang="en-US" smtClean="0"/>
              <a:t>‹#›</a:t>
            </a:fld>
            <a:endParaRPr lang="en-US"/>
          </a:p>
        </p:txBody>
      </p:sp>
    </p:spTree>
    <p:extLst>
      <p:ext uri="{BB962C8B-B14F-4D97-AF65-F5344CB8AC3E}">
        <p14:creationId xmlns:p14="http://schemas.microsoft.com/office/powerpoint/2010/main" val="3722938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5100 MIM 4-46 pg244</a:t>
            </a:r>
          </a:p>
        </p:txBody>
      </p:sp>
      <p:sp>
        <p:nvSpPr>
          <p:cNvPr id="4" name="Slide Number Placeholder 3"/>
          <p:cNvSpPr>
            <a:spLocks noGrp="1"/>
          </p:cNvSpPr>
          <p:nvPr>
            <p:ph type="sldNum" sz="quarter" idx="5"/>
          </p:nvPr>
        </p:nvSpPr>
        <p:spPr/>
        <p:txBody>
          <a:bodyPr/>
          <a:lstStyle/>
          <a:p>
            <a:fld id="{DDD85E13-B53D-4347-9ED7-8382E669D4BF}" type="slidenum">
              <a:rPr lang="en-US" smtClean="0"/>
              <a:t>2</a:t>
            </a:fld>
            <a:endParaRPr lang="en-US"/>
          </a:p>
        </p:txBody>
      </p:sp>
    </p:spTree>
    <p:extLst>
      <p:ext uri="{BB962C8B-B14F-4D97-AF65-F5344CB8AC3E}">
        <p14:creationId xmlns:p14="http://schemas.microsoft.com/office/powerpoint/2010/main" val="1124878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0544B-99CF-25F6-ADDC-BC22C7D1F2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944C03-4841-1FD8-BA68-84A7EC165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B6F3E4-4171-8CFC-1285-A59763A9EF22}"/>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5" name="Footer Placeholder 4">
            <a:extLst>
              <a:ext uri="{FF2B5EF4-FFF2-40B4-BE49-F238E27FC236}">
                <a16:creationId xmlns:a16="http://schemas.microsoft.com/office/drawing/2014/main" id="{3E2553BE-4CA1-0DFF-C57C-6098A8AFC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49EBEC-8832-6C99-13AE-256960710067}"/>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2982295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B9B9B-531C-D9DB-F519-D514D9EE2E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CA729D-08A2-130A-9CA0-91AB371674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380579-AC79-80AA-92E1-FA134A2FB890}"/>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5" name="Footer Placeholder 4">
            <a:extLst>
              <a:ext uri="{FF2B5EF4-FFF2-40B4-BE49-F238E27FC236}">
                <a16:creationId xmlns:a16="http://schemas.microsoft.com/office/drawing/2014/main" id="{8D82E739-612E-03EF-459E-54C6676CCE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B9872-98F3-54BE-03A7-3307F66E09A4}"/>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286923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BD92-F6F7-D7A3-E96F-86EBC16E86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98936A-3594-7BFC-9922-F24C6C8BE9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25FBF8-BA8D-E3E8-3A0E-4878B68D5C58}"/>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5" name="Footer Placeholder 4">
            <a:extLst>
              <a:ext uri="{FF2B5EF4-FFF2-40B4-BE49-F238E27FC236}">
                <a16:creationId xmlns:a16="http://schemas.microsoft.com/office/drawing/2014/main" id="{A525A1A6-C5D4-DA65-4837-C63350ED62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05768D-ACF9-167B-55EB-BE817665AFC0}"/>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3277154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82BDE-BEAD-DA73-CE32-5A160E0100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F5E4A-2FBE-E625-DDA8-609133E830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F13DEE-8C0F-414C-5B55-A6B45AAE26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3526B-F8BA-5F8D-F8B6-D0C87BF00530}"/>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6" name="Footer Placeholder 5">
            <a:extLst>
              <a:ext uri="{FF2B5EF4-FFF2-40B4-BE49-F238E27FC236}">
                <a16:creationId xmlns:a16="http://schemas.microsoft.com/office/drawing/2014/main" id="{6DA010D8-2F03-1AB5-B2CC-FB64D70C30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A722CC-ED8C-8AD4-A981-5C6CB884C6C9}"/>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2216156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AD055-A206-98A1-ABA5-A4183DB48C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DD4C85-4D52-7E69-DC2C-53D3C514ED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C96622-E6A2-A1A5-0906-34C73473C0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830529-BA6D-44DC-EA28-9366F31901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01E937-D788-689E-24A6-C221803D1E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385F0E-39CB-FD6F-A502-E0B9BEA863FB}"/>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8" name="Footer Placeholder 7">
            <a:extLst>
              <a:ext uri="{FF2B5EF4-FFF2-40B4-BE49-F238E27FC236}">
                <a16:creationId xmlns:a16="http://schemas.microsoft.com/office/drawing/2014/main" id="{35C4B87C-3BF5-3F91-C68D-7281DA1CC1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BFFC73-FC61-228B-AB5F-73BC891E2FDA}"/>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187127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B5A1C-DC09-EDFC-0CF9-D19F09E615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6C65BD-F931-25F8-5333-8EB23218FC05}"/>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4" name="Footer Placeholder 3">
            <a:extLst>
              <a:ext uri="{FF2B5EF4-FFF2-40B4-BE49-F238E27FC236}">
                <a16:creationId xmlns:a16="http://schemas.microsoft.com/office/drawing/2014/main" id="{42CB32DC-2246-8632-AA75-1F85707346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88789-1653-FBFF-2355-84C4FAA4D056}"/>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684305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848F53-AADE-2533-96C8-1A488D983280}"/>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3" name="Footer Placeholder 2">
            <a:extLst>
              <a:ext uri="{FF2B5EF4-FFF2-40B4-BE49-F238E27FC236}">
                <a16:creationId xmlns:a16="http://schemas.microsoft.com/office/drawing/2014/main" id="{A7681877-F717-4229-A567-89AD538A17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90A5C3-E6E2-C8FF-DAAD-9999EA557009}"/>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2560995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C530-803C-2E04-8963-776683E3EC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3BB3F6-9139-1B05-B9F6-6304107083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1D3EAA-1DE6-5385-860E-FD27651A26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A3198-7E62-C9FB-78D0-1558D7B230C9}"/>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6" name="Footer Placeholder 5">
            <a:extLst>
              <a:ext uri="{FF2B5EF4-FFF2-40B4-BE49-F238E27FC236}">
                <a16:creationId xmlns:a16="http://schemas.microsoft.com/office/drawing/2014/main" id="{BC0DB40E-D100-C3B3-4E26-7430ACAED0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28916F-0729-B9FB-5342-7BB08E786E5B}"/>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1441610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C6049-46EC-CDAB-39AB-23B3321DAB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155207-8C17-1739-3622-B3C7C70BFD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1144F8-5169-196E-359D-87B58708A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B7E27C-79A3-30E9-E2D0-1AEAF42B4B87}"/>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6" name="Footer Placeholder 5">
            <a:extLst>
              <a:ext uri="{FF2B5EF4-FFF2-40B4-BE49-F238E27FC236}">
                <a16:creationId xmlns:a16="http://schemas.microsoft.com/office/drawing/2014/main" id="{8B492349-571A-F961-3967-24FD0104E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BEE9BC-FBB3-B584-1A63-646CA7689C3A}"/>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3256938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9A1DD-EE73-C51A-7B46-86F5582A63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C8CC7F-C53F-4C38-B6F1-4AFD5BA3BB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E1C36-332E-99E7-C000-CB7D5A53275D}"/>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5" name="Footer Placeholder 4">
            <a:extLst>
              <a:ext uri="{FF2B5EF4-FFF2-40B4-BE49-F238E27FC236}">
                <a16:creationId xmlns:a16="http://schemas.microsoft.com/office/drawing/2014/main" id="{0D98908F-8E8A-DEFF-1F0B-0C18BD08A3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4D8547-F74C-C7DB-1654-8F9EB114B83A}"/>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4120514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5D606C-4DED-D32A-0101-048AE5B82A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FF944D-0DD4-184D-BB4C-F709625A2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ED0AB4-E2F6-4EA8-AB26-B56B3143FE17}"/>
              </a:ext>
            </a:extLst>
          </p:cNvPr>
          <p:cNvSpPr>
            <a:spLocks noGrp="1"/>
          </p:cNvSpPr>
          <p:nvPr>
            <p:ph type="dt" sz="half" idx="10"/>
          </p:nvPr>
        </p:nvSpPr>
        <p:spPr/>
        <p:txBody>
          <a:bodyPr/>
          <a:lstStyle/>
          <a:p>
            <a:fld id="{E8F3668A-F62C-4BCE-89C3-5C065FE50D1E}" type="datetimeFigureOut">
              <a:rPr lang="en-US" smtClean="0"/>
              <a:t>6/1/2025</a:t>
            </a:fld>
            <a:endParaRPr lang="en-US"/>
          </a:p>
        </p:txBody>
      </p:sp>
      <p:sp>
        <p:nvSpPr>
          <p:cNvPr id="5" name="Footer Placeholder 4">
            <a:extLst>
              <a:ext uri="{FF2B5EF4-FFF2-40B4-BE49-F238E27FC236}">
                <a16:creationId xmlns:a16="http://schemas.microsoft.com/office/drawing/2014/main" id="{FE103039-0DDE-A9A0-6A46-BDED55DBA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E81C04-54DD-6484-E4C1-6A49B3A124F5}"/>
              </a:ext>
            </a:extLst>
          </p:cNvPr>
          <p:cNvSpPr>
            <a:spLocks noGrp="1"/>
          </p:cNvSpPr>
          <p:nvPr>
            <p:ph type="sldNum" sz="quarter" idx="12"/>
          </p:nvPr>
        </p:nvSpPr>
        <p:spPr/>
        <p:txBody>
          <a:bodyPr/>
          <a:lstStyle/>
          <a:p>
            <a:fld id="{B328A591-BEAD-4B4E-AF5E-6B8F5A948C14}" type="slidenum">
              <a:rPr lang="en-US" smtClean="0"/>
              <a:t>‹#›</a:t>
            </a:fld>
            <a:endParaRPr lang="en-US"/>
          </a:p>
        </p:txBody>
      </p:sp>
    </p:spTree>
    <p:extLst>
      <p:ext uri="{BB962C8B-B14F-4D97-AF65-F5344CB8AC3E}">
        <p14:creationId xmlns:p14="http://schemas.microsoft.com/office/powerpoint/2010/main" val="1141389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CB2AAE-CAA5-D391-6121-E9FFC58EB6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178F59-639A-CB68-D285-D339615060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16019-E73F-58F3-8E02-4EB37A7BC1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3668A-F62C-4BCE-89C3-5C065FE50D1E}" type="datetimeFigureOut">
              <a:rPr lang="en-US" smtClean="0"/>
              <a:t>6/1/2025</a:t>
            </a:fld>
            <a:endParaRPr lang="en-US"/>
          </a:p>
        </p:txBody>
      </p:sp>
      <p:sp>
        <p:nvSpPr>
          <p:cNvPr id="5" name="Footer Placeholder 4">
            <a:extLst>
              <a:ext uri="{FF2B5EF4-FFF2-40B4-BE49-F238E27FC236}">
                <a16:creationId xmlns:a16="http://schemas.microsoft.com/office/drawing/2014/main" id="{FAC7F366-CC0A-ABE8-B1BB-DE311DDB65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BAD1BD-63B2-806B-C409-A1ABEE0B80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28A591-BEAD-4B4E-AF5E-6B8F5A948C14}" type="slidenum">
              <a:rPr lang="en-US" smtClean="0"/>
              <a:t>‹#›</a:t>
            </a:fld>
            <a:endParaRPr lang="en-US"/>
          </a:p>
        </p:txBody>
      </p:sp>
    </p:spTree>
    <p:extLst>
      <p:ext uri="{BB962C8B-B14F-4D97-AF65-F5344CB8AC3E}">
        <p14:creationId xmlns:p14="http://schemas.microsoft.com/office/powerpoint/2010/main" val="849683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EBD3E-3A14-B5B1-054E-78443C5B04DB}"/>
              </a:ext>
            </a:extLst>
          </p:cNvPr>
          <p:cNvSpPr>
            <a:spLocks noGrp="1"/>
          </p:cNvSpPr>
          <p:nvPr>
            <p:ph type="title"/>
          </p:nvPr>
        </p:nvSpPr>
        <p:spPr/>
        <p:txBody>
          <a:bodyPr>
            <a:normAutofit/>
          </a:bodyPr>
          <a:lstStyle/>
          <a:p>
            <a:r>
              <a:rPr lang="en-US" sz="4000" b="1" dirty="0" err="1"/>
              <a:t>Xiphod’s</a:t>
            </a:r>
            <a:r>
              <a:rPr lang="en-US" sz="4000" b="1" dirty="0"/>
              <a:t> Notes on IBM5100 Scroller PALM Code</a:t>
            </a:r>
          </a:p>
        </p:txBody>
      </p:sp>
      <p:sp>
        <p:nvSpPr>
          <p:cNvPr id="3" name="Content Placeholder 2">
            <a:extLst>
              <a:ext uri="{FF2B5EF4-FFF2-40B4-BE49-F238E27FC236}">
                <a16:creationId xmlns:a16="http://schemas.microsoft.com/office/drawing/2014/main" id="{8DE05019-5714-E3E3-C708-79009D2221A9}"/>
              </a:ext>
            </a:extLst>
          </p:cNvPr>
          <p:cNvSpPr>
            <a:spLocks noGrp="1"/>
          </p:cNvSpPr>
          <p:nvPr>
            <p:ph idx="1"/>
          </p:nvPr>
        </p:nvSpPr>
        <p:spPr/>
        <p:txBody>
          <a:bodyPr/>
          <a:lstStyle/>
          <a:p>
            <a:r>
              <a:rPr lang="en-US" dirty="0"/>
              <a:t>June 2025</a:t>
            </a:r>
          </a:p>
        </p:txBody>
      </p:sp>
    </p:spTree>
    <p:extLst>
      <p:ext uri="{BB962C8B-B14F-4D97-AF65-F5344CB8AC3E}">
        <p14:creationId xmlns:p14="http://schemas.microsoft.com/office/powerpoint/2010/main" val="483331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72AE33-7617-8980-2C79-42954E7F8613}"/>
              </a:ext>
            </a:extLst>
          </p:cNvPr>
          <p:cNvPicPr>
            <a:picLocks noChangeAspect="1"/>
          </p:cNvPicPr>
          <p:nvPr/>
        </p:nvPicPr>
        <p:blipFill>
          <a:blip r:embed="rId3"/>
          <a:stretch>
            <a:fillRect/>
          </a:stretch>
        </p:blipFill>
        <p:spPr>
          <a:xfrm>
            <a:off x="495947" y="418680"/>
            <a:ext cx="6487430" cy="6020640"/>
          </a:xfrm>
          <a:prstGeom prst="rect">
            <a:avLst/>
          </a:prstGeom>
        </p:spPr>
      </p:pic>
      <p:pic>
        <p:nvPicPr>
          <p:cNvPr id="9" name="Picture 8">
            <a:extLst>
              <a:ext uri="{FF2B5EF4-FFF2-40B4-BE49-F238E27FC236}">
                <a16:creationId xmlns:a16="http://schemas.microsoft.com/office/drawing/2014/main" id="{15D9442A-E0CA-F2F0-264C-3B9A7C8975D7}"/>
              </a:ext>
            </a:extLst>
          </p:cNvPr>
          <p:cNvPicPr>
            <a:picLocks noChangeAspect="1"/>
          </p:cNvPicPr>
          <p:nvPr/>
        </p:nvPicPr>
        <p:blipFill>
          <a:blip r:embed="rId4"/>
          <a:stretch>
            <a:fillRect/>
          </a:stretch>
        </p:blipFill>
        <p:spPr>
          <a:xfrm>
            <a:off x="7268157" y="948649"/>
            <a:ext cx="4220457" cy="5313254"/>
          </a:xfrm>
          <a:prstGeom prst="rect">
            <a:avLst/>
          </a:prstGeom>
        </p:spPr>
      </p:pic>
      <p:sp>
        <p:nvSpPr>
          <p:cNvPr id="10" name="TextBox 9">
            <a:extLst>
              <a:ext uri="{FF2B5EF4-FFF2-40B4-BE49-F238E27FC236}">
                <a16:creationId xmlns:a16="http://schemas.microsoft.com/office/drawing/2014/main" id="{ECAC16E0-7A5F-24D4-7213-A62D85268E69}"/>
              </a:ext>
            </a:extLst>
          </p:cNvPr>
          <p:cNvSpPr txBox="1"/>
          <p:nvPr/>
        </p:nvSpPr>
        <p:spPr>
          <a:xfrm>
            <a:off x="7632700" y="279400"/>
            <a:ext cx="4469878" cy="646331"/>
          </a:xfrm>
          <a:prstGeom prst="rect">
            <a:avLst/>
          </a:prstGeom>
          <a:noFill/>
        </p:spPr>
        <p:txBody>
          <a:bodyPr wrap="none" rtlCol="0">
            <a:spAutoFit/>
          </a:bodyPr>
          <a:lstStyle/>
          <a:p>
            <a:r>
              <a:rPr lang="en-US" dirty="0"/>
              <a:t>6x7 pixel characters.</a:t>
            </a:r>
            <a:br>
              <a:rPr lang="en-US" dirty="0"/>
            </a:br>
            <a:r>
              <a:rPr lang="en-US" dirty="0"/>
              <a:t>Columns 2 pixel padded, rows 5 pixel padded.</a:t>
            </a:r>
          </a:p>
        </p:txBody>
      </p:sp>
    </p:spTree>
    <p:extLst>
      <p:ext uri="{BB962C8B-B14F-4D97-AF65-F5344CB8AC3E}">
        <p14:creationId xmlns:p14="http://schemas.microsoft.com/office/powerpoint/2010/main" val="3436146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37EAB6D9-608D-23E4-F0C1-6CC24B2AFBC1}"/>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3" name="TextBox 22">
            <a:extLst>
              <a:ext uri="{FF2B5EF4-FFF2-40B4-BE49-F238E27FC236}">
                <a16:creationId xmlns:a16="http://schemas.microsoft.com/office/drawing/2014/main" id="{A2C2CC24-B4CF-6001-B548-2F80F3B3789B}"/>
              </a:ext>
            </a:extLst>
          </p:cNvPr>
          <p:cNvSpPr txBox="1"/>
          <p:nvPr/>
        </p:nvSpPr>
        <p:spPr>
          <a:xfrm>
            <a:off x="16504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25" name="Rectangle 24">
            <a:extLst>
              <a:ext uri="{FF2B5EF4-FFF2-40B4-BE49-F238E27FC236}">
                <a16:creationId xmlns:a16="http://schemas.microsoft.com/office/drawing/2014/main" id="{A7F1B1B5-CB56-72FE-871D-814966D33F2D}"/>
              </a:ext>
            </a:extLst>
          </p:cNvPr>
          <p:cNvSpPr/>
          <p:nvPr/>
        </p:nvSpPr>
        <p:spPr>
          <a:xfrm>
            <a:off x="1729394" y="1605207"/>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6992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20B9B-19C8-1DB0-CA50-64E31EB761B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95B9F9-4D7F-5E98-13AE-74218DABEE7E}"/>
              </a:ext>
            </a:extLst>
          </p:cNvPr>
          <p:cNvSpPr/>
          <p:nvPr/>
        </p:nvSpPr>
        <p:spPr>
          <a:xfrm>
            <a:off x="1729394" y="1605207"/>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1F4272-6751-62C0-B046-D8BBD63A2F8B}"/>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0" name="TextBox 19">
            <a:extLst>
              <a:ext uri="{FF2B5EF4-FFF2-40B4-BE49-F238E27FC236}">
                <a16:creationId xmlns:a16="http://schemas.microsoft.com/office/drawing/2014/main" id="{4A8BF63C-F3E6-F81F-F4BE-1E51CEA285AF}"/>
              </a:ext>
            </a:extLst>
          </p:cNvPr>
          <p:cNvSpPr txBox="1"/>
          <p:nvPr/>
        </p:nvSpPr>
        <p:spPr>
          <a:xfrm>
            <a:off x="16504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2" name="Rectangle 1">
            <a:extLst>
              <a:ext uri="{FF2B5EF4-FFF2-40B4-BE49-F238E27FC236}">
                <a16:creationId xmlns:a16="http://schemas.microsoft.com/office/drawing/2014/main" id="{07CFF919-D388-17CC-10F4-2E3DFBB3063A}"/>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___AAAA___BBBBB____CCCC___DDDDD___EEEEEE__FFFFFF___GGGG___HH  HH__IIIIII______JJ__KK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__AAAAAA__BBBBBB__CCCCCC__DDDDDD__EEEEEE__FFFFFF__GGGGGG__HH  HH__IIIIII______JJ__KK_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__AAAAAA__BBBBB___CC    __DD  DD__EEEE  __FFFF  __GG    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  BB__CC    __DD  DD__EEEE  __FFFF  __GG GGG__HHHHHH____II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GGG__HH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AA__BBBBBB__CCCCCC__DDDDDD__EEEEEE__FF    __GGGGGG__HH  HH__IIIIII__JJJJJ___KK  KK__LLLLLL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AA__BBBBB____CCCC___DDDDD___EEEEEE__FF    ___GGGG___HH  HH__IIIIII___JJJ____KK  KK__LLLLLL</a:t>
            </a:r>
          </a:p>
        </p:txBody>
      </p:sp>
      <p:sp>
        <p:nvSpPr>
          <p:cNvPr id="3" name="TextBox 2">
            <a:extLst>
              <a:ext uri="{FF2B5EF4-FFF2-40B4-BE49-F238E27FC236}">
                <a16:creationId xmlns:a16="http://schemas.microsoft.com/office/drawing/2014/main" id="{2B2A3ECF-DED5-34DF-2C40-3D2224CF720B}"/>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FF00"/>
                </a:solidFill>
                <a:latin typeface="Courier New" panose="02070309020205020404" pitchFamily="49" charset="0"/>
                <a:cs typeface="Courier New" panose="02070309020205020404" pitchFamily="49" charset="0"/>
              </a:rPr>
              <a:t>ROW 1   0x1000 </a:t>
            </a:r>
          </a:p>
          <a:p>
            <a:r>
              <a:rPr lang="en-US" sz="1200" dirty="0">
                <a:solidFill>
                  <a:srgbClr val="FFFF00"/>
                </a:solidFill>
                <a:latin typeface="Courier New" panose="02070309020205020404" pitchFamily="49" charset="0"/>
                <a:cs typeface="Courier New" panose="02070309020205020404" pitchFamily="49" charset="0"/>
              </a:rPr>
              <a:t>ROW 2   ???</a:t>
            </a:r>
          </a:p>
          <a:p>
            <a:r>
              <a:rPr lang="en-US" sz="1200" dirty="0">
                <a:solidFill>
                  <a:srgbClr val="FFFF00"/>
                </a:solidFill>
                <a:latin typeface="Courier New" panose="02070309020205020404" pitchFamily="49" charset="0"/>
                <a:cs typeface="Courier New" panose="02070309020205020404" pitchFamily="49" charset="0"/>
              </a:rPr>
              <a:t>ROW 3   ???</a:t>
            </a:r>
          </a:p>
          <a:p>
            <a:r>
              <a:rPr lang="en-US" sz="1200" dirty="0">
                <a:solidFill>
                  <a:srgbClr val="FFFF00"/>
                </a:solidFill>
                <a:latin typeface="Courier New" panose="02070309020205020404" pitchFamily="49" charset="0"/>
                <a:cs typeface="Courier New" panose="02070309020205020404" pitchFamily="49" charset="0"/>
              </a:rPr>
              <a:t>ROW 4   ???</a:t>
            </a:r>
          </a:p>
          <a:p>
            <a:r>
              <a:rPr lang="en-US" sz="1200" dirty="0">
                <a:solidFill>
                  <a:srgbClr val="FFFF00"/>
                </a:solidFill>
                <a:latin typeface="Courier New" panose="02070309020205020404" pitchFamily="49" charset="0"/>
                <a:cs typeface="Courier New" panose="02070309020205020404" pitchFamily="49" charset="0"/>
              </a:rPr>
              <a:t>ROW 5   ???</a:t>
            </a:r>
          </a:p>
          <a:p>
            <a:r>
              <a:rPr lang="en-US" sz="1200" dirty="0">
                <a:solidFill>
                  <a:srgbClr val="FFFF00"/>
                </a:solidFill>
                <a:latin typeface="Courier New" panose="02070309020205020404" pitchFamily="49" charset="0"/>
                <a:cs typeface="Courier New" panose="02070309020205020404" pitchFamily="49" charset="0"/>
              </a:rPr>
              <a:t>ROW 6   ???</a:t>
            </a:r>
          </a:p>
          <a:p>
            <a:r>
              <a:rPr lang="en-US" sz="1200" dirty="0">
                <a:solidFill>
                  <a:srgbClr val="FFFF00"/>
                </a:solidFill>
                <a:latin typeface="Courier New" panose="02070309020205020404" pitchFamily="49" charset="0"/>
                <a:cs typeface="Courier New" panose="02070309020205020404" pitchFamily="49" charset="0"/>
              </a:rPr>
              <a:t>ROW 7   ???</a:t>
            </a:r>
          </a:p>
          <a:p>
            <a:r>
              <a:rPr lang="en-US" sz="1200" dirty="0">
                <a:solidFill>
                  <a:srgbClr val="FFFF00"/>
                </a:solidFill>
                <a:latin typeface="Courier New" panose="02070309020205020404" pitchFamily="49" charset="0"/>
                <a:cs typeface="Courier New" panose="02070309020205020404" pitchFamily="49" charset="0"/>
              </a:rPr>
              <a:t>ROW 8   ???</a:t>
            </a:r>
          </a:p>
          <a:p>
            <a:r>
              <a:rPr lang="en-US" sz="1200" dirty="0">
                <a:solidFill>
                  <a:srgbClr val="FFFF00"/>
                </a:solidFill>
                <a:latin typeface="Courier New" panose="02070309020205020404" pitchFamily="49" charset="0"/>
                <a:cs typeface="Courier New" panose="02070309020205020404" pitchFamily="49" charset="0"/>
              </a:rPr>
              <a:t>ROW 9   ???</a:t>
            </a:r>
          </a:p>
          <a:p>
            <a:r>
              <a:rPr lang="en-US" sz="1200" dirty="0">
                <a:solidFill>
                  <a:srgbClr val="FFFF00"/>
                </a:solidFill>
                <a:latin typeface="Courier New" panose="02070309020205020404" pitchFamily="49" charset="0"/>
                <a:cs typeface="Courier New" panose="02070309020205020404" pitchFamily="49" charset="0"/>
              </a:rPr>
              <a:t>ROW 10  ???</a:t>
            </a:r>
          </a:p>
        </p:txBody>
      </p:sp>
      <p:sp>
        <p:nvSpPr>
          <p:cNvPr id="5" name="Right Brace 4">
            <a:extLst>
              <a:ext uri="{FF2B5EF4-FFF2-40B4-BE49-F238E27FC236}">
                <a16:creationId xmlns:a16="http://schemas.microsoft.com/office/drawing/2014/main" id="{9FA62FDE-5E5A-8425-8944-4FDDC4540FD5}"/>
              </a:ext>
            </a:extLst>
          </p:cNvPr>
          <p:cNvSpPr/>
          <p:nvPr/>
        </p:nvSpPr>
        <p:spPr>
          <a:xfrm rot="5400000">
            <a:off x="6846278" y="748145"/>
            <a:ext cx="703385" cy="7315195"/>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97AF4E79-A493-AF85-03C3-4732C46664BA}"/>
              </a:ext>
            </a:extLst>
          </p:cNvPr>
          <p:cNvSpPr txBox="1"/>
          <p:nvPr/>
        </p:nvSpPr>
        <p:spPr>
          <a:xfrm>
            <a:off x="3659817" y="4862209"/>
            <a:ext cx="6953698" cy="769441"/>
          </a:xfrm>
          <a:prstGeom prst="rect">
            <a:avLst/>
          </a:prstGeom>
          <a:noFill/>
        </p:spPr>
        <p:txBody>
          <a:bodyPr wrap="none" rtlCol="0">
            <a:spAutoFit/>
          </a:bodyPr>
          <a:lstStyle/>
          <a:p>
            <a:pPr algn="ctr"/>
            <a:r>
              <a:rPr lang="en-US" sz="2200" dirty="0"/>
              <a:t>Define “big letters” using 8x10 bytes.</a:t>
            </a:r>
          </a:p>
          <a:p>
            <a:pPr algn="ctr"/>
            <a:r>
              <a:rPr lang="en-US" sz="2200" dirty="0"/>
              <a:t>Means 8 characters fills the width of the 64-column screen.</a:t>
            </a:r>
          </a:p>
        </p:txBody>
      </p:sp>
    </p:spTree>
    <p:extLst>
      <p:ext uri="{BB962C8B-B14F-4D97-AF65-F5344CB8AC3E}">
        <p14:creationId xmlns:p14="http://schemas.microsoft.com/office/powerpoint/2010/main" val="2029995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C23F-6DFA-680D-C2CF-740DE3AE3C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736F98-091C-2B61-F6E5-379B9E01D38E}"/>
              </a:ext>
            </a:extLst>
          </p:cNvPr>
          <p:cNvSpPr/>
          <p:nvPr/>
        </p:nvSpPr>
        <p:spPr>
          <a:xfrm>
            <a:off x="1729394" y="1605207"/>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FEC09A5-96BA-F72B-CC9A-950DFE055C7A}"/>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0" name="TextBox 19">
            <a:extLst>
              <a:ext uri="{FF2B5EF4-FFF2-40B4-BE49-F238E27FC236}">
                <a16:creationId xmlns:a16="http://schemas.microsoft.com/office/drawing/2014/main" id="{2E2F44CD-A051-8B5B-062D-E664BF3C2433}"/>
              </a:ext>
            </a:extLst>
          </p:cNvPr>
          <p:cNvSpPr txBox="1"/>
          <p:nvPr/>
        </p:nvSpPr>
        <p:spPr>
          <a:xfrm>
            <a:off x="16504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2" name="Rectangle 1">
            <a:extLst>
              <a:ext uri="{FF2B5EF4-FFF2-40B4-BE49-F238E27FC236}">
                <a16:creationId xmlns:a16="http://schemas.microsoft.com/office/drawing/2014/main" id="{49BAD871-4987-69C4-4F56-A6336B43302E}"/>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___AAAA___BBBBB____CCCC___DDDDD___EEEEEE__FFFFFF___GGGG___HH  HH__IIIIII______JJ__KK  KK__LL____</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__AAAAAA__BBBBBB__CCCCCC__DDDDDD__EEEEEE__FFFFFF__GGGGGG__HH  HH__IIIIII______JJ__KK_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__AAAAAA__BBBBB___CC    __DD  DD__EEEE  __FFFF  __GG    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  BB__CC    __DD  DD__EEEE  __FFFF  __GG GGG__HHHHHH____II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GGG__HH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AA__BBBBBB__CCCCCC__DDDDDD__EEEEEE__FF    __GGGGGG__HH  HH__IIIIII__JJJJJ___KK  KK__LLLLLL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AA__BBBBB____CCCC___DDDDD___EEEEEE__FF    ___GGGG___HH  HH__IIIIII___JJJ____KK  KK__LLLLLL</a:t>
            </a:r>
          </a:p>
        </p:txBody>
      </p:sp>
      <p:sp>
        <p:nvSpPr>
          <p:cNvPr id="3" name="TextBox 2">
            <a:extLst>
              <a:ext uri="{FF2B5EF4-FFF2-40B4-BE49-F238E27FC236}">
                <a16:creationId xmlns:a16="http://schemas.microsoft.com/office/drawing/2014/main" id="{B2FDB499-57FB-7FBA-5CFC-1ED34EA6BD7D}"/>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FF00"/>
                </a:solidFill>
                <a:latin typeface="Courier New" panose="02070309020205020404" pitchFamily="49" charset="0"/>
                <a:cs typeface="Courier New" panose="02070309020205020404" pitchFamily="49" charset="0"/>
              </a:rPr>
              <a:t>ROW 1   0x1000 </a:t>
            </a:r>
          </a:p>
          <a:p>
            <a:r>
              <a:rPr lang="en-US" sz="1200" dirty="0">
                <a:solidFill>
                  <a:srgbClr val="FFFF00"/>
                </a:solidFill>
                <a:latin typeface="Courier New" panose="02070309020205020404" pitchFamily="49" charset="0"/>
                <a:cs typeface="Courier New" panose="02070309020205020404" pitchFamily="49" charset="0"/>
              </a:rPr>
              <a:t>ROW 2   ???</a:t>
            </a:r>
          </a:p>
          <a:p>
            <a:r>
              <a:rPr lang="en-US" sz="1200" dirty="0">
                <a:solidFill>
                  <a:srgbClr val="FFFF00"/>
                </a:solidFill>
                <a:latin typeface="Courier New" panose="02070309020205020404" pitchFamily="49" charset="0"/>
                <a:cs typeface="Courier New" panose="02070309020205020404" pitchFamily="49" charset="0"/>
              </a:rPr>
              <a:t>ROW 3   ???</a:t>
            </a:r>
          </a:p>
          <a:p>
            <a:r>
              <a:rPr lang="en-US" sz="1200" dirty="0">
                <a:solidFill>
                  <a:srgbClr val="FFFF00"/>
                </a:solidFill>
                <a:latin typeface="Courier New" panose="02070309020205020404" pitchFamily="49" charset="0"/>
                <a:cs typeface="Courier New" panose="02070309020205020404" pitchFamily="49" charset="0"/>
              </a:rPr>
              <a:t>ROW 4   ???</a:t>
            </a:r>
          </a:p>
          <a:p>
            <a:r>
              <a:rPr lang="en-US" sz="1200" dirty="0">
                <a:solidFill>
                  <a:srgbClr val="FFFF00"/>
                </a:solidFill>
                <a:latin typeface="Courier New" panose="02070309020205020404" pitchFamily="49" charset="0"/>
                <a:cs typeface="Courier New" panose="02070309020205020404" pitchFamily="49" charset="0"/>
              </a:rPr>
              <a:t>ROW 5   ???</a:t>
            </a:r>
          </a:p>
          <a:p>
            <a:r>
              <a:rPr lang="en-US" sz="1200" dirty="0">
                <a:solidFill>
                  <a:srgbClr val="FFFF00"/>
                </a:solidFill>
                <a:latin typeface="Courier New" panose="02070309020205020404" pitchFamily="49" charset="0"/>
                <a:cs typeface="Courier New" panose="02070309020205020404" pitchFamily="49" charset="0"/>
              </a:rPr>
              <a:t>ROW 6   ???</a:t>
            </a:r>
          </a:p>
          <a:p>
            <a:r>
              <a:rPr lang="en-US" sz="1200" dirty="0">
                <a:solidFill>
                  <a:srgbClr val="FFFF00"/>
                </a:solidFill>
                <a:latin typeface="Courier New" panose="02070309020205020404" pitchFamily="49" charset="0"/>
                <a:cs typeface="Courier New" panose="02070309020205020404" pitchFamily="49" charset="0"/>
              </a:rPr>
              <a:t>ROW 7   ???</a:t>
            </a:r>
          </a:p>
          <a:p>
            <a:r>
              <a:rPr lang="en-US" sz="1200" dirty="0">
                <a:solidFill>
                  <a:srgbClr val="FFFF00"/>
                </a:solidFill>
                <a:latin typeface="Courier New" panose="02070309020205020404" pitchFamily="49" charset="0"/>
                <a:cs typeface="Courier New" panose="02070309020205020404" pitchFamily="49" charset="0"/>
              </a:rPr>
              <a:t>ROW 8   ???</a:t>
            </a:r>
          </a:p>
          <a:p>
            <a:r>
              <a:rPr lang="en-US" sz="1200" dirty="0">
                <a:solidFill>
                  <a:srgbClr val="FFFF00"/>
                </a:solidFill>
                <a:latin typeface="Courier New" panose="02070309020205020404" pitchFamily="49" charset="0"/>
                <a:cs typeface="Courier New" panose="02070309020205020404" pitchFamily="49" charset="0"/>
              </a:rPr>
              <a:t>ROW 9   ???</a:t>
            </a:r>
          </a:p>
          <a:p>
            <a:r>
              <a:rPr lang="en-US" sz="1200" dirty="0">
                <a:solidFill>
                  <a:srgbClr val="FFFF00"/>
                </a:solidFill>
                <a:latin typeface="Courier New" panose="02070309020205020404" pitchFamily="49" charset="0"/>
                <a:cs typeface="Courier New" panose="02070309020205020404" pitchFamily="49" charset="0"/>
              </a:rPr>
              <a:t>ROW 10  ???</a:t>
            </a:r>
          </a:p>
        </p:txBody>
      </p:sp>
      <p:sp>
        <p:nvSpPr>
          <p:cNvPr id="5" name="Right Brace 4">
            <a:extLst>
              <a:ext uri="{FF2B5EF4-FFF2-40B4-BE49-F238E27FC236}">
                <a16:creationId xmlns:a16="http://schemas.microsoft.com/office/drawing/2014/main" id="{1646DDA3-A09C-851E-60B1-6E079CBD74F5}"/>
              </a:ext>
            </a:extLst>
          </p:cNvPr>
          <p:cNvSpPr/>
          <p:nvPr/>
        </p:nvSpPr>
        <p:spPr>
          <a:xfrm rot="5400000">
            <a:off x="6846278" y="748145"/>
            <a:ext cx="703385" cy="7315195"/>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EB381FF3-C23E-7150-C192-3DDC51076EA6}"/>
              </a:ext>
            </a:extLst>
          </p:cNvPr>
          <p:cNvSpPr txBox="1"/>
          <p:nvPr/>
        </p:nvSpPr>
        <p:spPr>
          <a:xfrm>
            <a:off x="2524442" y="4862209"/>
            <a:ext cx="9224449" cy="1446550"/>
          </a:xfrm>
          <a:prstGeom prst="rect">
            <a:avLst/>
          </a:prstGeom>
          <a:noFill/>
        </p:spPr>
        <p:txBody>
          <a:bodyPr wrap="none" rtlCol="0">
            <a:spAutoFit/>
          </a:bodyPr>
          <a:lstStyle/>
          <a:p>
            <a:pPr algn="ctr"/>
            <a:r>
              <a:rPr lang="en-US" sz="2200" dirty="0"/>
              <a:t>Define “big letters” using 8x10 bytes.</a:t>
            </a:r>
          </a:p>
          <a:p>
            <a:pPr algn="ctr"/>
            <a:r>
              <a:rPr lang="en-US" sz="2200" dirty="0"/>
              <a:t>Means 8 characters fills the width of the 64-column screen.</a:t>
            </a:r>
          </a:p>
          <a:p>
            <a:pPr algn="ctr"/>
            <a:endParaRPr lang="en-US" sz="2200" dirty="0"/>
          </a:p>
          <a:p>
            <a:pPr algn="ctr"/>
            <a:r>
              <a:rPr lang="en-US" sz="2200" dirty="0"/>
              <a:t>EXAMPLE: 8 bytes per character x 12 characters = 96 characters (bytes) </a:t>
            </a:r>
            <a:r>
              <a:rPr lang="en-US" sz="2200" u="sng" dirty="0"/>
              <a:t>per row</a:t>
            </a:r>
          </a:p>
        </p:txBody>
      </p:sp>
      <p:sp>
        <p:nvSpPr>
          <p:cNvPr id="6" name="Rectangle 5">
            <a:extLst>
              <a:ext uri="{FF2B5EF4-FFF2-40B4-BE49-F238E27FC236}">
                <a16:creationId xmlns:a16="http://schemas.microsoft.com/office/drawing/2014/main" id="{58FD9C90-CFDE-5E21-B231-F02ACB1B7A18}"/>
              </a:ext>
            </a:extLst>
          </p:cNvPr>
          <p:cNvSpPr/>
          <p:nvPr/>
        </p:nvSpPr>
        <p:spPr>
          <a:xfrm>
            <a:off x="3441312" y="2160270"/>
            <a:ext cx="7429887" cy="21834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797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D372F-6F8E-1D24-1458-4817D975E1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133AC5-908A-7A2F-F4DD-37F1044B4388}"/>
              </a:ext>
            </a:extLst>
          </p:cNvPr>
          <p:cNvSpPr/>
          <p:nvPr/>
        </p:nvSpPr>
        <p:spPr>
          <a:xfrm>
            <a:off x="1729394" y="1605207"/>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F82071-DCF8-EE70-EDC9-A14B75BEA992}"/>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0" name="TextBox 19">
            <a:extLst>
              <a:ext uri="{FF2B5EF4-FFF2-40B4-BE49-F238E27FC236}">
                <a16:creationId xmlns:a16="http://schemas.microsoft.com/office/drawing/2014/main" id="{F3D56E4C-AFCE-E880-D731-EA8A4438972C}"/>
              </a:ext>
            </a:extLst>
          </p:cNvPr>
          <p:cNvSpPr txBox="1"/>
          <p:nvPr/>
        </p:nvSpPr>
        <p:spPr>
          <a:xfrm>
            <a:off x="16504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2" name="Rectangle 1">
            <a:extLst>
              <a:ext uri="{FF2B5EF4-FFF2-40B4-BE49-F238E27FC236}">
                <a16:creationId xmlns:a16="http://schemas.microsoft.com/office/drawing/2014/main" id="{38BC433D-EB3C-7263-4EF7-B6CDEDE39B7B}"/>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___AAAA___BBBBB____CCCC___DDDDD___EEEEEE__FFFFFF___GGGG___HH  HH__IIIIII______JJ__KK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__AAAAAA__BBBBBB__CCCCCC__DDDDDD__EEEEEE__FFFFFF__GGGGGG__HH  HH__IIIIII______JJ__KK_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__AAAAAA__BBBBB___CC    __DD  DD__EEEE  __FFFF  __GG    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  BB__CC    __DD  DD__EEEE  __FFFF  __GG GGG__HHHHHH____II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GGG__HH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AA__BBBBBB__CCCCCC__DDDDDD__EEEEEE__FF    __GGGGGG__HH  HH__IIIIII__JJJJJ___KK  KK__LLLLLL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AA__BBBBB____CCCC___DDDDD___EEEEEE__FF    ___GGGG___HH  HH__IIIIII___JJJ____KK  KK__LLLLLL</a:t>
            </a:r>
          </a:p>
        </p:txBody>
      </p:sp>
      <p:sp>
        <p:nvSpPr>
          <p:cNvPr id="3" name="TextBox 2">
            <a:extLst>
              <a:ext uri="{FF2B5EF4-FFF2-40B4-BE49-F238E27FC236}">
                <a16:creationId xmlns:a16="http://schemas.microsoft.com/office/drawing/2014/main" id="{0D3EA9AF-3A67-49FA-1D31-0728DDA8846E}"/>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FF00"/>
                </a:solidFill>
                <a:latin typeface="Courier New" panose="02070309020205020404" pitchFamily="49" charset="0"/>
                <a:cs typeface="Courier New" panose="02070309020205020404" pitchFamily="49" charset="0"/>
              </a:rPr>
              <a:t>ROW 1   0x1000 </a:t>
            </a:r>
          </a:p>
          <a:p>
            <a:r>
              <a:rPr lang="en-US" sz="1200" dirty="0">
                <a:solidFill>
                  <a:srgbClr val="FFFF00"/>
                </a:solidFill>
                <a:latin typeface="Courier New" panose="02070309020205020404" pitchFamily="49" charset="0"/>
                <a:cs typeface="Courier New" panose="02070309020205020404" pitchFamily="49" charset="0"/>
              </a:rPr>
              <a:t>ROW 2   0x1060</a:t>
            </a:r>
          </a:p>
          <a:p>
            <a:r>
              <a:rPr lang="en-US" sz="1200" dirty="0">
                <a:solidFill>
                  <a:srgbClr val="FFFF00"/>
                </a:solidFill>
                <a:latin typeface="Courier New" panose="02070309020205020404" pitchFamily="49" charset="0"/>
                <a:cs typeface="Courier New" panose="02070309020205020404" pitchFamily="49" charset="0"/>
              </a:rPr>
              <a:t>ROW 3   0x10C0</a:t>
            </a:r>
          </a:p>
          <a:p>
            <a:r>
              <a:rPr lang="en-US" sz="1200" dirty="0">
                <a:solidFill>
                  <a:srgbClr val="FFFF00"/>
                </a:solidFill>
                <a:latin typeface="Courier New" panose="02070309020205020404" pitchFamily="49" charset="0"/>
                <a:cs typeface="Courier New" panose="02070309020205020404" pitchFamily="49" charset="0"/>
              </a:rPr>
              <a:t>ROW 4   0x1120</a:t>
            </a:r>
          </a:p>
          <a:p>
            <a:r>
              <a:rPr lang="en-US" sz="1200" dirty="0">
                <a:solidFill>
                  <a:srgbClr val="FFFF00"/>
                </a:solidFill>
                <a:latin typeface="Courier New" panose="02070309020205020404" pitchFamily="49" charset="0"/>
                <a:cs typeface="Courier New" panose="02070309020205020404" pitchFamily="49" charset="0"/>
              </a:rPr>
              <a:t>ROW 5   0x1180</a:t>
            </a:r>
          </a:p>
          <a:p>
            <a:r>
              <a:rPr lang="en-US" sz="1200" dirty="0">
                <a:solidFill>
                  <a:srgbClr val="FFFF00"/>
                </a:solidFill>
                <a:latin typeface="Courier New" panose="02070309020205020404" pitchFamily="49" charset="0"/>
                <a:cs typeface="Courier New" panose="02070309020205020404" pitchFamily="49" charset="0"/>
              </a:rPr>
              <a:t>ROW 6   0x11E0</a:t>
            </a:r>
          </a:p>
          <a:p>
            <a:r>
              <a:rPr lang="en-US" sz="1200" dirty="0">
                <a:solidFill>
                  <a:srgbClr val="FFFF00"/>
                </a:solidFill>
                <a:latin typeface="Courier New" panose="02070309020205020404" pitchFamily="49" charset="0"/>
                <a:cs typeface="Courier New" panose="02070309020205020404" pitchFamily="49" charset="0"/>
              </a:rPr>
              <a:t>ROW 7   0x1240</a:t>
            </a:r>
          </a:p>
          <a:p>
            <a:r>
              <a:rPr lang="en-US" sz="1200" dirty="0">
                <a:solidFill>
                  <a:srgbClr val="FFFF00"/>
                </a:solidFill>
                <a:latin typeface="Courier New" panose="02070309020205020404" pitchFamily="49" charset="0"/>
                <a:cs typeface="Courier New" panose="02070309020205020404" pitchFamily="49" charset="0"/>
              </a:rPr>
              <a:t>ROW 8   0x12A0</a:t>
            </a:r>
          </a:p>
          <a:p>
            <a:r>
              <a:rPr lang="en-US" sz="1200" dirty="0">
                <a:solidFill>
                  <a:srgbClr val="FFFF00"/>
                </a:solidFill>
                <a:latin typeface="Courier New" panose="02070309020205020404" pitchFamily="49" charset="0"/>
                <a:cs typeface="Courier New" panose="02070309020205020404" pitchFamily="49" charset="0"/>
              </a:rPr>
              <a:t>ROW 9   0x1300</a:t>
            </a:r>
          </a:p>
          <a:p>
            <a:r>
              <a:rPr lang="en-US" sz="1200" dirty="0">
                <a:solidFill>
                  <a:srgbClr val="FFFF00"/>
                </a:solidFill>
                <a:latin typeface="Courier New" panose="02070309020205020404" pitchFamily="49" charset="0"/>
                <a:cs typeface="Courier New" panose="02070309020205020404" pitchFamily="49" charset="0"/>
              </a:rPr>
              <a:t>ROW 10  0x1360</a:t>
            </a:r>
          </a:p>
        </p:txBody>
      </p:sp>
      <p:sp>
        <p:nvSpPr>
          <p:cNvPr id="5" name="Right Brace 4">
            <a:extLst>
              <a:ext uri="{FF2B5EF4-FFF2-40B4-BE49-F238E27FC236}">
                <a16:creationId xmlns:a16="http://schemas.microsoft.com/office/drawing/2014/main" id="{5416E600-5C57-4319-9091-D3B3EF646E88}"/>
              </a:ext>
            </a:extLst>
          </p:cNvPr>
          <p:cNvSpPr/>
          <p:nvPr/>
        </p:nvSpPr>
        <p:spPr>
          <a:xfrm rot="5400000">
            <a:off x="6846278" y="748145"/>
            <a:ext cx="703385" cy="7315195"/>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99E827E-B94B-53BF-5E73-600ED7E72E7E}"/>
              </a:ext>
            </a:extLst>
          </p:cNvPr>
          <p:cNvSpPr txBox="1"/>
          <p:nvPr/>
        </p:nvSpPr>
        <p:spPr>
          <a:xfrm>
            <a:off x="4100479" y="4862209"/>
            <a:ext cx="7141955" cy="1107996"/>
          </a:xfrm>
          <a:prstGeom prst="rect">
            <a:avLst/>
          </a:prstGeom>
          <a:noFill/>
        </p:spPr>
        <p:txBody>
          <a:bodyPr wrap="none" rtlCol="0">
            <a:spAutoFit/>
          </a:bodyPr>
          <a:lstStyle/>
          <a:p>
            <a:r>
              <a:rPr lang="en-US" sz="2200" dirty="0"/>
              <a:t>8 bytes per character x 12 characters = 96 characters per row</a:t>
            </a:r>
          </a:p>
          <a:p>
            <a:r>
              <a:rPr lang="en-US" sz="2200" dirty="0"/>
              <a:t>For each row, increment address by 96.</a:t>
            </a:r>
          </a:p>
          <a:p>
            <a:r>
              <a:rPr lang="en-US" sz="2200" dirty="0"/>
              <a:t>96 decimal == 0x60    (6*16</a:t>
            </a:r>
            <a:r>
              <a:rPr lang="en-US" sz="2200" baseline="30000" dirty="0"/>
              <a:t>1</a:t>
            </a:r>
            <a:r>
              <a:rPr lang="en-US" sz="2200" dirty="0"/>
              <a:t> + 0*16</a:t>
            </a:r>
            <a:r>
              <a:rPr lang="en-US" sz="2200" baseline="30000" dirty="0"/>
              <a:t>0</a:t>
            </a:r>
            <a:r>
              <a:rPr lang="en-US" sz="2200" dirty="0"/>
              <a:t> = 96)</a:t>
            </a:r>
          </a:p>
        </p:txBody>
      </p:sp>
    </p:spTree>
    <p:extLst>
      <p:ext uri="{BB962C8B-B14F-4D97-AF65-F5344CB8AC3E}">
        <p14:creationId xmlns:p14="http://schemas.microsoft.com/office/powerpoint/2010/main" val="2192108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45D6E-FA8C-8B91-7221-8A15BD2C2BA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9EFEE54-BB2C-3547-B1E8-D072E18C9379}"/>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___AAAA___BBBBB____CCCC___DDDDD___EEEEEE__FFFFFF___GGGG___HH  HH__IIIIII______JJ__KK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__AAAAAA__BBBBBB__CCCCCC__DDDDDD__EEEEEE__FFFFFF__GGGGGG__HH  HH__IIIIII______JJ__KK_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__AAAAAA__BBBBB___CC    __DD  DD__EEEE  __FFFF  __GG    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  BB__CC    __DD  DD__EEEE  __FFFF  __GG GGG__HHHHHH____II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GGG__HH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AA__BBBBBB__CCCCCC__DDDDDD__EEEEEE__FF    __GGGGGG__HH  HH__IIIIII__JJJJJ___KK  KK__LLLLLL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AA__BBBBB____CCCC___DDDDD___EEEEEE__FF    ___GGGG___HH  HH__IIIIII___JJJ____KK  KK__LLLLLL</a:t>
            </a:r>
          </a:p>
        </p:txBody>
      </p:sp>
      <p:sp>
        <p:nvSpPr>
          <p:cNvPr id="7" name="TextBox 6">
            <a:extLst>
              <a:ext uri="{FF2B5EF4-FFF2-40B4-BE49-F238E27FC236}">
                <a16:creationId xmlns:a16="http://schemas.microsoft.com/office/drawing/2014/main" id="{46B86DA8-C2A9-8C9F-9B84-A7C0CAA2F96A}"/>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0" name="TextBox 19">
            <a:extLst>
              <a:ext uri="{FF2B5EF4-FFF2-40B4-BE49-F238E27FC236}">
                <a16:creationId xmlns:a16="http://schemas.microsoft.com/office/drawing/2014/main" id="{4E1726AD-94DE-EC62-CB53-95E2D5C7DAC4}"/>
              </a:ext>
            </a:extLst>
          </p:cNvPr>
          <p:cNvSpPr txBox="1"/>
          <p:nvPr/>
        </p:nvSpPr>
        <p:spPr>
          <a:xfrm>
            <a:off x="4030855" y="1201416"/>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3" name="TextBox 2">
            <a:extLst>
              <a:ext uri="{FF2B5EF4-FFF2-40B4-BE49-F238E27FC236}">
                <a16:creationId xmlns:a16="http://schemas.microsoft.com/office/drawing/2014/main" id="{3DA00C1E-3DB9-AB8D-3E40-4D8AC7798B45}"/>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0x1008 </a:t>
            </a:r>
          </a:p>
          <a:p>
            <a:r>
              <a:rPr lang="en-US" sz="1200" dirty="0">
                <a:solidFill>
                  <a:srgbClr val="FF0000"/>
                </a:solidFill>
                <a:latin typeface="Courier New" panose="02070309020205020404" pitchFamily="49" charset="0"/>
                <a:cs typeface="Courier New" panose="02070309020205020404" pitchFamily="49" charset="0"/>
              </a:rPr>
              <a:t>ROW 2   0x1068</a:t>
            </a:r>
          </a:p>
          <a:p>
            <a:r>
              <a:rPr lang="en-US" sz="1200" dirty="0">
                <a:solidFill>
                  <a:srgbClr val="FF0000"/>
                </a:solidFill>
                <a:latin typeface="Courier New" panose="02070309020205020404" pitchFamily="49" charset="0"/>
                <a:cs typeface="Courier New" panose="02070309020205020404" pitchFamily="49" charset="0"/>
              </a:rPr>
              <a:t>ROW 3   0x10C8</a:t>
            </a:r>
          </a:p>
          <a:p>
            <a:r>
              <a:rPr lang="en-US" sz="1200" dirty="0">
                <a:solidFill>
                  <a:srgbClr val="FF0000"/>
                </a:solidFill>
                <a:latin typeface="Courier New" panose="02070309020205020404" pitchFamily="49" charset="0"/>
                <a:cs typeface="Courier New" panose="02070309020205020404" pitchFamily="49" charset="0"/>
              </a:rPr>
              <a:t>ROW 4   0x1128</a:t>
            </a:r>
          </a:p>
          <a:p>
            <a:r>
              <a:rPr lang="en-US" sz="1200" dirty="0">
                <a:solidFill>
                  <a:srgbClr val="FF0000"/>
                </a:solidFill>
                <a:latin typeface="Courier New" panose="02070309020205020404" pitchFamily="49" charset="0"/>
                <a:cs typeface="Courier New" panose="02070309020205020404" pitchFamily="49" charset="0"/>
              </a:rPr>
              <a:t>ROW 5   0x1188</a:t>
            </a:r>
          </a:p>
          <a:p>
            <a:r>
              <a:rPr lang="en-US" sz="1200" dirty="0">
                <a:solidFill>
                  <a:srgbClr val="FF0000"/>
                </a:solidFill>
                <a:latin typeface="Courier New" panose="02070309020205020404" pitchFamily="49" charset="0"/>
                <a:cs typeface="Courier New" panose="02070309020205020404" pitchFamily="49" charset="0"/>
              </a:rPr>
              <a:t>ROW 6   0x11E8</a:t>
            </a:r>
          </a:p>
          <a:p>
            <a:r>
              <a:rPr lang="en-US" sz="1200" dirty="0">
                <a:solidFill>
                  <a:srgbClr val="FF0000"/>
                </a:solidFill>
                <a:latin typeface="Courier New" panose="02070309020205020404" pitchFamily="49" charset="0"/>
                <a:cs typeface="Courier New" panose="02070309020205020404" pitchFamily="49" charset="0"/>
              </a:rPr>
              <a:t>ROW 7   0x1248</a:t>
            </a:r>
          </a:p>
          <a:p>
            <a:r>
              <a:rPr lang="en-US" sz="1200" dirty="0">
                <a:solidFill>
                  <a:srgbClr val="FF0000"/>
                </a:solidFill>
                <a:latin typeface="Courier New" panose="02070309020205020404" pitchFamily="49" charset="0"/>
                <a:cs typeface="Courier New" panose="02070309020205020404" pitchFamily="49" charset="0"/>
              </a:rPr>
              <a:t>ROW 8   0x12A8</a:t>
            </a:r>
          </a:p>
          <a:p>
            <a:r>
              <a:rPr lang="en-US" sz="1200" dirty="0">
                <a:solidFill>
                  <a:srgbClr val="FF0000"/>
                </a:solidFill>
                <a:latin typeface="Courier New" panose="02070309020205020404" pitchFamily="49" charset="0"/>
                <a:cs typeface="Courier New" panose="02070309020205020404" pitchFamily="49" charset="0"/>
              </a:rPr>
              <a:t>ROW 9   0x1308</a:t>
            </a:r>
          </a:p>
          <a:p>
            <a:r>
              <a:rPr lang="en-US" sz="1200" dirty="0">
                <a:solidFill>
                  <a:srgbClr val="FF0000"/>
                </a:solidFill>
                <a:latin typeface="Courier New" panose="02070309020205020404" pitchFamily="49" charset="0"/>
                <a:cs typeface="Courier New" panose="02070309020205020404" pitchFamily="49" charset="0"/>
              </a:rPr>
              <a:t>ROW 10  0x1368</a:t>
            </a:r>
          </a:p>
        </p:txBody>
      </p:sp>
      <p:sp>
        <p:nvSpPr>
          <p:cNvPr id="4" name="Rectangle 3">
            <a:extLst>
              <a:ext uri="{FF2B5EF4-FFF2-40B4-BE49-F238E27FC236}">
                <a16:creationId xmlns:a16="http://schemas.microsoft.com/office/drawing/2014/main" id="{B226201B-EB1B-13B5-4A07-69B7BDB4B598}"/>
              </a:ext>
            </a:extLst>
          </p:cNvPr>
          <p:cNvSpPr/>
          <p:nvPr/>
        </p:nvSpPr>
        <p:spPr>
          <a:xfrm>
            <a:off x="4116357" y="1574727"/>
            <a:ext cx="4856193" cy="2942370"/>
          </a:xfrm>
          <a:prstGeom prst="rect">
            <a:avLst/>
          </a:prstGeom>
          <a:solidFill>
            <a:schemeClr val="bg2">
              <a:lumMod val="25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Brace 9">
            <a:extLst>
              <a:ext uri="{FF2B5EF4-FFF2-40B4-BE49-F238E27FC236}">
                <a16:creationId xmlns:a16="http://schemas.microsoft.com/office/drawing/2014/main" id="{B9F2156F-B053-5FEF-D60E-F7A7D655BF0C}"/>
              </a:ext>
            </a:extLst>
          </p:cNvPr>
          <p:cNvSpPr/>
          <p:nvPr/>
        </p:nvSpPr>
        <p:spPr>
          <a:xfrm rot="16200000">
            <a:off x="2436541" y="1307031"/>
            <a:ext cx="267491" cy="1311027"/>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E6020439-CD32-F392-18A2-09755390AA8B}"/>
              </a:ext>
            </a:extLst>
          </p:cNvPr>
          <p:cNvSpPr txBox="1"/>
          <p:nvPr/>
        </p:nvSpPr>
        <p:spPr>
          <a:xfrm>
            <a:off x="1760971" y="1420838"/>
            <a:ext cx="1730858" cy="307777"/>
          </a:xfrm>
          <a:prstGeom prst="rect">
            <a:avLst/>
          </a:prstGeom>
          <a:noFill/>
        </p:spPr>
        <p:txBody>
          <a:bodyPr wrap="none" rtlCol="0">
            <a:spAutoFit/>
          </a:bodyPr>
          <a:lstStyle/>
          <a:p>
            <a:r>
              <a:rPr lang="en-US" sz="1400" b="1" dirty="0"/>
              <a:t>WORKING_ADDRESS</a:t>
            </a:r>
          </a:p>
        </p:txBody>
      </p:sp>
    </p:spTree>
    <p:extLst>
      <p:ext uri="{BB962C8B-B14F-4D97-AF65-F5344CB8AC3E}">
        <p14:creationId xmlns:p14="http://schemas.microsoft.com/office/powerpoint/2010/main" val="299934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D1AC-522A-761C-520A-CD367BA067A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485C50-9C1B-38BF-9051-DFD801F6970A}"/>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___AAAA___BBBBB____CCCC___DDDDD___EEEEEE__FFFFFF___GGGG___HH  HH__IIIIII______JJ__KK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__AAAAAA__BBBBBB__CCCCCC__DDDDDD__EEEEEE__FFFFFF__GGGGGG__HH  HH__IIIIII______JJ__KK_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__AAAAAA__BBBBB___CC    __DD  DD__EEEE  __FFFF  __GG    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  BB__CC    __DD  DD__EEEE  __FFFF  __GG GGG__HHHHHH____II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GGG__HH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AA__BBBBBB__CCCCCC__DDDDDD__EEEEEE__FF    __GGGGGG__HH  HH__IIIIII__JJJJJ___KK  KK__LLLLLL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AA__BBBBB____CCCC___DDDDD___EEEEEE__FF    ___GGGG___HH  HH__IIIIII___JJJ____KK  KK__LLLLLL</a:t>
            </a:r>
          </a:p>
        </p:txBody>
      </p:sp>
      <p:sp>
        <p:nvSpPr>
          <p:cNvPr id="7" name="TextBox 6">
            <a:extLst>
              <a:ext uri="{FF2B5EF4-FFF2-40B4-BE49-F238E27FC236}">
                <a16:creationId xmlns:a16="http://schemas.microsoft.com/office/drawing/2014/main" id="{34373BCE-3749-815A-A568-AA7B807F71A5}"/>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3" name="TextBox 2">
            <a:extLst>
              <a:ext uri="{FF2B5EF4-FFF2-40B4-BE49-F238E27FC236}">
                <a16:creationId xmlns:a16="http://schemas.microsoft.com/office/drawing/2014/main" id="{4C5EF4B7-01EB-E661-A3F1-7934821FD48C}"/>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0x1008 </a:t>
            </a:r>
          </a:p>
          <a:p>
            <a:r>
              <a:rPr lang="en-US" sz="1200" dirty="0">
                <a:solidFill>
                  <a:srgbClr val="FF0000"/>
                </a:solidFill>
                <a:latin typeface="Courier New" panose="02070309020205020404" pitchFamily="49" charset="0"/>
                <a:cs typeface="Courier New" panose="02070309020205020404" pitchFamily="49" charset="0"/>
              </a:rPr>
              <a:t>ROW 2   0x1068</a:t>
            </a:r>
          </a:p>
          <a:p>
            <a:r>
              <a:rPr lang="en-US" sz="1200" dirty="0">
                <a:solidFill>
                  <a:srgbClr val="FF0000"/>
                </a:solidFill>
                <a:latin typeface="Courier New" panose="02070309020205020404" pitchFamily="49" charset="0"/>
                <a:cs typeface="Courier New" panose="02070309020205020404" pitchFamily="49" charset="0"/>
              </a:rPr>
              <a:t>ROW 3   0x10C8</a:t>
            </a:r>
          </a:p>
          <a:p>
            <a:r>
              <a:rPr lang="en-US" sz="1200" dirty="0">
                <a:solidFill>
                  <a:srgbClr val="FF0000"/>
                </a:solidFill>
                <a:latin typeface="Courier New" panose="02070309020205020404" pitchFamily="49" charset="0"/>
                <a:cs typeface="Courier New" panose="02070309020205020404" pitchFamily="49" charset="0"/>
              </a:rPr>
              <a:t>ROW 4   0x1128</a:t>
            </a:r>
          </a:p>
          <a:p>
            <a:r>
              <a:rPr lang="en-US" sz="1200" dirty="0">
                <a:solidFill>
                  <a:srgbClr val="FF0000"/>
                </a:solidFill>
                <a:latin typeface="Courier New" panose="02070309020205020404" pitchFamily="49" charset="0"/>
                <a:cs typeface="Courier New" panose="02070309020205020404" pitchFamily="49" charset="0"/>
              </a:rPr>
              <a:t>ROW 5   0x1188</a:t>
            </a:r>
          </a:p>
          <a:p>
            <a:r>
              <a:rPr lang="en-US" sz="1200" dirty="0">
                <a:solidFill>
                  <a:srgbClr val="FF0000"/>
                </a:solidFill>
                <a:latin typeface="Courier New" panose="02070309020205020404" pitchFamily="49" charset="0"/>
                <a:cs typeface="Courier New" panose="02070309020205020404" pitchFamily="49" charset="0"/>
              </a:rPr>
              <a:t>ROW 6   0x11E8</a:t>
            </a:r>
          </a:p>
          <a:p>
            <a:r>
              <a:rPr lang="en-US" sz="1200" dirty="0">
                <a:solidFill>
                  <a:srgbClr val="FF0000"/>
                </a:solidFill>
                <a:latin typeface="Courier New" panose="02070309020205020404" pitchFamily="49" charset="0"/>
                <a:cs typeface="Courier New" panose="02070309020205020404" pitchFamily="49" charset="0"/>
              </a:rPr>
              <a:t>ROW 7   0x1248</a:t>
            </a:r>
          </a:p>
          <a:p>
            <a:r>
              <a:rPr lang="en-US" sz="1200" dirty="0">
                <a:solidFill>
                  <a:srgbClr val="FF0000"/>
                </a:solidFill>
                <a:latin typeface="Courier New" panose="02070309020205020404" pitchFamily="49" charset="0"/>
                <a:cs typeface="Courier New" panose="02070309020205020404" pitchFamily="49" charset="0"/>
              </a:rPr>
              <a:t>ROW 8   0x12A8</a:t>
            </a:r>
          </a:p>
          <a:p>
            <a:r>
              <a:rPr lang="en-US" sz="1200" dirty="0">
                <a:solidFill>
                  <a:srgbClr val="FF0000"/>
                </a:solidFill>
                <a:latin typeface="Courier New" panose="02070309020205020404" pitchFamily="49" charset="0"/>
                <a:cs typeface="Courier New" panose="02070309020205020404" pitchFamily="49" charset="0"/>
              </a:rPr>
              <a:t>ROW 9   0x1308</a:t>
            </a:r>
          </a:p>
          <a:p>
            <a:r>
              <a:rPr lang="en-US" sz="1200" dirty="0">
                <a:solidFill>
                  <a:srgbClr val="FF0000"/>
                </a:solidFill>
                <a:latin typeface="Courier New" panose="02070309020205020404" pitchFamily="49" charset="0"/>
                <a:cs typeface="Courier New" panose="02070309020205020404" pitchFamily="49" charset="0"/>
              </a:rPr>
              <a:t>ROW 10  0x1368</a:t>
            </a:r>
          </a:p>
        </p:txBody>
      </p:sp>
      <p:sp>
        <p:nvSpPr>
          <p:cNvPr id="2" name="TextBox 1">
            <a:extLst>
              <a:ext uri="{FF2B5EF4-FFF2-40B4-BE49-F238E27FC236}">
                <a16:creationId xmlns:a16="http://schemas.microsoft.com/office/drawing/2014/main" id="{3955BB49-5311-6A56-981D-7873DA75EABC}"/>
              </a:ext>
            </a:extLst>
          </p:cNvPr>
          <p:cNvSpPr txBox="1"/>
          <p:nvPr/>
        </p:nvSpPr>
        <p:spPr>
          <a:xfrm>
            <a:off x="3737066" y="5495251"/>
            <a:ext cx="7141955" cy="769441"/>
          </a:xfrm>
          <a:prstGeom prst="rect">
            <a:avLst/>
          </a:prstGeom>
          <a:noFill/>
        </p:spPr>
        <p:txBody>
          <a:bodyPr wrap="none" rtlCol="0">
            <a:spAutoFit/>
          </a:bodyPr>
          <a:lstStyle/>
          <a:p>
            <a:r>
              <a:rPr lang="en-US" sz="2200" dirty="0"/>
              <a:t>8 bytes per character x 12 characters = 96 characters </a:t>
            </a:r>
            <a:r>
              <a:rPr lang="en-US" sz="2200" u="sng" dirty="0"/>
              <a:t>per row</a:t>
            </a:r>
          </a:p>
          <a:p>
            <a:r>
              <a:rPr lang="en-US" sz="2200" dirty="0"/>
              <a:t>96 characters per row x 10 rows = 960 characters (bytes)</a:t>
            </a:r>
          </a:p>
        </p:txBody>
      </p:sp>
      <p:sp>
        <p:nvSpPr>
          <p:cNvPr id="5" name="Right Brace 4">
            <a:extLst>
              <a:ext uri="{FF2B5EF4-FFF2-40B4-BE49-F238E27FC236}">
                <a16:creationId xmlns:a16="http://schemas.microsoft.com/office/drawing/2014/main" id="{3378E743-2826-1BDB-0565-CBD16B9D6BEF}"/>
              </a:ext>
            </a:extLst>
          </p:cNvPr>
          <p:cNvSpPr/>
          <p:nvPr/>
        </p:nvSpPr>
        <p:spPr>
          <a:xfrm rot="5400000">
            <a:off x="6482952" y="1127277"/>
            <a:ext cx="1328435" cy="7315195"/>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CD06420-04DA-FB1E-393A-71968D946483}"/>
              </a:ext>
            </a:extLst>
          </p:cNvPr>
          <p:cNvSpPr txBox="1"/>
          <p:nvPr/>
        </p:nvSpPr>
        <p:spPr>
          <a:xfrm>
            <a:off x="4030855" y="1201416"/>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11" name="Rectangle 10">
            <a:extLst>
              <a:ext uri="{FF2B5EF4-FFF2-40B4-BE49-F238E27FC236}">
                <a16:creationId xmlns:a16="http://schemas.microsoft.com/office/drawing/2014/main" id="{60FCB7BE-5B4D-B011-55DF-7EB08D0ED118}"/>
              </a:ext>
            </a:extLst>
          </p:cNvPr>
          <p:cNvSpPr/>
          <p:nvPr/>
        </p:nvSpPr>
        <p:spPr>
          <a:xfrm>
            <a:off x="4116357" y="1574727"/>
            <a:ext cx="4856193" cy="2942370"/>
          </a:xfrm>
          <a:prstGeom prst="rect">
            <a:avLst/>
          </a:prstGeom>
          <a:solidFill>
            <a:schemeClr val="bg2">
              <a:lumMod val="25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a:extLst>
              <a:ext uri="{FF2B5EF4-FFF2-40B4-BE49-F238E27FC236}">
                <a16:creationId xmlns:a16="http://schemas.microsoft.com/office/drawing/2014/main" id="{CB233FF3-EE40-CCB0-EC0A-EAF2E5B9F17A}"/>
              </a:ext>
            </a:extLst>
          </p:cNvPr>
          <p:cNvSpPr/>
          <p:nvPr/>
        </p:nvSpPr>
        <p:spPr>
          <a:xfrm rot="16200000">
            <a:off x="2436541" y="1307031"/>
            <a:ext cx="267491" cy="1311027"/>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83284914-E5BC-B055-7812-AB327E48092E}"/>
              </a:ext>
            </a:extLst>
          </p:cNvPr>
          <p:cNvSpPr txBox="1"/>
          <p:nvPr/>
        </p:nvSpPr>
        <p:spPr>
          <a:xfrm>
            <a:off x="1760971" y="1420838"/>
            <a:ext cx="1730858" cy="307777"/>
          </a:xfrm>
          <a:prstGeom prst="rect">
            <a:avLst/>
          </a:prstGeom>
          <a:noFill/>
        </p:spPr>
        <p:txBody>
          <a:bodyPr wrap="none" rtlCol="0">
            <a:spAutoFit/>
          </a:bodyPr>
          <a:lstStyle/>
          <a:p>
            <a:r>
              <a:rPr lang="en-US" sz="1400" b="1" dirty="0"/>
              <a:t>WORKING_ADDRESS</a:t>
            </a:r>
          </a:p>
        </p:txBody>
      </p:sp>
    </p:spTree>
    <p:extLst>
      <p:ext uri="{BB962C8B-B14F-4D97-AF65-F5344CB8AC3E}">
        <p14:creationId xmlns:p14="http://schemas.microsoft.com/office/powerpoint/2010/main" val="1566893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958523-2880-316D-4F24-CC2FCA3595A7}"/>
              </a:ext>
            </a:extLst>
          </p:cNvPr>
          <p:cNvSpPr txBox="1"/>
          <p:nvPr/>
        </p:nvSpPr>
        <p:spPr>
          <a:xfrm>
            <a:off x="2167474" y="570465"/>
            <a:ext cx="8302529" cy="1446550"/>
          </a:xfrm>
          <a:prstGeom prst="rect">
            <a:avLst/>
          </a:prstGeom>
          <a:noFill/>
        </p:spPr>
        <p:txBody>
          <a:bodyPr wrap="none" rtlCol="0">
            <a:spAutoFit/>
          </a:bodyPr>
          <a:lstStyle/>
          <a:p>
            <a:r>
              <a:rPr lang="en-US" sz="2200" dirty="0"/>
              <a:t>8 bytes per character x </a:t>
            </a:r>
            <a:r>
              <a:rPr lang="en-US" sz="2200" b="1" dirty="0">
                <a:solidFill>
                  <a:srgbClr val="FF0000"/>
                </a:solidFill>
              </a:rPr>
              <a:t>120 characters</a:t>
            </a:r>
            <a:r>
              <a:rPr lang="en-US" sz="2200" dirty="0"/>
              <a:t> = 960 characters per row</a:t>
            </a:r>
          </a:p>
          <a:p>
            <a:r>
              <a:rPr lang="en-US" sz="2200" dirty="0"/>
              <a:t>960 characters per row x 10 rows = 9600 characters (bytes) </a:t>
            </a:r>
            <a:r>
              <a:rPr lang="en-US" sz="2200" b="1" dirty="0">
                <a:solidFill>
                  <a:srgbClr val="FF0000"/>
                </a:solidFill>
              </a:rPr>
              <a:t>(yikes!)</a:t>
            </a:r>
          </a:p>
          <a:p>
            <a:endParaRPr lang="en-US" sz="2200" dirty="0"/>
          </a:p>
          <a:p>
            <a:r>
              <a:rPr lang="en-US" sz="2200" dirty="0"/>
              <a:t>Instead, we can represent each row of a “big letter” as a hex sequence.</a:t>
            </a:r>
          </a:p>
        </p:txBody>
      </p:sp>
      <p:sp>
        <p:nvSpPr>
          <p:cNvPr id="6" name="Rectangle 5">
            <a:extLst>
              <a:ext uri="{FF2B5EF4-FFF2-40B4-BE49-F238E27FC236}">
                <a16:creationId xmlns:a16="http://schemas.microsoft.com/office/drawing/2014/main" id="{657D0DFD-6FED-09C8-DCF6-24DA421C4681}"/>
              </a:ext>
            </a:extLst>
          </p:cNvPr>
          <p:cNvSpPr/>
          <p:nvPr/>
        </p:nvSpPr>
        <p:spPr>
          <a:xfrm>
            <a:off x="1910861" y="2017015"/>
            <a:ext cx="8815756" cy="3389258"/>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dirty="0">
                <a:latin typeface="Courier New" panose="02070309020205020404" pitchFamily="49" charset="0"/>
                <a:cs typeface="Courier New" panose="02070309020205020404" pitchFamily="49" charset="0"/>
              </a:rPr>
              <a:t>___AAAA_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000</a:t>
            </a:r>
            <a:r>
              <a:rPr lang="en-US" dirty="0">
                <a:solidFill>
                  <a:srgbClr val="FF0000"/>
                </a:solidFill>
                <a:latin typeface="Courier New" panose="02070309020205020404" pitchFamily="49" charset="0"/>
                <a:cs typeface="Courier New" panose="02070309020205020404" pitchFamily="49" charset="0"/>
              </a:rPr>
              <a:t>1 111</a:t>
            </a:r>
            <a:r>
              <a:rPr lang="en-US" dirty="0">
                <a:latin typeface="Courier New" panose="02070309020205020404" pitchFamily="49" charset="0"/>
                <a:cs typeface="Courier New" panose="02070309020205020404" pitchFamily="49" charset="0"/>
              </a:rPr>
              <a:t>0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1E   80 bytes (8x10) now expressed</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__AAAAAA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1111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3F   in only 10 bytes.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a:t>
            </a: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   Add a symbol header, becomes</a:t>
            </a:r>
          </a:p>
          <a:p>
            <a:pPr>
              <a:spcBef>
                <a:spcPts val="60"/>
              </a:spcBef>
              <a:spcAft>
                <a:spcPts val="60"/>
              </a:spcAft>
            </a:pPr>
            <a:r>
              <a:rPr lang="en-US" dirty="0">
                <a:latin typeface="Courier New" panose="02070309020205020404" pitchFamily="49" charset="0"/>
                <a:cs typeface="Courier New" panose="02070309020205020404" pitchFamily="49" charset="0"/>
              </a:rPr>
              <a:t>__AAAAAA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1111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3F   now 12 bytes.</a:t>
            </a:r>
          </a:p>
          <a:p>
            <a:pPr>
              <a:spcBef>
                <a:spcPts val="60"/>
              </a:spcBef>
              <a:spcAft>
                <a:spcPts val="60"/>
              </a:spcAft>
            </a:pPr>
            <a:r>
              <a:rPr lang="en-US" dirty="0">
                <a:latin typeface="Courier New" panose="02070309020205020404" pitchFamily="49" charset="0"/>
                <a:cs typeface="Courier New" panose="02070309020205020404" pitchFamily="49" charset="0"/>
              </a:rPr>
              <a:t>__AAAAAA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1111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3F</a:t>
            </a: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a:t>
            </a: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a:t>
            </a: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a:t>
            </a: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a:t>
            </a:r>
          </a:p>
        </p:txBody>
      </p:sp>
      <p:sp>
        <p:nvSpPr>
          <p:cNvPr id="7" name="TextBox 6">
            <a:extLst>
              <a:ext uri="{FF2B5EF4-FFF2-40B4-BE49-F238E27FC236}">
                <a16:creationId xmlns:a16="http://schemas.microsoft.com/office/drawing/2014/main" id="{E49D4A0F-0677-9028-4713-D8D5196E61C9}"/>
              </a:ext>
            </a:extLst>
          </p:cNvPr>
          <p:cNvSpPr txBox="1"/>
          <p:nvPr/>
        </p:nvSpPr>
        <p:spPr>
          <a:xfrm>
            <a:off x="2167473" y="5464888"/>
            <a:ext cx="8093434" cy="769441"/>
          </a:xfrm>
          <a:prstGeom prst="rect">
            <a:avLst/>
          </a:prstGeom>
          <a:noFill/>
        </p:spPr>
        <p:txBody>
          <a:bodyPr wrap="none" rtlCol="0">
            <a:spAutoFit/>
          </a:bodyPr>
          <a:lstStyle/>
          <a:p>
            <a:r>
              <a:rPr lang="en-US" sz="2200" dirty="0"/>
              <a:t>Then we can programmatically compute a big-letter sequence from a</a:t>
            </a:r>
          </a:p>
          <a:p>
            <a:r>
              <a:rPr lang="en-US" sz="2200" dirty="0"/>
              <a:t>given “normal string” sequence.</a:t>
            </a:r>
          </a:p>
        </p:txBody>
      </p:sp>
    </p:spTree>
    <p:extLst>
      <p:ext uri="{BB962C8B-B14F-4D97-AF65-F5344CB8AC3E}">
        <p14:creationId xmlns:p14="http://schemas.microsoft.com/office/powerpoint/2010/main" val="2392921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2C17C-35F0-072D-BF75-65BA7764A0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4EC049-FDB6-C86D-E530-274DB9663EF4}"/>
              </a:ext>
            </a:extLst>
          </p:cNvPr>
          <p:cNvSpPr txBox="1"/>
          <p:nvPr/>
        </p:nvSpPr>
        <p:spPr>
          <a:xfrm>
            <a:off x="2167474" y="570465"/>
            <a:ext cx="8302529" cy="1446550"/>
          </a:xfrm>
          <a:prstGeom prst="rect">
            <a:avLst/>
          </a:prstGeom>
          <a:noFill/>
        </p:spPr>
        <p:txBody>
          <a:bodyPr wrap="none" rtlCol="0">
            <a:spAutoFit/>
          </a:bodyPr>
          <a:lstStyle/>
          <a:p>
            <a:r>
              <a:rPr lang="en-US" sz="2200" dirty="0"/>
              <a:t>8 bytes per character x </a:t>
            </a:r>
            <a:r>
              <a:rPr lang="en-US" sz="2200" b="1" dirty="0">
                <a:solidFill>
                  <a:srgbClr val="FF0000"/>
                </a:solidFill>
              </a:rPr>
              <a:t>120 characters</a:t>
            </a:r>
            <a:r>
              <a:rPr lang="en-US" sz="2200" dirty="0"/>
              <a:t> = 960 characters per row</a:t>
            </a:r>
          </a:p>
          <a:p>
            <a:r>
              <a:rPr lang="en-US" sz="2200" dirty="0"/>
              <a:t>960 characters per row x 10 rows = 9600 characters (bytes) </a:t>
            </a:r>
            <a:r>
              <a:rPr lang="en-US" sz="2200" b="1" dirty="0">
                <a:solidFill>
                  <a:srgbClr val="FF0000"/>
                </a:solidFill>
              </a:rPr>
              <a:t>(yikes!)</a:t>
            </a:r>
          </a:p>
          <a:p>
            <a:endParaRPr lang="en-US" sz="2200" dirty="0"/>
          </a:p>
          <a:p>
            <a:r>
              <a:rPr lang="en-US" sz="2200" dirty="0"/>
              <a:t>Instead, we can represent each row of a “big letter” as a hex sequence.</a:t>
            </a:r>
          </a:p>
        </p:txBody>
      </p:sp>
      <p:sp>
        <p:nvSpPr>
          <p:cNvPr id="6" name="Rectangle 5">
            <a:extLst>
              <a:ext uri="{FF2B5EF4-FFF2-40B4-BE49-F238E27FC236}">
                <a16:creationId xmlns:a16="http://schemas.microsoft.com/office/drawing/2014/main" id="{A28435D6-804D-3A7A-1853-F3F7CA7ED091}"/>
              </a:ext>
            </a:extLst>
          </p:cNvPr>
          <p:cNvSpPr/>
          <p:nvPr/>
        </p:nvSpPr>
        <p:spPr>
          <a:xfrm>
            <a:off x="1910861" y="2017015"/>
            <a:ext cx="8815756" cy="3389258"/>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dirty="0">
                <a:latin typeface="Courier New" panose="02070309020205020404" pitchFamily="49" charset="0"/>
                <a:cs typeface="Courier New" panose="02070309020205020404" pitchFamily="49" charset="0"/>
              </a:rPr>
              <a:t>___AAAA_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000</a:t>
            </a:r>
            <a:r>
              <a:rPr lang="en-US" dirty="0">
                <a:solidFill>
                  <a:srgbClr val="FF0000"/>
                </a:solidFill>
                <a:latin typeface="Courier New" panose="02070309020205020404" pitchFamily="49" charset="0"/>
                <a:cs typeface="Courier New" panose="02070309020205020404" pitchFamily="49" charset="0"/>
              </a:rPr>
              <a:t>1 111</a:t>
            </a:r>
            <a:r>
              <a:rPr lang="en-US" dirty="0">
                <a:latin typeface="Courier New" panose="02070309020205020404" pitchFamily="49" charset="0"/>
                <a:cs typeface="Courier New" panose="02070309020205020404" pitchFamily="49" charset="0"/>
              </a:rPr>
              <a:t>0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1E </a:t>
            </a:r>
            <a:r>
              <a:rPr lang="en-US" dirty="0">
                <a:latin typeface="Courier New" panose="02070309020205020404" pitchFamily="49" charset="0"/>
                <a:cs typeface="Courier New" panose="02070309020205020404" pitchFamily="49" charset="0"/>
                <a:sym typeface="Wingdings" panose="05000000000000000000" pitchFamily="2" charset="2"/>
              </a:rPr>
              <a:t> _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_</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__AAAAAA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1111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3F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a:p>
            <a:pPr>
              <a:spcBef>
                <a:spcPts val="60"/>
              </a:spcBef>
              <a:spcAft>
                <a:spcPts val="60"/>
              </a:spcAft>
            </a:pPr>
            <a:r>
              <a:rPr lang="en-US" dirty="0">
                <a:latin typeface="Courier New" panose="02070309020205020404" pitchFamily="49" charset="0"/>
                <a:cs typeface="Courier New" panose="02070309020205020404" pitchFamily="49" charset="0"/>
              </a:rPr>
              <a:t>__AAAAAA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1111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3F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a:p>
            <a:pPr>
              <a:spcBef>
                <a:spcPts val="60"/>
              </a:spcBef>
              <a:spcAft>
                <a:spcPts val="60"/>
              </a:spcAft>
            </a:pPr>
            <a:r>
              <a:rPr lang="en-US" dirty="0">
                <a:latin typeface="Courier New" panose="02070309020205020404" pitchFamily="49" charset="0"/>
                <a:cs typeface="Courier New" panose="02070309020205020404" pitchFamily="49" charset="0"/>
              </a:rPr>
              <a:t>__AAAAAA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1111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3F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a:p>
            <a:pPr>
              <a:spcBef>
                <a:spcPts val="60"/>
              </a:spcBef>
              <a:spcAft>
                <a:spcPts val="60"/>
              </a:spcAft>
            </a:pPr>
            <a:r>
              <a:rPr lang="en-US" dirty="0">
                <a:latin typeface="Courier New" panose="02070309020205020404" pitchFamily="49" charset="0"/>
                <a:cs typeface="Courier New" panose="02070309020205020404" pitchFamily="49" charset="0"/>
              </a:rPr>
              <a:t>__AA  </a:t>
            </a:r>
            <a:r>
              <a:rPr lang="en-US" dirty="0" err="1">
                <a:latin typeface="Courier New" panose="02070309020205020404" pitchFamily="49" charset="0"/>
                <a:cs typeface="Courier New" panose="02070309020205020404" pitchFamily="49" charset="0"/>
              </a:rPr>
              <a:t>AA</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00</a:t>
            </a:r>
            <a:r>
              <a:rPr lang="en-US" dirty="0">
                <a:solidFill>
                  <a:srgbClr val="FF0000"/>
                </a:solidFill>
                <a:latin typeface="Courier New" panose="02070309020205020404" pitchFamily="49" charset="0"/>
                <a:cs typeface="Courier New" panose="02070309020205020404" pitchFamily="49" charset="0"/>
              </a:rPr>
              <a:t>11</a:t>
            </a:r>
            <a:r>
              <a:rPr lang="en-US" dirty="0">
                <a:latin typeface="Courier New" panose="02070309020205020404" pitchFamily="49" charset="0"/>
                <a:cs typeface="Courier New" panose="02070309020205020404" pitchFamily="49" charset="0"/>
              </a:rPr>
              <a:t> </a:t>
            </a:r>
            <a:r>
              <a:rPr lang="en-US" b="1" dirty="0">
                <a:solidFill>
                  <a:srgbClr val="FFFF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33 </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r>
              <a:rPr lang="en-US" dirty="0">
                <a:latin typeface="Courier New" panose="02070309020205020404" pitchFamily="49" charset="0"/>
                <a:cs typeface="Courier New" panose="02070309020205020404" pitchFamily="49" charset="0"/>
                <a:sym typeface="Wingdings" panose="05000000000000000000" pitchFamily="2" charset="2"/>
              </a:rPr>
              <a:t> _ _ X </a:t>
            </a:r>
            <a:r>
              <a:rPr lang="en-US" dirty="0" err="1">
                <a:latin typeface="Courier New" panose="02070309020205020404" pitchFamily="49" charset="0"/>
                <a:cs typeface="Courier New" panose="02070309020205020404" pitchFamily="49" charset="0"/>
                <a:sym typeface="Wingdings" panose="05000000000000000000" pitchFamily="2" charset="2"/>
              </a:rPr>
              <a:t>X</a:t>
            </a:r>
            <a:endParaRPr lang="en-US"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0B7278FD-9258-8E35-7669-968B04CF4B2C}"/>
              </a:ext>
            </a:extLst>
          </p:cNvPr>
          <p:cNvSpPr txBox="1"/>
          <p:nvPr/>
        </p:nvSpPr>
        <p:spPr>
          <a:xfrm>
            <a:off x="2167474" y="5464888"/>
            <a:ext cx="8302530" cy="769441"/>
          </a:xfrm>
          <a:prstGeom prst="rect">
            <a:avLst/>
          </a:prstGeom>
          <a:noFill/>
        </p:spPr>
        <p:txBody>
          <a:bodyPr wrap="square" rtlCol="0">
            <a:spAutoFit/>
          </a:bodyPr>
          <a:lstStyle/>
          <a:p>
            <a:r>
              <a:rPr lang="en-US" sz="2200" dirty="0"/>
              <a:t>NOTE: Would like to control what on-system display-symbol is used for any expanded “big letter.”</a:t>
            </a:r>
          </a:p>
        </p:txBody>
      </p:sp>
    </p:spTree>
    <p:extLst>
      <p:ext uri="{BB962C8B-B14F-4D97-AF65-F5344CB8AC3E}">
        <p14:creationId xmlns:p14="http://schemas.microsoft.com/office/powerpoint/2010/main" val="3344230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ight Brace 5">
            <a:extLst>
              <a:ext uri="{FF2B5EF4-FFF2-40B4-BE49-F238E27FC236}">
                <a16:creationId xmlns:a16="http://schemas.microsoft.com/office/drawing/2014/main" id="{B85402CF-04B6-82CC-A851-B09C2A036E5F}"/>
              </a:ext>
            </a:extLst>
          </p:cNvPr>
          <p:cNvSpPr/>
          <p:nvPr/>
        </p:nvSpPr>
        <p:spPr>
          <a:xfrm>
            <a:off x="6641752" y="1025298"/>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ectangle 6">
            <a:extLst>
              <a:ext uri="{FF2B5EF4-FFF2-40B4-BE49-F238E27FC236}">
                <a16:creationId xmlns:a16="http://schemas.microsoft.com/office/drawing/2014/main" id="{EF4FFC04-F0ED-44E1-C7F9-0F21B985CDCC}"/>
              </a:ext>
            </a:extLst>
          </p:cNvPr>
          <p:cNvSpPr/>
          <p:nvPr/>
        </p:nvSpPr>
        <p:spPr>
          <a:xfrm>
            <a:off x="9746713" y="823196"/>
            <a:ext cx="590550" cy="542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01</a:t>
            </a:r>
          </a:p>
        </p:txBody>
      </p:sp>
      <p:pic>
        <p:nvPicPr>
          <p:cNvPr id="9" name="Picture 8">
            <a:extLst>
              <a:ext uri="{FF2B5EF4-FFF2-40B4-BE49-F238E27FC236}">
                <a16:creationId xmlns:a16="http://schemas.microsoft.com/office/drawing/2014/main" id="{5097E457-9218-B943-B403-EF9A48A956A4}"/>
              </a:ext>
            </a:extLst>
          </p:cNvPr>
          <p:cNvPicPr>
            <a:picLocks noChangeAspect="1"/>
          </p:cNvPicPr>
          <p:nvPr/>
        </p:nvPicPr>
        <p:blipFill>
          <a:blip r:embed="rId2"/>
          <a:stretch>
            <a:fillRect/>
          </a:stretch>
        </p:blipFill>
        <p:spPr>
          <a:xfrm>
            <a:off x="388293" y="490764"/>
            <a:ext cx="6231091" cy="6858000"/>
          </a:xfrm>
          <a:prstGeom prst="rect">
            <a:avLst/>
          </a:prstGeom>
        </p:spPr>
      </p:pic>
      <p:sp>
        <p:nvSpPr>
          <p:cNvPr id="10" name="Rectangle 9">
            <a:extLst>
              <a:ext uri="{FF2B5EF4-FFF2-40B4-BE49-F238E27FC236}">
                <a16:creationId xmlns:a16="http://schemas.microsoft.com/office/drawing/2014/main" id="{27F6D3E5-F7C1-EC0C-66A9-42A8B5BDA9A9}"/>
              </a:ext>
            </a:extLst>
          </p:cNvPr>
          <p:cNvSpPr/>
          <p:nvPr/>
        </p:nvSpPr>
        <p:spPr>
          <a:xfrm>
            <a:off x="10337263" y="823196"/>
            <a:ext cx="590550" cy="542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00</a:t>
            </a:r>
          </a:p>
        </p:txBody>
      </p:sp>
      <p:sp>
        <p:nvSpPr>
          <p:cNvPr id="11" name="TextBox 10">
            <a:extLst>
              <a:ext uri="{FF2B5EF4-FFF2-40B4-BE49-F238E27FC236}">
                <a16:creationId xmlns:a16="http://schemas.microsoft.com/office/drawing/2014/main" id="{789F6D67-AD50-6039-D6D5-3C2525CE80A0}"/>
              </a:ext>
            </a:extLst>
          </p:cNvPr>
          <p:cNvSpPr txBox="1"/>
          <p:nvPr/>
        </p:nvSpPr>
        <p:spPr>
          <a:xfrm>
            <a:off x="6903554" y="1712169"/>
            <a:ext cx="1520031" cy="369332"/>
          </a:xfrm>
          <a:prstGeom prst="rect">
            <a:avLst/>
          </a:prstGeom>
          <a:noFill/>
        </p:spPr>
        <p:txBody>
          <a:bodyPr wrap="none" rtlCol="0">
            <a:spAutoFit/>
          </a:bodyPr>
          <a:lstStyle/>
          <a:p>
            <a:r>
              <a:rPr lang="en-US" dirty="0"/>
              <a:t>“big letter” #1</a:t>
            </a:r>
          </a:p>
        </p:txBody>
      </p:sp>
      <p:sp>
        <p:nvSpPr>
          <p:cNvPr id="12" name="Right Brace 11">
            <a:extLst>
              <a:ext uri="{FF2B5EF4-FFF2-40B4-BE49-F238E27FC236}">
                <a16:creationId xmlns:a16="http://schemas.microsoft.com/office/drawing/2014/main" id="{B62FED1A-86B8-9459-66F3-B9288DCC8FB1}"/>
              </a:ext>
            </a:extLst>
          </p:cNvPr>
          <p:cNvSpPr/>
          <p:nvPr/>
        </p:nvSpPr>
        <p:spPr>
          <a:xfrm>
            <a:off x="6641752" y="2768373"/>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CDFDDB8E-11D5-7C7E-40EF-D5AB28FD8035}"/>
              </a:ext>
            </a:extLst>
          </p:cNvPr>
          <p:cNvSpPr txBox="1"/>
          <p:nvPr/>
        </p:nvSpPr>
        <p:spPr>
          <a:xfrm>
            <a:off x="6862924" y="3429000"/>
            <a:ext cx="1520031" cy="369332"/>
          </a:xfrm>
          <a:prstGeom prst="rect">
            <a:avLst/>
          </a:prstGeom>
          <a:noFill/>
        </p:spPr>
        <p:txBody>
          <a:bodyPr wrap="none" rtlCol="0">
            <a:spAutoFit/>
          </a:bodyPr>
          <a:lstStyle/>
          <a:p>
            <a:r>
              <a:rPr lang="en-US" dirty="0"/>
              <a:t>“big letter” #2</a:t>
            </a:r>
          </a:p>
        </p:txBody>
      </p:sp>
      <p:sp>
        <p:nvSpPr>
          <p:cNvPr id="14" name="Right Brace 13">
            <a:extLst>
              <a:ext uri="{FF2B5EF4-FFF2-40B4-BE49-F238E27FC236}">
                <a16:creationId xmlns:a16="http://schemas.microsoft.com/office/drawing/2014/main" id="{655F22C8-0900-414D-20EA-46147357279D}"/>
              </a:ext>
            </a:extLst>
          </p:cNvPr>
          <p:cNvSpPr/>
          <p:nvPr/>
        </p:nvSpPr>
        <p:spPr>
          <a:xfrm>
            <a:off x="6664120" y="4511448"/>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B5C74092-9BAA-6294-572F-F06913A88F68}"/>
              </a:ext>
            </a:extLst>
          </p:cNvPr>
          <p:cNvSpPr/>
          <p:nvPr/>
        </p:nvSpPr>
        <p:spPr>
          <a:xfrm>
            <a:off x="6664120" y="6254523"/>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D12E2609-8C86-C8A3-0AD6-A7B83AC4DA8B}"/>
              </a:ext>
            </a:extLst>
          </p:cNvPr>
          <p:cNvSpPr txBox="1"/>
          <p:nvPr/>
        </p:nvSpPr>
        <p:spPr>
          <a:xfrm>
            <a:off x="6885292" y="6915150"/>
            <a:ext cx="1520031" cy="369332"/>
          </a:xfrm>
          <a:prstGeom prst="rect">
            <a:avLst/>
          </a:prstGeom>
          <a:noFill/>
        </p:spPr>
        <p:txBody>
          <a:bodyPr wrap="none" rtlCol="0">
            <a:spAutoFit/>
          </a:bodyPr>
          <a:lstStyle/>
          <a:p>
            <a:r>
              <a:rPr lang="en-US" dirty="0"/>
              <a:t>“big letter” #4</a:t>
            </a:r>
          </a:p>
        </p:txBody>
      </p:sp>
      <p:sp>
        <p:nvSpPr>
          <p:cNvPr id="17" name="TextBox 16">
            <a:extLst>
              <a:ext uri="{FF2B5EF4-FFF2-40B4-BE49-F238E27FC236}">
                <a16:creationId xmlns:a16="http://schemas.microsoft.com/office/drawing/2014/main" id="{F6C3F3F9-1B47-208B-84C4-57C0232E2BFB}"/>
              </a:ext>
            </a:extLst>
          </p:cNvPr>
          <p:cNvSpPr txBox="1"/>
          <p:nvPr/>
        </p:nvSpPr>
        <p:spPr>
          <a:xfrm>
            <a:off x="6903553" y="5172075"/>
            <a:ext cx="1520031" cy="369332"/>
          </a:xfrm>
          <a:prstGeom prst="rect">
            <a:avLst/>
          </a:prstGeom>
          <a:noFill/>
        </p:spPr>
        <p:txBody>
          <a:bodyPr wrap="none" rtlCol="0">
            <a:spAutoFit/>
          </a:bodyPr>
          <a:lstStyle/>
          <a:p>
            <a:r>
              <a:rPr lang="en-US" dirty="0"/>
              <a:t>“big letter” #3</a:t>
            </a:r>
          </a:p>
        </p:txBody>
      </p:sp>
      <p:cxnSp>
        <p:nvCxnSpPr>
          <p:cNvPr id="19" name="Straight Arrow Connector 18">
            <a:extLst>
              <a:ext uri="{FF2B5EF4-FFF2-40B4-BE49-F238E27FC236}">
                <a16:creationId xmlns:a16="http://schemas.microsoft.com/office/drawing/2014/main" id="{5E3ACAB3-94B9-EB29-4909-E00480D63A2E}"/>
              </a:ext>
            </a:extLst>
          </p:cNvPr>
          <p:cNvCxnSpPr>
            <a:cxnSpLocks/>
            <a:endCxn id="7" idx="1"/>
          </p:cNvCxnSpPr>
          <p:nvPr/>
        </p:nvCxnSpPr>
        <p:spPr>
          <a:xfrm>
            <a:off x="6559550" y="1094659"/>
            <a:ext cx="3187163" cy="0"/>
          </a:xfrm>
          <a:prstGeom prst="straightConnector1">
            <a:avLst/>
          </a:prstGeom>
          <a:ln>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0DD018A-2292-F7B2-3C58-DB5158550EDE}"/>
              </a:ext>
            </a:extLst>
          </p:cNvPr>
          <p:cNvSpPr txBox="1"/>
          <p:nvPr/>
        </p:nvSpPr>
        <p:spPr>
          <a:xfrm>
            <a:off x="7758045" y="2290124"/>
            <a:ext cx="1848968" cy="369332"/>
          </a:xfrm>
          <a:prstGeom prst="rect">
            <a:avLst/>
          </a:prstGeom>
          <a:noFill/>
        </p:spPr>
        <p:txBody>
          <a:bodyPr wrap="none" rtlCol="0">
            <a:spAutoFit/>
          </a:bodyPr>
          <a:lstStyle/>
          <a:p>
            <a:pPr algn="just"/>
            <a:r>
              <a:rPr lang="en-US" dirty="0"/>
              <a:t>IBM symbol index</a:t>
            </a:r>
          </a:p>
        </p:txBody>
      </p:sp>
      <p:sp>
        <p:nvSpPr>
          <p:cNvPr id="23" name="TextBox 22">
            <a:extLst>
              <a:ext uri="{FF2B5EF4-FFF2-40B4-BE49-F238E27FC236}">
                <a16:creationId xmlns:a16="http://schemas.microsoft.com/office/drawing/2014/main" id="{0278D40A-AE14-804E-59C7-C6090925AA93}"/>
              </a:ext>
            </a:extLst>
          </p:cNvPr>
          <p:cNvSpPr txBox="1"/>
          <p:nvPr/>
        </p:nvSpPr>
        <p:spPr>
          <a:xfrm>
            <a:off x="7758045" y="2646682"/>
            <a:ext cx="2038122" cy="369332"/>
          </a:xfrm>
          <a:prstGeom prst="rect">
            <a:avLst/>
          </a:prstGeom>
          <a:noFill/>
        </p:spPr>
        <p:txBody>
          <a:bodyPr wrap="none" rtlCol="0">
            <a:spAutoFit/>
          </a:bodyPr>
          <a:lstStyle/>
          <a:p>
            <a:pPr algn="just"/>
            <a:r>
              <a:rPr lang="en-US" dirty="0"/>
              <a:t>Pad/future settings</a:t>
            </a:r>
          </a:p>
        </p:txBody>
      </p:sp>
      <p:cxnSp>
        <p:nvCxnSpPr>
          <p:cNvPr id="25" name="Straight Arrow Connector 24">
            <a:extLst>
              <a:ext uri="{FF2B5EF4-FFF2-40B4-BE49-F238E27FC236}">
                <a16:creationId xmlns:a16="http://schemas.microsoft.com/office/drawing/2014/main" id="{4DE45F06-D98E-E035-48F7-186C6CE9D609}"/>
              </a:ext>
            </a:extLst>
          </p:cNvPr>
          <p:cNvCxnSpPr>
            <a:stCxn id="22" idx="3"/>
            <a:endCxn id="7" idx="2"/>
          </p:cNvCxnSpPr>
          <p:nvPr/>
        </p:nvCxnSpPr>
        <p:spPr>
          <a:xfrm flipV="1">
            <a:off x="9607013" y="1366121"/>
            <a:ext cx="434975" cy="11086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4">
            <a:extLst>
              <a:ext uri="{FF2B5EF4-FFF2-40B4-BE49-F238E27FC236}">
                <a16:creationId xmlns:a16="http://schemas.microsoft.com/office/drawing/2014/main" id="{8B58D5D2-DD80-1CF7-9B33-421F8DCC9F9B}"/>
              </a:ext>
            </a:extLst>
          </p:cNvPr>
          <p:cNvCxnSpPr>
            <a:cxnSpLocks/>
            <a:stCxn id="23" idx="3"/>
            <a:endCxn id="10" idx="2"/>
          </p:cNvCxnSpPr>
          <p:nvPr/>
        </p:nvCxnSpPr>
        <p:spPr>
          <a:xfrm flipV="1">
            <a:off x="9796167" y="1366121"/>
            <a:ext cx="836371" cy="14652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597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F91BC-0A3C-D186-1049-7509CDB21AC3}"/>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B2D8459F-2D52-A2DF-BDD6-07A320681B23}"/>
              </a:ext>
            </a:extLst>
          </p:cNvPr>
          <p:cNvPicPr>
            <a:picLocks noChangeAspect="1"/>
          </p:cNvPicPr>
          <p:nvPr/>
        </p:nvPicPr>
        <p:blipFill>
          <a:blip r:embed="rId2"/>
          <a:stretch>
            <a:fillRect/>
          </a:stretch>
        </p:blipFill>
        <p:spPr>
          <a:xfrm>
            <a:off x="436760" y="550636"/>
            <a:ext cx="6208024" cy="7664450"/>
          </a:xfrm>
          <a:prstGeom prst="rect">
            <a:avLst/>
          </a:prstGeom>
        </p:spPr>
      </p:pic>
      <p:sp>
        <p:nvSpPr>
          <p:cNvPr id="6" name="Right Brace 5">
            <a:extLst>
              <a:ext uri="{FF2B5EF4-FFF2-40B4-BE49-F238E27FC236}">
                <a16:creationId xmlns:a16="http://schemas.microsoft.com/office/drawing/2014/main" id="{EEFF33CC-DA1B-28C9-858F-FA3AB0038CEC}"/>
              </a:ext>
            </a:extLst>
          </p:cNvPr>
          <p:cNvSpPr/>
          <p:nvPr/>
        </p:nvSpPr>
        <p:spPr>
          <a:xfrm>
            <a:off x="6641752" y="1025298"/>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ectangle 6">
            <a:extLst>
              <a:ext uri="{FF2B5EF4-FFF2-40B4-BE49-F238E27FC236}">
                <a16:creationId xmlns:a16="http://schemas.microsoft.com/office/drawing/2014/main" id="{62DBF8D2-E35A-57F7-FCA5-BE99170BDAD8}"/>
              </a:ext>
            </a:extLst>
          </p:cNvPr>
          <p:cNvSpPr/>
          <p:nvPr/>
        </p:nvSpPr>
        <p:spPr>
          <a:xfrm>
            <a:off x="9746713" y="823196"/>
            <a:ext cx="590550" cy="542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56</a:t>
            </a:r>
          </a:p>
        </p:txBody>
      </p:sp>
      <p:sp>
        <p:nvSpPr>
          <p:cNvPr id="10" name="Rectangle 9">
            <a:extLst>
              <a:ext uri="{FF2B5EF4-FFF2-40B4-BE49-F238E27FC236}">
                <a16:creationId xmlns:a16="http://schemas.microsoft.com/office/drawing/2014/main" id="{BCF8193B-4F7F-49B9-C26E-AB0C691D5A90}"/>
              </a:ext>
            </a:extLst>
          </p:cNvPr>
          <p:cNvSpPr/>
          <p:nvPr/>
        </p:nvSpPr>
        <p:spPr>
          <a:xfrm>
            <a:off x="10337263" y="823196"/>
            <a:ext cx="590550" cy="542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00</a:t>
            </a:r>
          </a:p>
        </p:txBody>
      </p:sp>
      <p:sp>
        <p:nvSpPr>
          <p:cNvPr id="11" name="TextBox 10">
            <a:extLst>
              <a:ext uri="{FF2B5EF4-FFF2-40B4-BE49-F238E27FC236}">
                <a16:creationId xmlns:a16="http://schemas.microsoft.com/office/drawing/2014/main" id="{6F8FF1F2-472E-0C47-B272-53672C5B7E0C}"/>
              </a:ext>
            </a:extLst>
          </p:cNvPr>
          <p:cNvSpPr txBox="1"/>
          <p:nvPr/>
        </p:nvSpPr>
        <p:spPr>
          <a:xfrm>
            <a:off x="6903554" y="1712169"/>
            <a:ext cx="1637051" cy="369332"/>
          </a:xfrm>
          <a:prstGeom prst="rect">
            <a:avLst/>
          </a:prstGeom>
          <a:noFill/>
        </p:spPr>
        <p:txBody>
          <a:bodyPr wrap="none" rtlCol="0">
            <a:spAutoFit/>
          </a:bodyPr>
          <a:lstStyle/>
          <a:p>
            <a:r>
              <a:rPr lang="en-US" dirty="0"/>
              <a:t>“big letter” #38</a:t>
            </a:r>
          </a:p>
        </p:txBody>
      </p:sp>
      <p:sp>
        <p:nvSpPr>
          <p:cNvPr id="12" name="Right Brace 11">
            <a:extLst>
              <a:ext uri="{FF2B5EF4-FFF2-40B4-BE49-F238E27FC236}">
                <a16:creationId xmlns:a16="http://schemas.microsoft.com/office/drawing/2014/main" id="{3C1BFA6B-C64D-8148-812E-9FBC8484A86D}"/>
              </a:ext>
            </a:extLst>
          </p:cNvPr>
          <p:cNvSpPr/>
          <p:nvPr/>
        </p:nvSpPr>
        <p:spPr>
          <a:xfrm>
            <a:off x="6641752" y="2768373"/>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D375E532-37FA-615B-D921-28E368DF2D2E}"/>
              </a:ext>
            </a:extLst>
          </p:cNvPr>
          <p:cNvSpPr txBox="1"/>
          <p:nvPr/>
        </p:nvSpPr>
        <p:spPr>
          <a:xfrm>
            <a:off x="6862924" y="3429000"/>
            <a:ext cx="1637051" cy="369332"/>
          </a:xfrm>
          <a:prstGeom prst="rect">
            <a:avLst/>
          </a:prstGeom>
          <a:noFill/>
        </p:spPr>
        <p:txBody>
          <a:bodyPr wrap="none" rtlCol="0">
            <a:spAutoFit/>
          </a:bodyPr>
          <a:lstStyle/>
          <a:p>
            <a:r>
              <a:rPr lang="en-US" dirty="0"/>
              <a:t>“big letter” #39</a:t>
            </a:r>
          </a:p>
        </p:txBody>
      </p:sp>
      <p:sp>
        <p:nvSpPr>
          <p:cNvPr id="14" name="Right Brace 13">
            <a:extLst>
              <a:ext uri="{FF2B5EF4-FFF2-40B4-BE49-F238E27FC236}">
                <a16:creationId xmlns:a16="http://schemas.microsoft.com/office/drawing/2014/main" id="{2D8B9E9A-35A2-8635-3895-65871D1158E8}"/>
              </a:ext>
            </a:extLst>
          </p:cNvPr>
          <p:cNvSpPr/>
          <p:nvPr/>
        </p:nvSpPr>
        <p:spPr>
          <a:xfrm>
            <a:off x="6664120" y="4511448"/>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28605943-46AA-2C40-5051-94606E49B7B9}"/>
              </a:ext>
            </a:extLst>
          </p:cNvPr>
          <p:cNvSpPr/>
          <p:nvPr/>
        </p:nvSpPr>
        <p:spPr>
          <a:xfrm>
            <a:off x="6664120" y="6254523"/>
            <a:ext cx="198804" cy="1743075"/>
          </a:xfrm>
          <a:prstGeom prst="rightBrace">
            <a:avLst>
              <a:gd name="adj1" fmla="val 13020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831527C2-94E3-6159-4E64-6D469888F9D1}"/>
              </a:ext>
            </a:extLst>
          </p:cNvPr>
          <p:cNvSpPr txBox="1"/>
          <p:nvPr/>
        </p:nvSpPr>
        <p:spPr>
          <a:xfrm>
            <a:off x="6885292" y="6915150"/>
            <a:ext cx="1637051" cy="369332"/>
          </a:xfrm>
          <a:prstGeom prst="rect">
            <a:avLst/>
          </a:prstGeom>
          <a:noFill/>
        </p:spPr>
        <p:txBody>
          <a:bodyPr wrap="none" rtlCol="0">
            <a:spAutoFit/>
          </a:bodyPr>
          <a:lstStyle/>
          <a:p>
            <a:r>
              <a:rPr lang="en-US" dirty="0"/>
              <a:t>“big letter” #41</a:t>
            </a:r>
          </a:p>
        </p:txBody>
      </p:sp>
      <p:sp>
        <p:nvSpPr>
          <p:cNvPr id="17" name="TextBox 16">
            <a:extLst>
              <a:ext uri="{FF2B5EF4-FFF2-40B4-BE49-F238E27FC236}">
                <a16:creationId xmlns:a16="http://schemas.microsoft.com/office/drawing/2014/main" id="{A89952AE-E296-9EB4-2281-3E7B14B53959}"/>
              </a:ext>
            </a:extLst>
          </p:cNvPr>
          <p:cNvSpPr txBox="1"/>
          <p:nvPr/>
        </p:nvSpPr>
        <p:spPr>
          <a:xfrm>
            <a:off x="6903553" y="5172075"/>
            <a:ext cx="1637051" cy="369332"/>
          </a:xfrm>
          <a:prstGeom prst="rect">
            <a:avLst/>
          </a:prstGeom>
          <a:noFill/>
        </p:spPr>
        <p:txBody>
          <a:bodyPr wrap="none" rtlCol="0">
            <a:spAutoFit/>
          </a:bodyPr>
          <a:lstStyle/>
          <a:p>
            <a:r>
              <a:rPr lang="en-US" dirty="0"/>
              <a:t>“big letter” #40</a:t>
            </a:r>
          </a:p>
        </p:txBody>
      </p:sp>
      <p:cxnSp>
        <p:nvCxnSpPr>
          <p:cNvPr id="19" name="Straight Arrow Connector 18">
            <a:extLst>
              <a:ext uri="{FF2B5EF4-FFF2-40B4-BE49-F238E27FC236}">
                <a16:creationId xmlns:a16="http://schemas.microsoft.com/office/drawing/2014/main" id="{483E7455-04D2-BB8C-6468-DB5514ADC1E9}"/>
              </a:ext>
            </a:extLst>
          </p:cNvPr>
          <p:cNvCxnSpPr>
            <a:cxnSpLocks/>
            <a:endCxn id="7" idx="1"/>
          </p:cNvCxnSpPr>
          <p:nvPr/>
        </p:nvCxnSpPr>
        <p:spPr>
          <a:xfrm>
            <a:off x="6559550" y="1094659"/>
            <a:ext cx="3187163" cy="0"/>
          </a:xfrm>
          <a:prstGeom prst="straightConnector1">
            <a:avLst/>
          </a:prstGeom>
          <a:ln>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33E3FFD-E509-6899-1D3C-59684DEB4ADD}"/>
              </a:ext>
            </a:extLst>
          </p:cNvPr>
          <p:cNvSpPr txBox="1"/>
          <p:nvPr/>
        </p:nvSpPr>
        <p:spPr>
          <a:xfrm>
            <a:off x="7758045" y="2290124"/>
            <a:ext cx="1848968" cy="369332"/>
          </a:xfrm>
          <a:prstGeom prst="rect">
            <a:avLst/>
          </a:prstGeom>
          <a:noFill/>
        </p:spPr>
        <p:txBody>
          <a:bodyPr wrap="none" rtlCol="0">
            <a:spAutoFit/>
          </a:bodyPr>
          <a:lstStyle/>
          <a:p>
            <a:pPr algn="just"/>
            <a:r>
              <a:rPr lang="en-US" dirty="0"/>
              <a:t>IBM symbol index</a:t>
            </a:r>
          </a:p>
        </p:txBody>
      </p:sp>
      <p:sp>
        <p:nvSpPr>
          <p:cNvPr id="23" name="TextBox 22">
            <a:extLst>
              <a:ext uri="{FF2B5EF4-FFF2-40B4-BE49-F238E27FC236}">
                <a16:creationId xmlns:a16="http://schemas.microsoft.com/office/drawing/2014/main" id="{777898FF-9D13-6FD6-D072-C7B414F73A92}"/>
              </a:ext>
            </a:extLst>
          </p:cNvPr>
          <p:cNvSpPr txBox="1"/>
          <p:nvPr/>
        </p:nvSpPr>
        <p:spPr>
          <a:xfrm>
            <a:off x="7758045" y="2646682"/>
            <a:ext cx="2038122" cy="369332"/>
          </a:xfrm>
          <a:prstGeom prst="rect">
            <a:avLst/>
          </a:prstGeom>
          <a:noFill/>
        </p:spPr>
        <p:txBody>
          <a:bodyPr wrap="none" rtlCol="0">
            <a:spAutoFit/>
          </a:bodyPr>
          <a:lstStyle/>
          <a:p>
            <a:pPr algn="just"/>
            <a:r>
              <a:rPr lang="en-US" dirty="0"/>
              <a:t>Pad/future settings</a:t>
            </a:r>
          </a:p>
        </p:txBody>
      </p:sp>
      <p:cxnSp>
        <p:nvCxnSpPr>
          <p:cNvPr id="25" name="Straight Arrow Connector 24">
            <a:extLst>
              <a:ext uri="{FF2B5EF4-FFF2-40B4-BE49-F238E27FC236}">
                <a16:creationId xmlns:a16="http://schemas.microsoft.com/office/drawing/2014/main" id="{0B893932-2BE7-411E-B4B5-FC43A6E7904B}"/>
              </a:ext>
            </a:extLst>
          </p:cNvPr>
          <p:cNvCxnSpPr>
            <a:stCxn id="22" idx="3"/>
            <a:endCxn id="7" idx="2"/>
          </p:cNvCxnSpPr>
          <p:nvPr/>
        </p:nvCxnSpPr>
        <p:spPr>
          <a:xfrm flipV="1">
            <a:off x="9607013" y="1366121"/>
            <a:ext cx="434975" cy="11086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4">
            <a:extLst>
              <a:ext uri="{FF2B5EF4-FFF2-40B4-BE49-F238E27FC236}">
                <a16:creationId xmlns:a16="http://schemas.microsoft.com/office/drawing/2014/main" id="{9647832E-02D9-73C5-A802-CB2B2D20A5FA}"/>
              </a:ext>
            </a:extLst>
          </p:cNvPr>
          <p:cNvCxnSpPr>
            <a:cxnSpLocks/>
            <a:stCxn id="23" idx="3"/>
            <a:endCxn id="10" idx="2"/>
          </p:cNvCxnSpPr>
          <p:nvPr/>
        </p:nvCxnSpPr>
        <p:spPr>
          <a:xfrm flipV="1">
            <a:off x="9796167" y="1366121"/>
            <a:ext cx="836371" cy="14652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AAAD1D9D-E95B-2EC9-2419-DFB14BD7B068}"/>
              </a:ext>
            </a:extLst>
          </p:cNvPr>
          <p:cNvSpPr/>
          <p:nvPr/>
        </p:nvSpPr>
        <p:spPr>
          <a:xfrm>
            <a:off x="5087815" y="4630615"/>
            <a:ext cx="574431" cy="246185"/>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10CFD0A-CC06-EFFE-1BA1-0503EA25B780}"/>
              </a:ext>
            </a:extLst>
          </p:cNvPr>
          <p:cNvSpPr txBox="1"/>
          <p:nvPr/>
        </p:nvSpPr>
        <p:spPr>
          <a:xfrm>
            <a:off x="7769352" y="4046509"/>
            <a:ext cx="2696316" cy="646331"/>
          </a:xfrm>
          <a:prstGeom prst="rect">
            <a:avLst/>
          </a:prstGeom>
          <a:noFill/>
        </p:spPr>
        <p:txBody>
          <a:bodyPr wrap="none" rtlCol="0">
            <a:spAutoFit/>
          </a:bodyPr>
          <a:lstStyle/>
          <a:p>
            <a:pPr algn="just"/>
            <a:r>
              <a:rPr lang="en-US" dirty="0">
                <a:solidFill>
                  <a:srgbClr val="FF0000"/>
                </a:solidFill>
              </a:rPr>
              <a:t>Symbol index offset can be</a:t>
            </a:r>
          </a:p>
          <a:p>
            <a:pPr algn="just"/>
            <a:r>
              <a:rPr lang="en-US" dirty="0">
                <a:solidFill>
                  <a:srgbClr val="FF0000"/>
                </a:solidFill>
              </a:rPr>
              <a:t>greater than 255 (0xFF)</a:t>
            </a:r>
          </a:p>
        </p:txBody>
      </p:sp>
      <p:cxnSp>
        <p:nvCxnSpPr>
          <p:cNvPr id="18" name="Straight Connector 17">
            <a:extLst>
              <a:ext uri="{FF2B5EF4-FFF2-40B4-BE49-F238E27FC236}">
                <a16:creationId xmlns:a16="http://schemas.microsoft.com/office/drawing/2014/main" id="{5BFDF48C-1EAB-3241-8EB5-7597D4450DB6}"/>
              </a:ext>
            </a:extLst>
          </p:cNvPr>
          <p:cNvCxnSpPr>
            <a:cxnSpLocks/>
            <a:stCxn id="4" idx="7"/>
            <a:endCxn id="5" idx="1"/>
          </p:cNvCxnSpPr>
          <p:nvPr/>
        </p:nvCxnSpPr>
        <p:spPr>
          <a:xfrm flipV="1">
            <a:off x="5578123" y="4369675"/>
            <a:ext cx="2191229" cy="29699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492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438AED9-38F3-1533-562C-F897301691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939" y="584398"/>
            <a:ext cx="7226110" cy="28190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08E21BC-5F60-82B1-2079-DDB6E92A0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9600" y="3688160"/>
            <a:ext cx="7226110" cy="286504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B01FFDA9-2BAC-D007-D17A-C783923C1F0E}"/>
              </a:ext>
            </a:extLst>
          </p:cNvPr>
          <p:cNvCxnSpPr>
            <a:cxnSpLocks/>
          </p:cNvCxnSpPr>
          <p:nvPr/>
        </p:nvCxnSpPr>
        <p:spPr>
          <a:xfrm>
            <a:off x="2806700" y="1968500"/>
            <a:ext cx="8001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C152F49-ADAA-0F99-54BE-6E4E8258957A}"/>
              </a:ext>
            </a:extLst>
          </p:cNvPr>
          <p:cNvCxnSpPr>
            <a:cxnSpLocks/>
          </p:cNvCxnSpPr>
          <p:nvPr/>
        </p:nvCxnSpPr>
        <p:spPr>
          <a:xfrm>
            <a:off x="2806700" y="5168900"/>
            <a:ext cx="8001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663DA40-DFCC-8151-B54B-EF923405CA53}"/>
              </a:ext>
            </a:extLst>
          </p:cNvPr>
          <p:cNvSpPr txBox="1"/>
          <p:nvPr/>
        </p:nvSpPr>
        <p:spPr>
          <a:xfrm>
            <a:off x="1774825" y="4020741"/>
            <a:ext cx="1374114" cy="2308324"/>
          </a:xfrm>
          <a:prstGeom prst="rect">
            <a:avLst/>
          </a:prstGeom>
          <a:noFill/>
        </p:spPr>
        <p:txBody>
          <a:bodyPr wrap="square" rtlCol="0">
            <a:spAutoFit/>
          </a:bodyPr>
          <a:lstStyle/>
          <a:p>
            <a:pPr algn="r"/>
            <a:r>
              <a:rPr lang="en-US" dirty="0"/>
              <a:t>0 (00)</a:t>
            </a:r>
          </a:p>
          <a:p>
            <a:pPr algn="r"/>
            <a:r>
              <a:rPr lang="en-US" dirty="0"/>
              <a:t>32 (20)</a:t>
            </a:r>
          </a:p>
          <a:p>
            <a:pPr algn="r"/>
            <a:r>
              <a:rPr lang="en-US" dirty="0"/>
              <a:t>64 (40)</a:t>
            </a:r>
          </a:p>
          <a:p>
            <a:pPr algn="r"/>
            <a:r>
              <a:rPr lang="en-US" dirty="0"/>
              <a:t>96 (60)</a:t>
            </a:r>
          </a:p>
          <a:p>
            <a:pPr algn="r"/>
            <a:r>
              <a:rPr lang="en-US" dirty="0"/>
              <a:t>128 (80)</a:t>
            </a:r>
          </a:p>
          <a:p>
            <a:pPr algn="r"/>
            <a:r>
              <a:rPr lang="en-US" dirty="0"/>
              <a:t>160 (A0)</a:t>
            </a:r>
          </a:p>
          <a:p>
            <a:pPr algn="r"/>
            <a:r>
              <a:rPr lang="en-US" dirty="0"/>
              <a:t>192 (C0)</a:t>
            </a:r>
          </a:p>
          <a:p>
            <a:pPr algn="r"/>
            <a:r>
              <a:rPr lang="en-US" dirty="0"/>
              <a:t>224 (E0)</a:t>
            </a:r>
          </a:p>
        </p:txBody>
      </p:sp>
      <p:sp>
        <p:nvSpPr>
          <p:cNvPr id="10" name="TextBox 9">
            <a:extLst>
              <a:ext uri="{FF2B5EF4-FFF2-40B4-BE49-F238E27FC236}">
                <a16:creationId xmlns:a16="http://schemas.microsoft.com/office/drawing/2014/main" id="{FCDE8129-19FD-77FB-2111-4AA4ED48A22C}"/>
              </a:ext>
            </a:extLst>
          </p:cNvPr>
          <p:cNvSpPr txBox="1"/>
          <p:nvPr/>
        </p:nvSpPr>
        <p:spPr>
          <a:xfrm>
            <a:off x="1774825" y="742405"/>
            <a:ext cx="1374114" cy="2487861"/>
          </a:xfrm>
          <a:prstGeom prst="rect">
            <a:avLst/>
          </a:prstGeom>
          <a:noFill/>
        </p:spPr>
        <p:txBody>
          <a:bodyPr wrap="square" rtlCol="0">
            <a:spAutoFit/>
          </a:bodyPr>
          <a:lstStyle/>
          <a:p>
            <a:pPr algn="r">
              <a:spcBef>
                <a:spcPts val="100"/>
              </a:spcBef>
              <a:spcAft>
                <a:spcPts val="100"/>
              </a:spcAft>
            </a:pPr>
            <a:r>
              <a:rPr lang="en-US" dirty="0"/>
              <a:t>0 (00)</a:t>
            </a:r>
          </a:p>
          <a:p>
            <a:pPr algn="r">
              <a:spcBef>
                <a:spcPts val="100"/>
              </a:spcBef>
              <a:spcAft>
                <a:spcPts val="100"/>
              </a:spcAft>
            </a:pPr>
            <a:r>
              <a:rPr lang="en-US" dirty="0"/>
              <a:t>32 (20)</a:t>
            </a:r>
          </a:p>
          <a:p>
            <a:pPr algn="r">
              <a:spcBef>
                <a:spcPts val="100"/>
              </a:spcBef>
              <a:spcAft>
                <a:spcPts val="100"/>
              </a:spcAft>
            </a:pPr>
            <a:r>
              <a:rPr lang="en-US" dirty="0"/>
              <a:t>64 (40)</a:t>
            </a:r>
          </a:p>
          <a:p>
            <a:pPr algn="r">
              <a:spcBef>
                <a:spcPts val="100"/>
              </a:spcBef>
              <a:spcAft>
                <a:spcPts val="100"/>
              </a:spcAft>
            </a:pPr>
            <a:r>
              <a:rPr lang="en-US" dirty="0"/>
              <a:t>96 (60)</a:t>
            </a:r>
          </a:p>
          <a:p>
            <a:pPr algn="r">
              <a:spcBef>
                <a:spcPts val="100"/>
              </a:spcBef>
              <a:spcAft>
                <a:spcPts val="100"/>
              </a:spcAft>
            </a:pPr>
            <a:r>
              <a:rPr lang="en-US" dirty="0"/>
              <a:t>128 (80)</a:t>
            </a:r>
          </a:p>
          <a:p>
            <a:pPr algn="r">
              <a:spcBef>
                <a:spcPts val="100"/>
              </a:spcBef>
              <a:spcAft>
                <a:spcPts val="100"/>
              </a:spcAft>
            </a:pPr>
            <a:r>
              <a:rPr lang="en-US" dirty="0"/>
              <a:t>160 (A0)</a:t>
            </a:r>
          </a:p>
          <a:p>
            <a:pPr algn="r">
              <a:spcBef>
                <a:spcPts val="100"/>
              </a:spcBef>
              <a:spcAft>
                <a:spcPts val="100"/>
              </a:spcAft>
            </a:pPr>
            <a:r>
              <a:rPr lang="en-US" dirty="0"/>
              <a:t>192 (C0)</a:t>
            </a:r>
          </a:p>
          <a:p>
            <a:pPr algn="r">
              <a:spcBef>
                <a:spcPts val="100"/>
              </a:spcBef>
              <a:spcAft>
                <a:spcPts val="100"/>
              </a:spcAft>
            </a:pPr>
            <a:r>
              <a:rPr lang="en-US" dirty="0"/>
              <a:t>224 (E0)</a:t>
            </a:r>
          </a:p>
        </p:txBody>
      </p:sp>
      <p:sp>
        <p:nvSpPr>
          <p:cNvPr id="11" name="TextBox 10">
            <a:extLst>
              <a:ext uri="{FF2B5EF4-FFF2-40B4-BE49-F238E27FC236}">
                <a16:creationId xmlns:a16="http://schemas.microsoft.com/office/drawing/2014/main" id="{E60B0DB9-7D34-B5F3-989A-F65922E9011D}"/>
              </a:ext>
            </a:extLst>
          </p:cNvPr>
          <p:cNvSpPr txBox="1"/>
          <p:nvPr/>
        </p:nvSpPr>
        <p:spPr>
          <a:xfrm>
            <a:off x="1810727" y="333604"/>
            <a:ext cx="1165704"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IBM 5100</a:t>
            </a:r>
          </a:p>
        </p:txBody>
      </p:sp>
      <p:sp>
        <p:nvSpPr>
          <p:cNvPr id="12" name="TextBox 11">
            <a:extLst>
              <a:ext uri="{FF2B5EF4-FFF2-40B4-BE49-F238E27FC236}">
                <a16:creationId xmlns:a16="http://schemas.microsoft.com/office/drawing/2014/main" id="{275296E7-E914-DC0B-693C-89AF544F9FA7}"/>
              </a:ext>
            </a:extLst>
          </p:cNvPr>
          <p:cNvSpPr txBox="1"/>
          <p:nvPr/>
        </p:nvSpPr>
        <p:spPr>
          <a:xfrm>
            <a:off x="1810727" y="3695686"/>
            <a:ext cx="1152944"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IBM 5110</a:t>
            </a:r>
          </a:p>
        </p:txBody>
      </p:sp>
    </p:spTree>
    <p:extLst>
      <p:ext uri="{BB962C8B-B14F-4D97-AF65-F5344CB8AC3E}">
        <p14:creationId xmlns:p14="http://schemas.microsoft.com/office/powerpoint/2010/main" val="1049895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80B9B-06B6-D6CB-792A-14B80095E4B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900F158-B834-B649-4804-7BEEB0A1CC8F}"/>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solidFill>
                  <a:schemeClr val="tx1"/>
                </a:solidFill>
                <a:latin typeface="Courier New" panose="02070309020205020404" pitchFamily="49" charset="0"/>
                <a:cs typeface="Courier New" panose="02070309020205020404" pitchFamily="49" charset="0"/>
              </a:rPr>
              <a:t>__</a:t>
            </a:r>
            <a:r>
              <a:rPr lang="en-US" sz="1000" dirty="0">
                <a:latin typeface="Courier New" panose="02070309020205020404" pitchFamily="49" charset="0"/>
                <a:cs typeface="Courier New" panose="02070309020205020404" pitchFamily="49" charset="0"/>
              </a:rPr>
              <a:t>_A</a:t>
            </a:r>
            <a:r>
              <a:rPr lang="en-US" sz="1000" dirty="0">
                <a:solidFill>
                  <a:schemeClr val="tx1"/>
                </a:solidFill>
                <a:latin typeface="Courier New" panose="02070309020205020404" pitchFamily="49" charset="0"/>
                <a:cs typeface="Courier New" panose="02070309020205020404" pitchFamily="49" charset="0"/>
              </a:rPr>
              <a:t>AA</a:t>
            </a:r>
            <a:r>
              <a:rPr lang="en-US" sz="1000" dirty="0">
                <a:latin typeface="Courier New" panose="02070309020205020404" pitchFamily="49" charset="0"/>
                <a:cs typeface="Courier New" panose="02070309020205020404" pitchFamily="49" charset="0"/>
              </a:rPr>
              <a:t>A_</a:t>
            </a:r>
            <a:r>
              <a:rPr lang="en-US" sz="1000" dirty="0">
                <a:solidFill>
                  <a:schemeClr val="tx1"/>
                </a:solidFill>
                <a:latin typeface="Courier New" panose="02070309020205020404" pitchFamily="49" charset="0"/>
                <a:cs typeface="Courier New" panose="02070309020205020404" pitchFamily="49" charset="0"/>
              </a:rPr>
              <a:t>__</a:t>
            </a:r>
            <a:r>
              <a:rPr lang="en-US" sz="1000" dirty="0">
                <a:latin typeface="Courier New" panose="02070309020205020404" pitchFamily="49" charset="0"/>
                <a:cs typeface="Courier New" panose="02070309020205020404" pitchFamily="49" charset="0"/>
              </a:rPr>
              <a:t>BB</a:t>
            </a:r>
            <a:r>
              <a:rPr lang="en-US" sz="1000" dirty="0">
                <a:solidFill>
                  <a:schemeClr val="tx1"/>
                </a:solidFill>
                <a:latin typeface="Courier New" panose="02070309020205020404" pitchFamily="49" charset="0"/>
                <a:cs typeface="Courier New" panose="02070309020205020404" pitchFamily="49" charset="0"/>
              </a:rPr>
              <a:t>BB</a:t>
            </a:r>
            <a:r>
              <a:rPr lang="en-US" sz="1000" dirty="0">
                <a:latin typeface="Courier New" panose="02070309020205020404" pitchFamily="49" charset="0"/>
                <a:cs typeface="Courier New" panose="02070309020205020404" pitchFamily="49" charset="0"/>
              </a:rPr>
              <a:t>B_</a:t>
            </a:r>
            <a:r>
              <a:rPr lang="en-US" sz="1000" dirty="0">
                <a:solidFill>
                  <a:schemeClr val="tx1"/>
                </a:solidFill>
                <a:latin typeface="Courier New" panose="02070309020205020404" pitchFamily="49" charset="0"/>
                <a:cs typeface="Courier New" panose="02070309020205020404" pitchFamily="49" charset="0"/>
              </a:rPr>
              <a:t>__</a:t>
            </a:r>
            <a:r>
              <a:rPr lang="en-US" sz="1000" dirty="0">
                <a:latin typeface="Courier New" panose="02070309020205020404" pitchFamily="49" charset="0"/>
                <a:cs typeface="Courier New" panose="02070309020205020404" pitchFamily="49" charset="0"/>
              </a:rPr>
              <a:t>_C</a:t>
            </a:r>
            <a:r>
              <a:rPr lang="en-US" sz="1000" dirty="0">
                <a:solidFill>
                  <a:schemeClr val="tx1"/>
                </a:solidFill>
                <a:latin typeface="Courier New" panose="02070309020205020404" pitchFamily="49" charset="0"/>
                <a:cs typeface="Courier New" panose="02070309020205020404" pitchFamily="49" charset="0"/>
              </a:rPr>
              <a:t>CC</a:t>
            </a:r>
            <a:r>
              <a:rPr lang="en-US" sz="1000" dirty="0">
                <a:latin typeface="Courier New" panose="02070309020205020404" pitchFamily="49" charset="0"/>
                <a:cs typeface="Courier New" panose="02070309020205020404" pitchFamily="49" charset="0"/>
              </a:rPr>
              <a:t>C_</a:t>
            </a:r>
            <a:r>
              <a:rPr lang="en-US" sz="1000" dirty="0">
                <a:solidFill>
                  <a:schemeClr val="tx1"/>
                </a:solidFill>
                <a:latin typeface="Courier New" panose="02070309020205020404" pitchFamily="49" charset="0"/>
                <a:cs typeface="Courier New" panose="02070309020205020404" pitchFamily="49" charset="0"/>
              </a:rPr>
              <a:t>__</a:t>
            </a:r>
            <a:r>
              <a:rPr lang="en-US" sz="1000" dirty="0">
                <a:latin typeface="Courier New" panose="02070309020205020404" pitchFamily="49" charset="0"/>
                <a:cs typeface="Courier New" panose="02070309020205020404" pitchFamily="49" charset="0"/>
              </a:rPr>
              <a:t>DD</a:t>
            </a:r>
            <a:r>
              <a:rPr lang="en-US" sz="1000" dirty="0">
                <a:solidFill>
                  <a:schemeClr val="tx1"/>
                </a:solidFill>
                <a:latin typeface="Courier New" panose="02070309020205020404" pitchFamily="49" charset="0"/>
                <a:cs typeface="Courier New" panose="02070309020205020404" pitchFamily="49" charset="0"/>
              </a:rPr>
              <a:t>DD</a:t>
            </a:r>
            <a:r>
              <a:rPr lang="en-US" sz="1000" dirty="0">
                <a:latin typeface="Courier New" panose="02070309020205020404" pitchFamily="49" charset="0"/>
                <a:cs typeface="Courier New" panose="02070309020205020404" pitchFamily="49" charset="0"/>
              </a:rPr>
              <a:t>D___EEEEEE__FFFFFF___GGGG___HH  HH__IIIIII______JJ__KK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__AAAAAA__BBBBBB__CCCCCC__DDDDDD__EEEEEE__FFFFFF__GGGGGG__HH  HH__IIIIII______JJ__KK_ KK__LL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__HH  HH____II  ______JJ__KK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__AAAAAA__BBBBB___CC    __DD  DD__EEEE  __FFFF  __GG    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__AAAAAA__BB  BB__CC    __DD  DD__EEEE  __FFFF  __GG GGG__HHHHHH____II  ______JJ__KKKK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__DD  DD__EE    __FF    __GG GGG__HH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  BB__CC  CC__DD  DD__EE    __FF    __GG  GG__HH  HH____II  __JJ__JJ__KK KK __LL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AA__BBBBBB__CCCCCC__DDDDDD__EEEEEE__FF    __GGGGGG__HH  HH__IIIIII__JJJJJ___KK  KK__LLLLLL</a:t>
            </a:r>
          </a:p>
          <a:p>
            <a:pPr>
              <a:spcBef>
                <a:spcPts val="60"/>
              </a:spcBef>
              <a:spcAft>
                <a:spcPts val="60"/>
              </a:spcAft>
            </a:pPr>
            <a:r>
              <a:rPr lang="en-US" sz="1000" dirty="0">
                <a:latin typeface="Courier New" panose="02070309020205020404" pitchFamily="49" charset="0"/>
                <a:cs typeface="Courier New" panose="02070309020205020404" pitchFamily="49" charset="0"/>
              </a:rPr>
              <a:t>__AA  AA__BBBBB____CCCC___DDDDD___EEEEEE__FF    ___GGGG___HH  HH__IIIIII___JJJ____KK  KK__LLLLLL</a:t>
            </a:r>
          </a:p>
        </p:txBody>
      </p:sp>
      <p:sp>
        <p:nvSpPr>
          <p:cNvPr id="7" name="TextBox 6">
            <a:extLst>
              <a:ext uri="{FF2B5EF4-FFF2-40B4-BE49-F238E27FC236}">
                <a16:creationId xmlns:a16="http://schemas.microsoft.com/office/drawing/2014/main" id="{37092A9E-40C7-5DC3-3579-B3239E0169AC}"/>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3" name="TextBox 2">
            <a:extLst>
              <a:ext uri="{FF2B5EF4-FFF2-40B4-BE49-F238E27FC236}">
                <a16:creationId xmlns:a16="http://schemas.microsoft.com/office/drawing/2014/main" id="{B68A54EE-97F2-1326-29FE-835EEE996257}"/>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0x101E </a:t>
            </a:r>
          </a:p>
          <a:p>
            <a:r>
              <a:rPr lang="en-US" sz="1200" dirty="0">
                <a:solidFill>
                  <a:srgbClr val="FF0000"/>
                </a:solidFill>
                <a:latin typeface="Courier New" panose="02070309020205020404" pitchFamily="49" charset="0"/>
                <a:cs typeface="Courier New" panose="02070309020205020404" pitchFamily="49" charset="0"/>
              </a:rPr>
              <a:t>ROW 2   0x107E</a:t>
            </a:r>
          </a:p>
          <a:p>
            <a:r>
              <a:rPr lang="en-US" sz="1200" dirty="0">
                <a:solidFill>
                  <a:srgbClr val="FF0000"/>
                </a:solidFill>
                <a:latin typeface="Courier New" panose="02070309020205020404" pitchFamily="49" charset="0"/>
                <a:cs typeface="Courier New" panose="02070309020205020404" pitchFamily="49" charset="0"/>
              </a:rPr>
              <a:t>ROW 3   0x10DE</a:t>
            </a:r>
          </a:p>
          <a:p>
            <a:r>
              <a:rPr lang="en-US" sz="1200" dirty="0">
                <a:solidFill>
                  <a:srgbClr val="FF0000"/>
                </a:solidFill>
                <a:latin typeface="Courier New" panose="02070309020205020404" pitchFamily="49" charset="0"/>
                <a:cs typeface="Courier New" panose="02070309020205020404" pitchFamily="49" charset="0"/>
              </a:rPr>
              <a:t>ROW 4   0x113E</a:t>
            </a:r>
          </a:p>
          <a:p>
            <a:r>
              <a:rPr lang="en-US" sz="1200" dirty="0">
                <a:solidFill>
                  <a:srgbClr val="FF0000"/>
                </a:solidFill>
                <a:latin typeface="Courier New" panose="02070309020205020404" pitchFamily="49" charset="0"/>
                <a:cs typeface="Courier New" panose="02070309020205020404" pitchFamily="49" charset="0"/>
              </a:rPr>
              <a:t>ROW 5   0x119E</a:t>
            </a:r>
          </a:p>
          <a:p>
            <a:r>
              <a:rPr lang="en-US" sz="1200" dirty="0">
                <a:solidFill>
                  <a:srgbClr val="FF0000"/>
                </a:solidFill>
                <a:latin typeface="Courier New" panose="02070309020205020404" pitchFamily="49" charset="0"/>
                <a:cs typeface="Courier New" panose="02070309020205020404" pitchFamily="49" charset="0"/>
              </a:rPr>
              <a:t>ROW 6   0x11FE</a:t>
            </a:r>
          </a:p>
          <a:p>
            <a:r>
              <a:rPr lang="en-US" sz="1200" dirty="0">
                <a:solidFill>
                  <a:srgbClr val="FF0000"/>
                </a:solidFill>
                <a:latin typeface="Courier New" panose="02070309020205020404" pitchFamily="49" charset="0"/>
                <a:cs typeface="Courier New" panose="02070309020205020404" pitchFamily="49" charset="0"/>
              </a:rPr>
              <a:t>ROW 7   0x125E</a:t>
            </a:r>
          </a:p>
          <a:p>
            <a:r>
              <a:rPr lang="en-US" sz="1200" dirty="0">
                <a:solidFill>
                  <a:srgbClr val="FF0000"/>
                </a:solidFill>
                <a:latin typeface="Courier New" panose="02070309020205020404" pitchFamily="49" charset="0"/>
                <a:cs typeface="Courier New" panose="02070309020205020404" pitchFamily="49" charset="0"/>
              </a:rPr>
              <a:t>ROW 8   0x12BE</a:t>
            </a:r>
          </a:p>
          <a:p>
            <a:r>
              <a:rPr lang="en-US" sz="1200" dirty="0">
                <a:solidFill>
                  <a:srgbClr val="FF0000"/>
                </a:solidFill>
                <a:latin typeface="Courier New" panose="02070309020205020404" pitchFamily="49" charset="0"/>
                <a:cs typeface="Courier New" panose="02070309020205020404" pitchFamily="49" charset="0"/>
              </a:rPr>
              <a:t>ROW 9   0x131E</a:t>
            </a:r>
          </a:p>
          <a:p>
            <a:r>
              <a:rPr lang="en-US" sz="1200" dirty="0">
                <a:solidFill>
                  <a:srgbClr val="FF0000"/>
                </a:solidFill>
                <a:latin typeface="Courier New" panose="02070309020205020404" pitchFamily="49" charset="0"/>
                <a:cs typeface="Courier New" panose="02070309020205020404" pitchFamily="49" charset="0"/>
              </a:rPr>
              <a:t>ROW 10  0x137E</a:t>
            </a:r>
          </a:p>
        </p:txBody>
      </p:sp>
      <p:sp>
        <p:nvSpPr>
          <p:cNvPr id="8" name="TextBox 7">
            <a:extLst>
              <a:ext uri="{FF2B5EF4-FFF2-40B4-BE49-F238E27FC236}">
                <a16:creationId xmlns:a16="http://schemas.microsoft.com/office/drawing/2014/main" id="{B03EA3BF-6E2E-A68C-F2D4-1695007E4114}"/>
              </a:ext>
            </a:extLst>
          </p:cNvPr>
          <p:cNvSpPr txBox="1"/>
          <p:nvPr/>
        </p:nvSpPr>
        <p:spPr>
          <a:xfrm>
            <a:off x="5707255" y="1201416"/>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11" name="Rectangle 10">
            <a:extLst>
              <a:ext uri="{FF2B5EF4-FFF2-40B4-BE49-F238E27FC236}">
                <a16:creationId xmlns:a16="http://schemas.microsoft.com/office/drawing/2014/main" id="{2D778003-2DBA-7D4C-8FE5-31B4E456856A}"/>
              </a:ext>
            </a:extLst>
          </p:cNvPr>
          <p:cNvSpPr/>
          <p:nvPr/>
        </p:nvSpPr>
        <p:spPr>
          <a:xfrm>
            <a:off x="5792757" y="1574727"/>
            <a:ext cx="4856193" cy="2942370"/>
          </a:xfrm>
          <a:prstGeom prst="rect">
            <a:avLst/>
          </a:prstGeom>
          <a:solidFill>
            <a:schemeClr val="bg2">
              <a:lumMod val="25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1C1EA37-3A5F-9BEA-63AD-577447149A17}"/>
              </a:ext>
            </a:extLst>
          </p:cNvPr>
          <p:cNvSpPr txBox="1"/>
          <p:nvPr/>
        </p:nvSpPr>
        <p:spPr>
          <a:xfrm>
            <a:off x="1830593" y="43116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0x1060</a:t>
            </a:r>
          </a:p>
          <a:p>
            <a:r>
              <a:rPr lang="en-US" sz="1200" dirty="0">
                <a:solidFill>
                  <a:srgbClr val="FF0000"/>
                </a:solidFill>
                <a:latin typeface="Courier New" panose="02070309020205020404" pitchFamily="49" charset="0"/>
                <a:cs typeface="Courier New" panose="02070309020205020404" pitchFamily="49" charset="0"/>
              </a:rPr>
              <a:t>ROW 3   0x10C0</a:t>
            </a:r>
          </a:p>
          <a:p>
            <a:r>
              <a:rPr lang="en-US" sz="1200" dirty="0">
                <a:solidFill>
                  <a:srgbClr val="FF0000"/>
                </a:solidFill>
                <a:latin typeface="Courier New" panose="02070309020205020404" pitchFamily="49" charset="0"/>
                <a:cs typeface="Courier New" panose="02070309020205020404" pitchFamily="49" charset="0"/>
              </a:rPr>
              <a:t>ROW 4   0x1120</a:t>
            </a:r>
          </a:p>
          <a:p>
            <a:r>
              <a:rPr lang="en-US" sz="1200" dirty="0">
                <a:solidFill>
                  <a:srgbClr val="FF0000"/>
                </a:solidFill>
                <a:latin typeface="Courier New" panose="02070309020205020404" pitchFamily="49" charset="0"/>
                <a:cs typeface="Courier New" panose="02070309020205020404" pitchFamily="49" charset="0"/>
              </a:rPr>
              <a:t>ROW 5   0x1180</a:t>
            </a:r>
          </a:p>
          <a:p>
            <a:r>
              <a:rPr lang="en-US" sz="1200" dirty="0">
                <a:solidFill>
                  <a:srgbClr val="FF0000"/>
                </a:solidFill>
                <a:latin typeface="Courier New" panose="02070309020205020404" pitchFamily="49" charset="0"/>
                <a:cs typeface="Courier New" panose="02070309020205020404" pitchFamily="49" charset="0"/>
              </a:rPr>
              <a:t>ROW 6   0x11E0</a:t>
            </a:r>
          </a:p>
          <a:p>
            <a:r>
              <a:rPr lang="en-US" sz="1200" dirty="0">
                <a:solidFill>
                  <a:srgbClr val="FF0000"/>
                </a:solidFill>
                <a:latin typeface="Courier New" panose="02070309020205020404" pitchFamily="49" charset="0"/>
                <a:cs typeface="Courier New" panose="02070309020205020404" pitchFamily="49" charset="0"/>
              </a:rPr>
              <a:t>ROW 7   0x1240</a:t>
            </a:r>
          </a:p>
          <a:p>
            <a:r>
              <a:rPr lang="en-US" sz="1200" dirty="0">
                <a:solidFill>
                  <a:srgbClr val="FF0000"/>
                </a:solidFill>
                <a:latin typeface="Courier New" panose="02070309020205020404" pitchFamily="49" charset="0"/>
                <a:cs typeface="Courier New" panose="02070309020205020404" pitchFamily="49" charset="0"/>
              </a:rPr>
              <a:t>ROW 8   0x12A0</a:t>
            </a:r>
          </a:p>
          <a:p>
            <a:r>
              <a:rPr lang="en-US" sz="1200" dirty="0">
                <a:solidFill>
                  <a:srgbClr val="FF0000"/>
                </a:solidFill>
                <a:latin typeface="Courier New" panose="02070309020205020404" pitchFamily="49" charset="0"/>
                <a:cs typeface="Courier New" panose="02070309020205020404" pitchFamily="49" charset="0"/>
              </a:rPr>
              <a:t>ROW 9   0x1300</a:t>
            </a:r>
          </a:p>
          <a:p>
            <a:r>
              <a:rPr lang="en-US" sz="1200" dirty="0">
                <a:solidFill>
                  <a:srgbClr val="FF0000"/>
                </a:solidFill>
                <a:latin typeface="Courier New" panose="02070309020205020404" pitchFamily="49" charset="0"/>
                <a:cs typeface="Courier New" panose="02070309020205020404" pitchFamily="49" charset="0"/>
              </a:rPr>
              <a:t>ROW 10  0x1360</a:t>
            </a:r>
          </a:p>
        </p:txBody>
      </p:sp>
      <p:sp>
        <p:nvSpPr>
          <p:cNvPr id="6" name="Rectangle 5">
            <a:extLst>
              <a:ext uri="{FF2B5EF4-FFF2-40B4-BE49-F238E27FC236}">
                <a16:creationId xmlns:a16="http://schemas.microsoft.com/office/drawing/2014/main" id="{54DB3C60-74B0-F734-B8E0-1FA7A549E2E0}"/>
              </a:ext>
            </a:extLst>
          </p:cNvPr>
          <p:cNvSpPr/>
          <p:nvPr/>
        </p:nvSpPr>
        <p:spPr>
          <a:xfrm>
            <a:off x="2910839" y="2028824"/>
            <a:ext cx="84773" cy="857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6E2F83-45B8-5916-958B-324DF797E9B0}"/>
              </a:ext>
            </a:extLst>
          </p:cNvPr>
          <p:cNvSpPr/>
          <p:nvPr/>
        </p:nvSpPr>
        <p:spPr>
          <a:xfrm>
            <a:off x="5792757" y="2181224"/>
            <a:ext cx="84773" cy="857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DB6983EC-251F-3248-4005-AEF5B1E6C4E5}"/>
              </a:ext>
            </a:extLst>
          </p:cNvPr>
          <p:cNvCxnSpPr>
            <a:stCxn id="6" idx="0"/>
            <a:endCxn id="10" idx="0"/>
          </p:cNvCxnSpPr>
          <p:nvPr/>
        </p:nvCxnSpPr>
        <p:spPr>
          <a:xfrm rot="16200000" flipH="1">
            <a:off x="4317985" y="664065"/>
            <a:ext cx="152400" cy="2881918"/>
          </a:xfrm>
          <a:prstGeom prst="curvedConnector3">
            <a:avLst>
              <a:gd name="adj1" fmla="val -150000"/>
            </a:avLst>
          </a:prstGeom>
          <a:ln w="25400">
            <a:solidFill>
              <a:srgbClr val="FF0000"/>
            </a:solidFill>
            <a:prstDash val="lgDash"/>
            <a:tailEnd type="triangle" w="med"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BAAB09D-DAFF-A507-5FE1-3EC069EDAC5E}"/>
              </a:ext>
            </a:extLst>
          </p:cNvPr>
          <p:cNvCxnSpPr>
            <a:cxnSpLocks/>
            <a:stCxn id="14" idx="2"/>
            <a:endCxn id="4" idx="2"/>
          </p:cNvCxnSpPr>
          <p:nvPr/>
        </p:nvCxnSpPr>
        <p:spPr>
          <a:xfrm rot="5400000">
            <a:off x="5584449" y="964396"/>
            <a:ext cx="2319993" cy="8252499"/>
          </a:xfrm>
          <a:prstGeom prst="curvedConnector3">
            <a:avLst>
              <a:gd name="adj1" fmla="val 109853"/>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59070CB-3E15-E866-25B4-C363006255E9}"/>
              </a:ext>
            </a:extLst>
          </p:cNvPr>
          <p:cNvSpPr/>
          <p:nvPr/>
        </p:nvSpPr>
        <p:spPr>
          <a:xfrm>
            <a:off x="10828307" y="3844924"/>
            <a:ext cx="84773" cy="857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Brace 29">
            <a:extLst>
              <a:ext uri="{FF2B5EF4-FFF2-40B4-BE49-F238E27FC236}">
                <a16:creationId xmlns:a16="http://schemas.microsoft.com/office/drawing/2014/main" id="{FEE1A35E-4C48-6CC9-C006-095FFC37A624}"/>
              </a:ext>
            </a:extLst>
          </p:cNvPr>
          <p:cNvSpPr/>
          <p:nvPr/>
        </p:nvSpPr>
        <p:spPr>
          <a:xfrm rot="16200000">
            <a:off x="2436541" y="1307031"/>
            <a:ext cx="267491" cy="1311027"/>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a:extLst>
              <a:ext uri="{FF2B5EF4-FFF2-40B4-BE49-F238E27FC236}">
                <a16:creationId xmlns:a16="http://schemas.microsoft.com/office/drawing/2014/main" id="{849AE4C3-14C4-F319-17EA-54C4DBE290AD}"/>
              </a:ext>
            </a:extLst>
          </p:cNvPr>
          <p:cNvSpPr txBox="1"/>
          <p:nvPr/>
        </p:nvSpPr>
        <p:spPr>
          <a:xfrm>
            <a:off x="1760971" y="1420838"/>
            <a:ext cx="1730858" cy="307777"/>
          </a:xfrm>
          <a:prstGeom prst="rect">
            <a:avLst/>
          </a:prstGeom>
          <a:noFill/>
        </p:spPr>
        <p:txBody>
          <a:bodyPr wrap="none" rtlCol="0">
            <a:spAutoFit/>
          </a:bodyPr>
          <a:lstStyle/>
          <a:p>
            <a:r>
              <a:rPr lang="en-US" sz="1400" b="1" dirty="0"/>
              <a:t>WORKING_ADDRESS</a:t>
            </a:r>
          </a:p>
        </p:txBody>
      </p:sp>
      <p:sp>
        <p:nvSpPr>
          <p:cNvPr id="32" name="Right Brace 31">
            <a:extLst>
              <a:ext uri="{FF2B5EF4-FFF2-40B4-BE49-F238E27FC236}">
                <a16:creationId xmlns:a16="http://schemas.microsoft.com/office/drawing/2014/main" id="{2DB41E73-75EE-4FB7-4AFA-6ECF06617F78}"/>
              </a:ext>
            </a:extLst>
          </p:cNvPr>
          <p:cNvSpPr/>
          <p:nvPr/>
        </p:nvSpPr>
        <p:spPr>
          <a:xfrm>
            <a:off x="3280275" y="4361426"/>
            <a:ext cx="211023" cy="1889216"/>
          </a:xfrm>
          <a:prstGeom prst="rightBrace">
            <a:avLst>
              <a:gd name="adj1" fmla="val 46666"/>
              <a:gd name="adj2" fmla="val 50000"/>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29A34E9C-A362-938A-F5DF-555AD8B08C52}"/>
              </a:ext>
            </a:extLst>
          </p:cNvPr>
          <p:cNvSpPr txBox="1"/>
          <p:nvPr/>
        </p:nvSpPr>
        <p:spPr>
          <a:xfrm>
            <a:off x="3532571" y="5152145"/>
            <a:ext cx="2356030" cy="307777"/>
          </a:xfrm>
          <a:prstGeom prst="rect">
            <a:avLst/>
          </a:prstGeom>
          <a:noFill/>
        </p:spPr>
        <p:txBody>
          <a:bodyPr wrap="none" rtlCol="0">
            <a:spAutoFit/>
          </a:bodyPr>
          <a:lstStyle/>
          <a:p>
            <a:r>
              <a:rPr lang="en-US" sz="1400" b="1" dirty="0"/>
              <a:t>WORKING_ADDRESS_INITIAL</a:t>
            </a:r>
          </a:p>
        </p:txBody>
      </p:sp>
      <p:sp>
        <p:nvSpPr>
          <p:cNvPr id="34" name="TextBox 33">
            <a:extLst>
              <a:ext uri="{FF2B5EF4-FFF2-40B4-BE49-F238E27FC236}">
                <a16:creationId xmlns:a16="http://schemas.microsoft.com/office/drawing/2014/main" id="{386E17DE-850B-58F5-D076-589950354317}"/>
              </a:ext>
            </a:extLst>
          </p:cNvPr>
          <p:cNvSpPr txBox="1"/>
          <p:nvPr/>
        </p:nvSpPr>
        <p:spPr>
          <a:xfrm>
            <a:off x="3256829" y="433632"/>
            <a:ext cx="2877711" cy="1015663"/>
          </a:xfrm>
          <a:prstGeom prst="rect">
            <a:avLst/>
          </a:prstGeom>
          <a:noFill/>
        </p:spPr>
        <p:txBody>
          <a:bodyPr wrap="none" rtlCol="0">
            <a:spAutoFit/>
          </a:bodyPr>
          <a:lstStyle/>
          <a:p>
            <a:r>
              <a:rPr lang="en-US" sz="1000" dirty="0">
                <a:latin typeface="Courier New" panose="02070309020205020404" pitchFamily="49" charset="0"/>
                <a:cs typeface="Courier New" panose="02070309020205020404" pitchFamily="49" charset="0"/>
              </a:rPr>
              <a:t>  00</a:t>
            </a:r>
            <a:r>
              <a:rPr lang="en-US" sz="1000" b="1" dirty="0">
                <a:latin typeface="Courier New" panose="02070309020205020404" pitchFamily="49" charset="0"/>
                <a:cs typeface="Courier New" panose="02070309020205020404" pitchFamily="49" charset="0"/>
              </a:rPr>
              <a:t>02</a:t>
            </a:r>
            <a:r>
              <a:rPr lang="en-US" sz="1000" dirty="0">
                <a:latin typeface="Courier New" panose="02070309020205020404" pitchFamily="49" charset="0"/>
                <a:cs typeface="Courier New" panose="02070309020205020404" pitchFamily="49" charset="0"/>
              </a:rPr>
              <a:t>04</a:t>
            </a:r>
            <a:r>
              <a:rPr lang="en-US" sz="1000" b="1" dirty="0">
                <a:latin typeface="Courier New" panose="02070309020205020404" pitchFamily="49" charset="0"/>
                <a:cs typeface="Courier New" panose="02070309020205020404" pitchFamily="49" charset="0"/>
              </a:rPr>
              <a:t>06</a:t>
            </a:r>
            <a:br>
              <a:rPr lang="en-US" sz="1000" b="1" dirty="0">
                <a:latin typeface="Courier New" panose="02070309020205020404" pitchFamily="49" charset="0"/>
                <a:cs typeface="Courier New" panose="02070309020205020404" pitchFamily="49" charset="0"/>
              </a:rPr>
            </a:br>
            <a:r>
              <a:rPr lang="en-US" sz="1000" b="1" dirty="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08</a:t>
            </a:r>
            <a:r>
              <a:rPr lang="en-US" sz="1000" b="1" dirty="0">
                <a:latin typeface="Courier New" panose="02070309020205020404" pitchFamily="49" charset="0"/>
                <a:cs typeface="Courier New" panose="02070309020205020404" pitchFamily="49" charset="0"/>
              </a:rPr>
              <a:t>0A</a:t>
            </a:r>
            <a:r>
              <a:rPr lang="en-US" sz="1000" dirty="0">
                <a:latin typeface="Courier New" panose="02070309020205020404" pitchFamily="49" charset="0"/>
                <a:cs typeface="Courier New" panose="02070309020205020404" pitchFamily="49" charset="0"/>
              </a:rPr>
              <a:t>0C</a:t>
            </a:r>
            <a:r>
              <a:rPr lang="en-US" sz="1000" b="1" dirty="0">
                <a:latin typeface="Courier New" panose="02070309020205020404" pitchFamily="49" charset="0"/>
                <a:cs typeface="Courier New" panose="02070309020205020404" pitchFamily="49" charset="0"/>
              </a:rPr>
              <a:t>0E</a:t>
            </a:r>
            <a:br>
              <a:rPr lang="en-US" sz="1000" b="1" dirty="0">
                <a:latin typeface="Courier New" panose="02070309020205020404" pitchFamily="49" charset="0"/>
                <a:cs typeface="Courier New" panose="02070309020205020404" pitchFamily="49" charset="0"/>
              </a:rPr>
            </a:br>
            <a:r>
              <a:rPr lang="en-US" sz="1000" b="1" dirty="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10</a:t>
            </a:r>
            <a:r>
              <a:rPr lang="en-US" sz="1000" b="1" dirty="0">
                <a:latin typeface="Courier New" panose="02070309020205020404" pitchFamily="49" charset="0"/>
                <a:cs typeface="Courier New" panose="02070309020205020404" pitchFamily="49" charset="0"/>
              </a:rPr>
              <a:t>12</a:t>
            </a:r>
            <a:r>
              <a:rPr lang="en-US" sz="1000" dirty="0">
                <a:latin typeface="Courier New" panose="02070309020205020404" pitchFamily="49" charset="0"/>
                <a:cs typeface="Courier New" panose="02070309020205020404" pitchFamily="49" charset="0"/>
              </a:rPr>
              <a:t>14</a:t>
            </a:r>
            <a:r>
              <a:rPr lang="en-US" sz="1000" b="1" dirty="0">
                <a:latin typeface="Courier New" panose="02070309020205020404" pitchFamily="49" charset="0"/>
                <a:cs typeface="Courier New" panose="02070309020205020404" pitchFamily="49" charset="0"/>
              </a:rPr>
              <a:t>16</a:t>
            </a:r>
            <a:br>
              <a:rPr lang="en-US" sz="1000" b="1" dirty="0">
                <a:latin typeface="Courier New" panose="02070309020205020404" pitchFamily="49" charset="0"/>
                <a:cs typeface="Courier New" panose="02070309020205020404" pitchFamily="49" charset="0"/>
              </a:rPr>
            </a:br>
            <a:r>
              <a:rPr lang="en-US" sz="1000" b="1" dirty="0">
                <a:latin typeface="Courier New" panose="02070309020205020404" pitchFamily="49" charset="0"/>
                <a:cs typeface="Courier New" panose="02070309020205020404" pitchFamily="49" charset="0"/>
              </a:rPr>
              <a:t>                          </a:t>
            </a:r>
            <a:r>
              <a:rPr lang="en-US" sz="1000" dirty="0">
                <a:latin typeface="Courier New" panose="02070309020205020404" pitchFamily="49" charset="0"/>
                <a:cs typeface="Courier New" panose="02070309020205020404" pitchFamily="49" charset="0"/>
              </a:rPr>
              <a:t>18</a:t>
            </a:r>
            <a:r>
              <a:rPr lang="en-US" sz="1000" b="1" dirty="0">
                <a:latin typeface="Courier New" panose="02070309020205020404" pitchFamily="49" charset="0"/>
                <a:cs typeface="Courier New" panose="02070309020205020404" pitchFamily="49" charset="0"/>
              </a:rPr>
              <a:t>1A</a:t>
            </a:r>
            <a:r>
              <a:rPr lang="en-US" sz="1000" dirty="0">
                <a:latin typeface="Courier New" panose="02070309020205020404" pitchFamily="49" charset="0"/>
                <a:cs typeface="Courier New" panose="02070309020205020404" pitchFamily="49" charset="0"/>
              </a:rPr>
              <a:t>1C</a:t>
            </a:r>
          </a:p>
          <a:p>
            <a:r>
              <a:rPr lang="en-US" sz="1000" b="1" dirty="0">
                <a:latin typeface="Courier New" panose="02070309020205020404" pitchFamily="49" charset="0"/>
                <a:cs typeface="Courier New" panose="02070309020205020404" pitchFamily="49" charset="0"/>
              </a:rPr>
              <a:t>                                1E…</a:t>
            </a:r>
          </a:p>
          <a:p>
            <a:r>
              <a:rPr lang="en-US" sz="1000" b="1" dirty="0">
                <a:latin typeface="Courier New" panose="02070309020205020404" pitchFamily="49" charset="0"/>
                <a:cs typeface="Courier New" panose="02070309020205020404" pitchFamily="49" charset="0"/>
              </a:rPr>
              <a:t>                                </a:t>
            </a:r>
          </a:p>
        </p:txBody>
      </p:sp>
      <p:cxnSp>
        <p:nvCxnSpPr>
          <p:cNvPr id="36" name="Straight Arrow Connector 35">
            <a:extLst>
              <a:ext uri="{FF2B5EF4-FFF2-40B4-BE49-F238E27FC236}">
                <a16:creationId xmlns:a16="http://schemas.microsoft.com/office/drawing/2014/main" id="{91B331A1-651A-B119-3FF7-F06347F1BE5F}"/>
              </a:ext>
            </a:extLst>
          </p:cNvPr>
          <p:cNvCxnSpPr>
            <a:cxnSpLocks/>
          </p:cNvCxnSpPr>
          <p:nvPr/>
        </p:nvCxnSpPr>
        <p:spPr>
          <a:xfrm>
            <a:off x="3532571" y="703385"/>
            <a:ext cx="0" cy="1325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1DF8D8D-6285-0E9B-B0ED-C328220D99A6}"/>
              </a:ext>
            </a:extLst>
          </p:cNvPr>
          <p:cNvCxnSpPr>
            <a:cxnSpLocks/>
          </p:cNvCxnSpPr>
          <p:nvPr/>
        </p:nvCxnSpPr>
        <p:spPr>
          <a:xfrm>
            <a:off x="4134551" y="787575"/>
            <a:ext cx="0" cy="1241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2E2943E-E001-BEDA-2FB0-A554050145D0}"/>
              </a:ext>
            </a:extLst>
          </p:cNvPr>
          <p:cNvCxnSpPr>
            <a:cxnSpLocks/>
          </p:cNvCxnSpPr>
          <p:nvPr/>
        </p:nvCxnSpPr>
        <p:spPr>
          <a:xfrm>
            <a:off x="4751771" y="1014069"/>
            <a:ext cx="0" cy="1014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63A779B-225F-8F61-46BB-718F6653D37D}"/>
              </a:ext>
            </a:extLst>
          </p:cNvPr>
          <p:cNvCxnSpPr>
            <a:cxnSpLocks/>
          </p:cNvCxnSpPr>
          <p:nvPr/>
        </p:nvCxnSpPr>
        <p:spPr>
          <a:xfrm>
            <a:off x="5368991" y="1141518"/>
            <a:ext cx="0" cy="887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804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266106-257D-2AB3-D6F3-D39779E81D26}"/>
              </a:ext>
            </a:extLst>
          </p:cNvPr>
          <p:cNvSpPr txBox="1"/>
          <p:nvPr/>
        </p:nvSpPr>
        <p:spPr>
          <a:xfrm>
            <a:off x="1909565" y="311154"/>
            <a:ext cx="8372870" cy="830997"/>
          </a:xfrm>
          <a:prstGeom prst="rect">
            <a:avLst/>
          </a:prstGeom>
          <a:noFill/>
        </p:spPr>
        <p:txBody>
          <a:bodyPr wrap="none" rtlCol="0">
            <a:spAutoFit/>
          </a:bodyPr>
          <a:lstStyle/>
          <a:p>
            <a:pPr algn="ctr"/>
            <a:r>
              <a:rPr lang="en-US" sz="4800" b="1" dirty="0"/>
              <a:t>ASCII to “big letters” Translation</a:t>
            </a:r>
          </a:p>
        </p:txBody>
      </p:sp>
      <p:sp>
        <p:nvSpPr>
          <p:cNvPr id="6" name="TextBox 5">
            <a:extLst>
              <a:ext uri="{FF2B5EF4-FFF2-40B4-BE49-F238E27FC236}">
                <a16:creationId xmlns:a16="http://schemas.microsoft.com/office/drawing/2014/main" id="{02319417-AA49-F906-D583-4DB050D89C7E}"/>
              </a:ext>
            </a:extLst>
          </p:cNvPr>
          <p:cNvSpPr txBox="1"/>
          <p:nvPr/>
        </p:nvSpPr>
        <p:spPr>
          <a:xfrm>
            <a:off x="194749" y="1003300"/>
            <a:ext cx="11853302" cy="5693866"/>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sym typeface="Wingdings" panose="05000000000000000000" pitchFamily="2" charset="2"/>
              </a:rPr>
              <a:t>…</a:t>
            </a:r>
          </a:p>
          <a:p>
            <a:r>
              <a:rPr lang="en-US" dirty="0">
                <a:latin typeface="Courier New" panose="02070309020205020404" pitchFamily="49" charset="0"/>
                <a:cs typeface="Courier New" panose="02070309020205020404" pitchFamily="49" charset="0"/>
                <a:sym typeface="Wingdings" panose="05000000000000000000" pitchFamily="2" charset="2"/>
              </a:rPr>
              <a:t>include     "cp5100.inc“          (cp == codepage)</a:t>
            </a:r>
            <a:br>
              <a:rPr lang="en-US" dirty="0">
                <a:latin typeface="Courier New" panose="02070309020205020404" pitchFamily="49" charset="0"/>
                <a:cs typeface="Courier New" panose="02070309020205020404" pitchFamily="49" charset="0"/>
                <a:sym typeface="Wingdings" panose="05000000000000000000" pitchFamily="2" charset="2"/>
              </a:rPr>
            </a:br>
            <a:r>
              <a:rPr lang="en-US" dirty="0">
                <a:latin typeface="Courier New" panose="02070309020205020404" pitchFamily="49" charset="0"/>
                <a:cs typeface="Courier New" panose="02070309020205020404" pitchFamily="49" charset="0"/>
                <a:sym typeface="Wingdings" panose="05000000000000000000" pitchFamily="2" charset="2"/>
              </a:rPr>
              <a:t>codepage    cp5100                (activate the designated codepage)</a:t>
            </a:r>
          </a:p>
          <a:p>
            <a:r>
              <a:rPr lang="en-US" dirty="0">
                <a:latin typeface="Courier New" panose="02070309020205020404" pitchFamily="49" charset="0"/>
                <a:cs typeface="Courier New" panose="02070309020205020404" pitchFamily="49" charset="0"/>
                <a:sym typeface="Wingdings" panose="05000000000000000000" pitchFamily="2" charset="2"/>
              </a:rPr>
              <a:t>…</a:t>
            </a:r>
            <a:br>
              <a:rPr lang="en-US" dirty="0">
                <a:latin typeface="Courier New" panose="02070309020205020404" pitchFamily="49" charset="0"/>
                <a:cs typeface="Courier New" panose="02070309020205020404" pitchFamily="49" charset="0"/>
                <a:sym typeface="Wingdings" panose="05000000000000000000" pitchFamily="2" charset="2"/>
              </a:rPr>
            </a:br>
            <a:r>
              <a:rPr lang="en-US" dirty="0" err="1">
                <a:latin typeface="Courier New" panose="02070309020205020404" pitchFamily="49" charset="0"/>
                <a:cs typeface="Courier New" panose="02070309020205020404" pitchFamily="49" charset="0"/>
              </a:rPr>
              <a:t>db</a:t>
            </a:r>
            <a:r>
              <a:rPr lang="en-US" dirty="0">
                <a:latin typeface="Courier New" panose="02070309020205020404" pitchFamily="49" charset="0"/>
                <a:cs typeface="Courier New" panose="02070309020205020404" pitchFamily="49" charset="0"/>
              </a:rPr>
              <a:t>  “        VCF DALLAS 2025 – IBM 5100 SCROLLER         “  </a:t>
            </a:r>
            <a:r>
              <a:rPr lang="en-US" dirty="0">
                <a:latin typeface="Courier New" panose="02070309020205020404" pitchFamily="49" charset="0"/>
                <a:cs typeface="Courier New" panose="02070309020205020404" pitchFamily="49" charset="0"/>
                <a:sym typeface="Wingdings" panose="05000000000000000000" pitchFamily="2" charset="2"/>
              </a:rPr>
              <a:t> ASCII “data byte” (</a:t>
            </a:r>
            <a:r>
              <a:rPr lang="en-US" dirty="0" err="1">
                <a:latin typeface="Courier New" panose="02070309020205020404" pitchFamily="49" charset="0"/>
                <a:cs typeface="Courier New" panose="02070309020205020404" pitchFamily="49" charset="0"/>
                <a:sym typeface="Wingdings" panose="05000000000000000000" pitchFamily="2" charset="2"/>
              </a:rPr>
              <a:t>db</a:t>
            </a:r>
            <a:r>
              <a:rPr lang="en-US" dirty="0">
                <a:latin typeface="Courier New" panose="02070309020205020404" pitchFamily="49" charset="0"/>
                <a:cs typeface="Courier New" panose="02070309020205020404" pitchFamily="49" charset="0"/>
                <a:sym typeface="Wingdings" panose="05000000000000000000" pitchFamily="2" charset="2"/>
              </a:rPr>
              <a:t>)</a:t>
            </a:r>
            <a:br>
              <a:rPr lang="en-US" dirty="0">
                <a:latin typeface="Courier New" panose="02070309020205020404" pitchFamily="49" charset="0"/>
                <a:cs typeface="Courier New" panose="02070309020205020404" pitchFamily="49" charset="0"/>
                <a:sym typeface="Wingdings" panose="05000000000000000000" pitchFamily="2" charset="2"/>
              </a:rPr>
            </a:br>
            <a:r>
              <a:rPr lang="en-US" dirty="0">
                <a:latin typeface="Courier New" panose="02070309020205020404" pitchFamily="49" charset="0"/>
                <a:cs typeface="Courier New" panose="02070309020205020404" pitchFamily="49" charset="0"/>
                <a:sym typeface="Wingdings" panose="05000000000000000000" pitchFamily="2" charset="2"/>
              </a:rPr>
              <a:t>becomes encoded as a byte-sequence…</a:t>
            </a:r>
            <a:br>
              <a:rPr lang="en-US" dirty="0">
                <a:latin typeface="Courier New" panose="02070309020205020404" pitchFamily="49" charset="0"/>
                <a:cs typeface="Courier New" panose="02070309020205020404" pitchFamily="49" charset="0"/>
                <a:sym typeface="Wingdings" panose="05000000000000000000" pitchFamily="2" charset="2"/>
              </a:rPr>
            </a:br>
            <a:r>
              <a:rPr lang="en-US" dirty="0">
                <a:latin typeface="Courier New" panose="02070309020205020404" pitchFamily="49" charset="0"/>
                <a:cs typeface="Courier New" panose="02070309020205020404" pitchFamily="49" charset="0"/>
                <a:sym typeface="Wingdings" panose="05000000000000000000" pitchFamily="2" charset="2"/>
              </a:rPr>
              <a:t>    $00, $00, $00, $00, $00, $00, $00, $00, $14, $03, $06, $00, $04, $01, … </a:t>
            </a:r>
          </a:p>
          <a:p>
            <a:endParaRPr lang="en-US" dirty="0">
              <a:latin typeface="Courier New" panose="02070309020205020404" pitchFamily="49" charset="0"/>
              <a:cs typeface="Courier New" panose="02070309020205020404" pitchFamily="49" charset="0"/>
              <a:sym typeface="Wingdings" panose="05000000000000000000" pitchFamily="2" charset="2"/>
            </a:endParaRPr>
          </a:p>
          <a:p>
            <a:r>
              <a:rPr lang="en-US" sz="2000" b="1" dirty="0">
                <a:solidFill>
                  <a:srgbClr val="FF0000"/>
                </a:solidFill>
                <a:latin typeface="Courier New" panose="02070309020205020404" pitchFamily="49" charset="0"/>
                <a:cs typeface="Courier New" panose="02070309020205020404" pitchFamily="49" charset="0"/>
              </a:rPr>
              <a:t>But we will need 16-bit offsets…  use “data words” (</a:t>
            </a:r>
            <a:r>
              <a:rPr lang="en-US" sz="2000" b="1" dirty="0" err="1">
                <a:solidFill>
                  <a:srgbClr val="FF0000"/>
                </a:solidFill>
                <a:latin typeface="Courier New" panose="02070309020205020404" pitchFamily="49" charset="0"/>
                <a:cs typeface="Courier New" panose="02070309020205020404" pitchFamily="49" charset="0"/>
              </a:rPr>
              <a:t>dw</a:t>
            </a:r>
            <a:r>
              <a:rPr lang="en-US" sz="2000" b="1" dirty="0">
                <a:solidFill>
                  <a:srgbClr val="FF0000"/>
                </a:solidFill>
                <a:latin typeface="Courier New" panose="02070309020205020404" pitchFamily="49" charset="0"/>
                <a:cs typeface="Courier New" panose="02070309020205020404" pitchFamily="49" charset="0"/>
              </a:rPr>
              <a:t>)</a:t>
            </a:r>
            <a:br>
              <a:rPr lang="en-US" sz="2000" b="1" dirty="0">
                <a:solidFill>
                  <a:srgbClr val="FF0000"/>
                </a:solidFill>
                <a:latin typeface="Courier New" panose="02070309020205020404" pitchFamily="49" charset="0"/>
                <a:cs typeface="Courier New" panose="02070309020205020404" pitchFamily="49" charset="0"/>
              </a:rPr>
            </a:br>
            <a:endParaRPr lang="en-US" sz="2000" b="1" dirty="0">
              <a:solidFill>
                <a:srgbClr val="FF0000"/>
              </a:solidFill>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$01BC,$01BC,$01BC,$01BC,$01BC,$01BC,$01BC,$01BC                         ; 8</a:t>
            </a: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$00FC,$0018,$003C,$01BC                    ; "VCF "                     ; 4</a:t>
            </a: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$0024,$0000,$0084,$0084,$0000,$00D8,$01BC  ; "DALLAS "                  ; 7</a:t>
            </a: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$0150,$01B0,$0150,$0174,$01BC,$0138,$01BC  ; "2025 - "                  ; 7 </a:t>
            </a: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$0060,$000C,$0090,$01BC,$0174,$0144,$01B0,$01B0,$01BC  ; "IBM 5100 "    ; 9  </a:t>
            </a: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$00D8,$0018,$00CC,$00A8,$0084,$0084,$0030,$00CC,$01BC  ; "SCROLLER "    ; 9</a:t>
            </a: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$01BC,$01BC,$01BC,$01BC,$01BC,$01BC,$01BC,$01BC                         ; 8 +</a:t>
            </a:r>
          </a:p>
          <a:p>
            <a:r>
              <a:rPr lang="en-US" dirty="0" err="1">
                <a:latin typeface="Courier New" panose="02070309020205020404" pitchFamily="49" charset="0"/>
                <a:cs typeface="Courier New" panose="02070309020205020404" pitchFamily="49" charset="0"/>
              </a:rPr>
              <a:t>dw</a:t>
            </a:r>
            <a:r>
              <a:rPr lang="en-US" dirty="0">
                <a:latin typeface="Courier New" panose="02070309020205020404" pitchFamily="49" charset="0"/>
                <a:cs typeface="Courier New" panose="02070309020205020404" pitchFamily="49" charset="0"/>
              </a:rPr>
              <a:t>  $FFFF                                                                   ; --</a:t>
            </a:r>
          </a:p>
          <a:p>
            <a:r>
              <a:rPr lang="en-US" dirty="0">
                <a:latin typeface="Courier New" panose="02070309020205020404" pitchFamily="49" charset="0"/>
                <a:cs typeface="Courier New" panose="02070309020205020404" pitchFamily="49" charset="0"/>
              </a:rPr>
              <a:t>                                                                            ; 52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91479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9E5DFC-DF7B-05C2-B870-E0492DBF423B}"/>
              </a:ext>
            </a:extLst>
          </p:cNvPr>
          <p:cNvSpPr txBox="1"/>
          <p:nvPr/>
        </p:nvSpPr>
        <p:spPr>
          <a:xfrm>
            <a:off x="673099" y="1267410"/>
            <a:ext cx="10845799" cy="5047536"/>
          </a:xfrm>
          <a:prstGeom prst="rect">
            <a:avLst/>
          </a:prstGeom>
          <a:noFill/>
          <a:ln>
            <a:solidFill>
              <a:schemeClr val="tx1"/>
            </a:solidFill>
          </a:ln>
        </p:spPr>
        <p:txBody>
          <a:bodyPr wrap="square" rtlCol="0">
            <a:spAutoFit/>
          </a:bodyPr>
          <a:lstStyle/>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ADDR_SCREEN               </a:t>
            </a:r>
            <a:r>
              <a:rPr lang="en-US" sz="1400" dirty="0" err="1">
                <a:latin typeface="Courier New" panose="02070309020205020404" pitchFamily="49" charset="0"/>
                <a:cs typeface="Courier New" panose="02070309020205020404" pitchFamily="49" charset="0"/>
              </a:rPr>
              <a:t>equ</a:t>
            </a:r>
            <a:r>
              <a:rPr lang="en-US" sz="1400" dirty="0">
                <a:latin typeface="Courier New" panose="02070309020205020404" pitchFamily="49" charset="0"/>
                <a:cs typeface="Courier New" panose="02070309020205020404" pitchFamily="49" charset="0"/>
              </a:rPr>
              <a:t> $0200   ; Start address of CRT display (top left)</a:t>
            </a:r>
          </a:p>
          <a:p>
            <a:r>
              <a:rPr lang="en-US" sz="1400" dirty="0">
                <a:latin typeface="Courier New" panose="02070309020205020404" pitchFamily="49" charset="0"/>
                <a:cs typeface="Courier New" panose="02070309020205020404" pitchFamily="49" charset="0"/>
              </a:rPr>
              <a:t>BG_SYMBOL_W               </a:t>
            </a:r>
            <a:r>
              <a:rPr lang="en-US" sz="1400" dirty="0" err="1">
                <a:latin typeface="Courier New" panose="02070309020205020404" pitchFamily="49" charset="0"/>
                <a:cs typeface="Courier New" panose="02070309020205020404" pitchFamily="49" charset="0"/>
              </a:rPr>
              <a:t>equ</a:t>
            </a:r>
            <a:r>
              <a:rPr lang="en-US" sz="1400" dirty="0">
                <a:latin typeface="Courier New" panose="02070309020205020404" pitchFamily="49" charset="0"/>
                <a:cs typeface="Courier New" panose="02070309020205020404" pitchFamily="49" charset="0"/>
              </a:rPr>
              <a:t> $0000   ; used in Clear Screen function (_W for “word”)</a:t>
            </a:r>
          </a:p>
          <a:p>
            <a:r>
              <a:rPr lang="en-US" sz="1400" dirty="0">
                <a:latin typeface="Courier New" panose="02070309020205020404" pitchFamily="49" charset="0"/>
                <a:cs typeface="Courier New" panose="02070309020205020404" pitchFamily="49" charset="0"/>
              </a:rPr>
              <a:t>                                      ; BG for “background” (00 = space/blank on 5100)</a:t>
            </a:r>
          </a:p>
          <a:p>
            <a:r>
              <a:rPr lang="en-US" sz="1400" dirty="0">
                <a:latin typeface="Courier New" panose="02070309020205020404" pitchFamily="49" charset="0"/>
                <a:cs typeface="Courier New" panose="02070309020205020404" pitchFamily="49" charset="0"/>
              </a:rPr>
              <a:t>…</a:t>
            </a:r>
          </a:p>
          <a:p>
            <a:r>
              <a:rPr lang="en-US" sz="1400" dirty="0" err="1">
                <a:latin typeface="Courier New" panose="02070309020205020404" pitchFamily="49" charset="0"/>
                <a:cs typeface="Courier New" panose="02070309020205020404" pitchFamily="49" charset="0"/>
              </a:rPr>
              <a:t>ClrScr</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LWI</a:t>
            </a:r>
            <a:r>
              <a:rPr lang="en-US" sz="1400" dirty="0">
                <a:latin typeface="Courier New" panose="02070309020205020404" pitchFamily="49" charset="0"/>
                <a:cs typeface="Courier New" panose="02070309020205020404" pitchFamily="49" charset="0"/>
              </a:rPr>
              <a:t>    R14, ADDR_SCREEN    ; R14 used as the screen offset [ LWI = Load Word Immediate ]</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LWI</a:t>
            </a:r>
            <a:r>
              <a:rPr lang="en-US" sz="1400" dirty="0">
                <a:latin typeface="Courier New" panose="02070309020205020404" pitchFamily="49" charset="0"/>
                <a:cs typeface="Courier New" panose="02070309020205020404" pitchFamily="49" charset="0"/>
              </a:rPr>
              <a:t>    R9,  BG_SYMBOL_W    ; R9 full word is used as screen code that is</a:t>
            </a:r>
          </a:p>
          <a:p>
            <a:r>
              <a:rPr lang="en-US" sz="1400" dirty="0">
                <a:latin typeface="Courier New" panose="02070309020205020404" pitchFamily="49" charset="0"/>
                <a:cs typeface="Courier New" panose="02070309020205020404" pitchFamily="49" charset="0"/>
              </a:rPr>
              <a:t>                             ;   to be written (e.g. “  “)</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LBI</a:t>
            </a:r>
            <a:r>
              <a:rPr lang="en-US" sz="1400" dirty="0">
                <a:latin typeface="Courier New" panose="02070309020205020404" pitchFamily="49" charset="0"/>
                <a:cs typeface="Courier New" panose="02070309020205020404" pitchFamily="49" charset="0"/>
              </a:rPr>
              <a:t>    R3,  $06            ; Lo R3 = $06 (will be used to check to see if our address</a:t>
            </a:r>
          </a:p>
          <a:p>
            <a:r>
              <a:rPr lang="en-US" sz="1400" dirty="0">
                <a:latin typeface="Courier New" panose="02070309020205020404" pitchFamily="49" charset="0"/>
                <a:cs typeface="Courier New" panose="02070309020205020404" pitchFamily="49" charset="0"/>
              </a:rPr>
              <a:t>                             ;   pointer has reached $06xx yet)  [ LBI = Load Byte Immediate ]</a:t>
            </a:r>
          </a:p>
          <a:p>
            <a:r>
              <a:rPr lang="en-US" sz="1400" dirty="0">
                <a:latin typeface="Courier New" panose="02070309020205020404" pitchFamily="49" charset="0"/>
                <a:cs typeface="Courier New" panose="02070309020205020404" pitchFamily="49" charset="0"/>
              </a:rPr>
              <a:t>cs_1:   </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MOVE</a:t>
            </a:r>
            <a:r>
              <a:rPr lang="en-US" sz="1400" dirty="0">
                <a:latin typeface="Courier New" panose="02070309020205020404" pitchFamily="49" charset="0"/>
                <a:cs typeface="Courier New" panose="02070309020205020404" pitchFamily="49" charset="0"/>
              </a:rPr>
              <a:t>   (R14)+, R9          ; RWS[R14] = R9, then R14 = R14 + 2 (next address)</a:t>
            </a:r>
          </a:p>
          <a:p>
            <a:r>
              <a:rPr lang="en-US" sz="1400" dirty="0">
                <a:latin typeface="Courier New" panose="02070309020205020404" pitchFamily="49" charset="0"/>
                <a:cs typeface="Courier New" panose="02070309020205020404" pitchFamily="49" charset="0"/>
              </a:rPr>
              <a:t>                             ;   (this does the actual character display update)</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SBSH</a:t>
            </a:r>
            <a:r>
              <a:rPr lang="en-US" sz="1400" dirty="0">
                <a:latin typeface="Courier New" panose="02070309020205020404" pitchFamily="49" charset="0"/>
                <a:cs typeface="Courier New" panose="02070309020205020404" pitchFamily="49" charset="0"/>
              </a:rPr>
              <a:t>   R14, R3             ; Have we reached $0600 yet? (one past end of screen)</a:t>
            </a:r>
          </a:p>
          <a:p>
            <a:r>
              <a:rPr lang="en-US" sz="1400" dirty="0">
                <a:latin typeface="Courier New" panose="02070309020205020404" pitchFamily="49" charset="0"/>
                <a:cs typeface="Courier New" panose="02070309020205020404" pitchFamily="49" charset="0"/>
              </a:rPr>
              <a:t>                             ; [ Skip if All Set Bits of R3 are Also Set in Hi R14 ]</a:t>
            </a:r>
          </a:p>
          <a:p>
            <a:r>
              <a:rPr lang="en-US" sz="1400" dirty="0">
                <a:latin typeface="Courier New" panose="02070309020205020404" pitchFamily="49" charset="0"/>
                <a:cs typeface="Courier New" panose="02070309020205020404" pitchFamily="49" charset="0"/>
              </a:rPr>
              <a:t>                             ; NOTE: The above SBSH will set R1 = R0+4 -- this</a:t>
            </a:r>
          </a:p>
          <a:p>
            <a:r>
              <a:rPr lang="en-US" sz="1400" dirty="0">
                <a:latin typeface="Courier New" panose="02070309020205020404" pitchFamily="49" charset="0"/>
                <a:cs typeface="Courier New" panose="02070309020205020404" pitchFamily="49" charset="0"/>
              </a:rPr>
              <a:t>                             ; is in case the code after the jump goes to a</a:t>
            </a:r>
          </a:p>
          <a:p>
            <a:r>
              <a:rPr lang="en-US" sz="1400" dirty="0">
                <a:latin typeface="Courier New" panose="02070309020205020404" pitchFamily="49" charset="0"/>
                <a:cs typeface="Courier New" panose="02070309020205020404" pitchFamily="49" charset="0"/>
              </a:rPr>
              <a:t>                             ; subroutine -- as documented in IBM 5100 </a:t>
            </a:r>
          </a:p>
          <a:p>
            <a:r>
              <a:rPr lang="en-US" sz="1400" dirty="0">
                <a:latin typeface="Courier New" panose="02070309020205020404" pitchFamily="49" charset="0"/>
                <a:cs typeface="Courier New" panose="02070309020205020404" pitchFamily="49" charset="0"/>
              </a:rPr>
              <a:t>                             ; MIM Appendix C-16)</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BRA</a:t>
            </a:r>
            <a:r>
              <a:rPr lang="en-US" sz="1400" dirty="0">
                <a:latin typeface="Courier New" panose="02070309020205020404" pitchFamily="49" charset="0"/>
                <a:cs typeface="Courier New" panose="02070309020205020404" pitchFamily="49" charset="0"/>
              </a:rPr>
              <a:t>    cs_1                ; Did not match yet, repeat again for next address</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RET</a:t>
            </a:r>
            <a:r>
              <a:rPr lang="en-US" sz="1400" dirty="0">
                <a:latin typeface="Courier New" panose="02070309020205020404" pitchFamily="49" charset="0"/>
                <a:cs typeface="Courier New" panose="02070309020205020404" pitchFamily="49" charset="0"/>
              </a:rPr>
              <a:t>    R2                  ; We “skip” (jump) to here if all the R3 bits match (return to caller)</a:t>
            </a:r>
          </a:p>
          <a:p>
            <a:r>
              <a:rPr lang="en-US" sz="14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561B9D80-577A-0015-FEBE-50CB4CC214DF}"/>
              </a:ext>
            </a:extLst>
          </p:cNvPr>
          <p:cNvSpPr txBox="1"/>
          <p:nvPr/>
        </p:nvSpPr>
        <p:spPr>
          <a:xfrm>
            <a:off x="1460467" y="311154"/>
            <a:ext cx="9271064" cy="830997"/>
          </a:xfrm>
          <a:prstGeom prst="rect">
            <a:avLst/>
          </a:prstGeom>
          <a:noFill/>
        </p:spPr>
        <p:txBody>
          <a:bodyPr wrap="none" rtlCol="0">
            <a:spAutoFit/>
          </a:bodyPr>
          <a:lstStyle/>
          <a:p>
            <a:pPr algn="ctr"/>
            <a:r>
              <a:rPr lang="en-US" sz="4800" b="1" dirty="0"/>
              <a:t>Initial Look at PALM Assembly Code</a:t>
            </a:r>
          </a:p>
        </p:txBody>
      </p:sp>
    </p:spTree>
    <p:extLst>
      <p:ext uri="{BB962C8B-B14F-4D97-AF65-F5344CB8AC3E}">
        <p14:creationId xmlns:p14="http://schemas.microsoft.com/office/powerpoint/2010/main" val="1684779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6986CC-3AAA-0E8E-BB49-836B87DF5280}"/>
              </a:ext>
            </a:extLst>
          </p:cNvPr>
          <p:cNvSpPr txBox="1"/>
          <p:nvPr/>
        </p:nvSpPr>
        <p:spPr>
          <a:xfrm>
            <a:off x="7429500" y="1043017"/>
            <a:ext cx="4762500" cy="5509200"/>
          </a:xfrm>
          <a:prstGeom prst="rect">
            <a:avLst/>
          </a:prstGeom>
          <a:noFill/>
        </p:spPr>
        <p:txBody>
          <a:bodyPr wrap="square" rtlCol="0">
            <a:spAutoFit/>
          </a:bodyPr>
          <a:lstStyle/>
          <a:p>
            <a:r>
              <a:rPr lang="en-US" sz="1600" b="1" dirty="0">
                <a:latin typeface="Courier New" panose="02070309020205020404" pitchFamily="49" charset="0"/>
                <a:cs typeface="Courier New" panose="02070309020205020404" pitchFamily="49" charset="0"/>
              </a:rPr>
              <a:t>HEX. ADDRESS  DESCRIPTION</a:t>
            </a:r>
            <a:br>
              <a:rPr lang="en-US" sz="1600" b="1"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0000 – 001F   LEVEL 0 REGISTERS</a:t>
            </a:r>
          </a:p>
          <a:p>
            <a:r>
              <a:rPr lang="en-US" sz="1600" dirty="0">
                <a:latin typeface="Courier New" panose="02070309020205020404" pitchFamily="49" charset="0"/>
                <a:cs typeface="Courier New" panose="02070309020205020404" pitchFamily="49" charset="0"/>
              </a:rPr>
              <a:t>(R0)   (R15)  (NORMAL OPERATION)</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0020 – 003F   LEVEL 1 REGISTERS</a:t>
            </a:r>
          </a:p>
          <a:p>
            <a:r>
              <a:rPr lang="en-US" sz="1600" dirty="0">
                <a:latin typeface="Courier New" panose="02070309020205020404" pitchFamily="49" charset="0"/>
                <a:cs typeface="Courier New" panose="02070309020205020404" pitchFamily="49" charset="0"/>
              </a:rPr>
              <a:t>              (COMM. / SERIAL IO)</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0040 – 005F   LEVEL 2 REGISTERS</a:t>
            </a:r>
          </a:p>
          <a:p>
            <a:r>
              <a:rPr lang="en-US" sz="1600" dirty="0">
                <a:latin typeface="Courier New" panose="02070309020205020404" pitchFamily="49" charset="0"/>
                <a:cs typeface="Courier New" panose="02070309020205020404" pitchFamily="49" charset="0"/>
              </a:rPr>
              <a:t>              (PRINTER / TAPE)</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0060 – 007F   LEVEL 3 REGISTERS</a:t>
            </a:r>
          </a:p>
          <a:p>
            <a:r>
              <a:rPr lang="en-US" sz="1600" dirty="0">
                <a:latin typeface="Courier New" panose="02070309020205020404" pitchFamily="49" charset="0"/>
                <a:cs typeface="Courier New" panose="02070309020205020404" pitchFamily="49" charset="0"/>
              </a:rPr>
              <a:t>              (KEYBOARD)</a:t>
            </a:r>
          </a:p>
          <a:p>
            <a:endParaRPr lang="en-US" sz="1600" dirty="0">
              <a:latin typeface="Courier New" panose="02070309020205020404" pitchFamily="49" charset="0"/>
              <a:cs typeface="Courier New" panose="02070309020205020404" pitchFamily="49" charset="0"/>
            </a:endParaRP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0080 – 01FF   RWS / RAM (SYSTEM)</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0200 – 05FF   DISPLAY MEMORY MAP</a:t>
            </a:r>
          </a:p>
          <a:p>
            <a:r>
              <a:rPr lang="en-US" sz="1600" dirty="0">
                <a:latin typeface="Courier New" panose="02070309020205020404" pitchFamily="49" charset="0"/>
                <a:cs typeface="Courier New" panose="02070309020205020404" pitchFamily="49" charset="0"/>
              </a:rPr>
              <a:t>              (64x16 = 1024)</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0600 – 3FFF   RWS / RAM (16KB)</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4000 – 7FFF   RWS / RAM (32KB)</a:t>
            </a:r>
          </a:p>
          <a:p>
            <a:r>
              <a:rPr lang="en-US" sz="1600" dirty="0">
                <a:latin typeface="Courier New" panose="02070309020205020404" pitchFamily="49" charset="0"/>
                <a:cs typeface="Courier New" panose="02070309020205020404" pitchFamily="49" charset="0"/>
              </a:rPr>
              <a:t>8000 – FFFF   RWS / RAM (64KB)</a:t>
            </a:r>
          </a:p>
        </p:txBody>
      </p:sp>
      <p:pic>
        <p:nvPicPr>
          <p:cNvPr id="6" name="Picture 5">
            <a:extLst>
              <a:ext uri="{FF2B5EF4-FFF2-40B4-BE49-F238E27FC236}">
                <a16:creationId xmlns:a16="http://schemas.microsoft.com/office/drawing/2014/main" id="{7F96CEFF-457D-F9AF-630F-207C0F8C9CFD}"/>
              </a:ext>
            </a:extLst>
          </p:cNvPr>
          <p:cNvPicPr>
            <a:picLocks noChangeAspect="1"/>
          </p:cNvPicPr>
          <p:nvPr/>
        </p:nvPicPr>
        <p:blipFill>
          <a:blip r:embed="rId2"/>
          <a:stretch>
            <a:fillRect/>
          </a:stretch>
        </p:blipFill>
        <p:spPr>
          <a:xfrm>
            <a:off x="343159" y="1060450"/>
            <a:ext cx="6965069" cy="5124450"/>
          </a:xfrm>
          <a:prstGeom prst="rect">
            <a:avLst/>
          </a:prstGeom>
        </p:spPr>
      </p:pic>
      <p:sp>
        <p:nvSpPr>
          <p:cNvPr id="7" name="TextBox 6">
            <a:extLst>
              <a:ext uri="{FF2B5EF4-FFF2-40B4-BE49-F238E27FC236}">
                <a16:creationId xmlns:a16="http://schemas.microsoft.com/office/drawing/2014/main" id="{FB237A43-CCFA-48A4-75C5-369BAA98C25A}"/>
              </a:ext>
            </a:extLst>
          </p:cNvPr>
          <p:cNvSpPr txBox="1"/>
          <p:nvPr/>
        </p:nvSpPr>
        <p:spPr>
          <a:xfrm>
            <a:off x="343159" y="654050"/>
            <a:ext cx="5504007" cy="369332"/>
          </a:xfrm>
          <a:prstGeom prst="rect">
            <a:avLst/>
          </a:prstGeom>
          <a:noFill/>
        </p:spPr>
        <p:txBody>
          <a:bodyPr wrap="none" rtlCol="0">
            <a:spAutoFit/>
          </a:bodyPr>
          <a:lstStyle/>
          <a:p>
            <a:r>
              <a:rPr lang="en-US" dirty="0"/>
              <a:t>IBM 5100 “registers” Display Mode   [ e.g. 0040 == 7CA2 ]</a:t>
            </a:r>
          </a:p>
        </p:txBody>
      </p:sp>
      <p:sp>
        <p:nvSpPr>
          <p:cNvPr id="8" name="TextBox 7">
            <a:extLst>
              <a:ext uri="{FF2B5EF4-FFF2-40B4-BE49-F238E27FC236}">
                <a16:creationId xmlns:a16="http://schemas.microsoft.com/office/drawing/2014/main" id="{A5407D77-A94A-B9A4-8486-012FAFD5040A}"/>
              </a:ext>
            </a:extLst>
          </p:cNvPr>
          <p:cNvSpPr txBox="1"/>
          <p:nvPr/>
        </p:nvSpPr>
        <p:spPr>
          <a:xfrm>
            <a:off x="7556500" y="192385"/>
            <a:ext cx="3689921" cy="830997"/>
          </a:xfrm>
          <a:prstGeom prst="rect">
            <a:avLst/>
          </a:prstGeom>
          <a:noFill/>
        </p:spPr>
        <p:txBody>
          <a:bodyPr wrap="none" rtlCol="0">
            <a:spAutoFit/>
          </a:bodyPr>
          <a:lstStyle/>
          <a:p>
            <a:r>
              <a:rPr lang="en-US" sz="4800" b="1" dirty="0"/>
              <a:t>Memory Map</a:t>
            </a:r>
          </a:p>
        </p:txBody>
      </p:sp>
      <p:cxnSp>
        <p:nvCxnSpPr>
          <p:cNvPr id="10" name="Straight Connector 9">
            <a:extLst>
              <a:ext uri="{FF2B5EF4-FFF2-40B4-BE49-F238E27FC236}">
                <a16:creationId xmlns:a16="http://schemas.microsoft.com/office/drawing/2014/main" id="{6D448914-45DB-61DC-B87E-F12D7E066B0C}"/>
              </a:ext>
            </a:extLst>
          </p:cNvPr>
          <p:cNvCxnSpPr/>
          <p:nvPr/>
        </p:nvCxnSpPr>
        <p:spPr>
          <a:xfrm>
            <a:off x="7556500" y="4229100"/>
            <a:ext cx="3810000" cy="0"/>
          </a:xfrm>
          <a:prstGeom prst="line">
            <a:avLst/>
          </a:prstGeom>
          <a:ln w="508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07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B4DD8A-74A0-5A57-951B-50DB0DB1CC10}"/>
              </a:ext>
            </a:extLst>
          </p:cNvPr>
          <p:cNvPicPr>
            <a:picLocks noChangeAspect="1"/>
          </p:cNvPicPr>
          <p:nvPr/>
        </p:nvPicPr>
        <p:blipFill>
          <a:blip r:embed="rId2"/>
          <a:stretch>
            <a:fillRect/>
          </a:stretch>
        </p:blipFill>
        <p:spPr>
          <a:xfrm>
            <a:off x="1134027" y="323547"/>
            <a:ext cx="9923946" cy="6210905"/>
          </a:xfrm>
          <a:prstGeom prst="rect">
            <a:avLst/>
          </a:prstGeom>
        </p:spPr>
      </p:pic>
      <p:sp>
        <p:nvSpPr>
          <p:cNvPr id="7" name="TextBox 6">
            <a:extLst>
              <a:ext uri="{FF2B5EF4-FFF2-40B4-BE49-F238E27FC236}">
                <a16:creationId xmlns:a16="http://schemas.microsoft.com/office/drawing/2014/main" id="{2CAE6472-C253-A860-5896-6B7F5AA86641}"/>
              </a:ext>
            </a:extLst>
          </p:cNvPr>
          <p:cNvSpPr txBox="1"/>
          <p:nvPr/>
        </p:nvSpPr>
        <p:spPr>
          <a:xfrm rot="16200000">
            <a:off x="-2341306" y="3003832"/>
            <a:ext cx="6006901" cy="646331"/>
          </a:xfrm>
          <a:prstGeom prst="rect">
            <a:avLst/>
          </a:prstGeom>
          <a:noFill/>
        </p:spPr>
        <p:txBody>
          <a:bodyPr wrap="none" rtlCol="0">
            <a:spAutoFit/>
          </a:bodyPr>
          <a:lstStyle/>
          <a:p>
            <a:r>
              <a:rPr lang="en-US" sz="3600" dirty="0">
                <a:latin typeface="Times New Roman" panose="02020603050405020304" pitchFamily="18" charset="0"/>
                <a:cs typeface="Times New Roman" panose="02020603050405020304" pitchFamily="18" charset="0"/>
              </a:rPr>
              <a:t>P.A.L.M. INSTRUCTION SET</a:t>
            </a:r>
          </a:p>
        </p:txBody>
      </p:sp>
    </p:spTree>
    <p:extLst>
      <p:ext uri="{BB962C8B-B14F-4D97-AF65-F5344CB8AC3E}">
        <p14:creationId xmlns:p14="http://schemas.microsoft.com/office/powerpoint/2010/main" val="504108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477780-06AE-BA7C-6C7E-334A3003A3BF}"/>
              </a:ext>
            </a:extLst>
          </p:cNvPr>
          <p:cNvPicPr>
            <a:picLocks noChangeAspect="1"/>
          </p:cNvPicPr>
          <p:nvPr/>
        </p:nvPicPr>
        <p:blipFill>
          <a:blip r:embed="rId2"/>
          <a:stretch>
            <a:fillRect/>
          </a:stretch>
        </p:blipFill>
        <p:spPr>
          <a:xfrm>
            <a:off x="1134027" y="323547"/>
            <a:ext cx="9923946" cy="6210905"/>
          </a:xfrm>
          <a:prstGeom prst="rect">
            <a:avLst/>
          </a:prstGeom>
        </p:spPr>
      </p:pic>
      <p:sp>
        <p:nvSpPr>
          <p:cNvPr id="7" name="TextBox 6">
            <a:extLst>
              <a:ext uri="{FF2B5EF4-FFF2-40B4-BE49-F238E27FC236}">
                <a16:creationId xmlns:a16="http://schemas.microsoft.com/office/drawing/2014/main" id="{919426D6-01A8-0EE8-7032-BCAAF40290D8}"/>
              </a:ext>
            </a:extLst>
          </p:cNvPr>
          <p:cNvSpPr txBox="1"/>
          <p:nvPr/>
        </p:nvSpPr>
        <p:spPr>
          <a:xfrm rot="16200000">
            <a:off x="-2341306" y="3003832"/>
            <a:ext cx="6006901" cy="646331"/>
          </a:xfrm>
          <a:prstGeom prst="rect">
            <a:avLst/>
          </a:prstGeom>
          <a:noFill/>
        </p:spPr>
        <p:txBody>
          <a:bodyPr wrap="none" rtlCol="0">
            <a:spAutoFit/>
          </a:bodyPr>
          <a:lstStyle/>
          <a:p>
            <a:r>
              <a:rPr lang="en-US" sz="3600" dirty="0">
                <a:latin typeface="Times New Roman" panose="02020603050405020304" pitchFamily="18" charset="0"/>
                <a:cs typeface="Times New Roman" panose="02020603050405020304" pitchFamily="18" charset="0"/>
              </a:rPr>
              <a:t>P.A.L.M. INSTRUCTION SET</a:t>
            </a:r>
          </a:p>
        </p:txBody>
      </p:sp>
    </p:spTree>
    <p:extLst>
      <p:ext uri="{BB962C8B-B14F-4D97-AF65-F5344CB8AC3E}">
        <p14:creationId xmlns:p14="http://schemas.microsoft.com/office/powerpoint/2010/main" val="220988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F85EFE7B-83C1-48B4-D140-F0482BE256EF}"/>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0700</a:t>
            </a:r>
          </a:p>
        </p:txBody>
      </p:sp>
      <p:sp>
        <p:nvSpPr>
          <p:cNvPr id="40" name="TextBox 39">
            <a:extLst>
              <a:ext uri="{FF2B5EF4-FFF2-40B4-BE49-F238E27FC236}">
                <a16:creationId xmlns:a16="http://schemas.microsoft.com/office/drawing/2014/main" id="{48151DED-9559-D51C-2DAC-635E8A9F4661}"/>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41" name="Rectangle 40">
            <a:extLst>
              <a:ext uri="{FF2B5EF4-FFF2-40B4-BE49-F238E27FC236}">
                <a16:creationId xmlns:a16="http://schemas.microsoft.com/office/drawing/2014/main" id="{EC5656B3-7DE0-E7B1-DD22-EC905CD796A0}"/>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2" name="Rectangle 41">
            <a:extLst>
              <a:ext uri="{FF2B5EF4-FFF2-40B4-BE49-F238E27FC236}">
                <a16:creationId xmlns:a16="http://schemas.microsoft.com/office/drawing/2014/main" id="{2F6D7AA9-B42F-4E9F-E829-E2D90F1AF950}"/>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3" name="Rectangle 42">
            <a:extLst>
              <a:ext uri="{FF2B5EF4-FFF2-40B4-BE49-F238E27FC236}">
                <a16:creationId xmlns:a16="http://schemas.microsoft.com/office/drawing/2014/main" id="{2C43F768-A9BA-3664-CD92-AE7526204E87}"/>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4" name="TextBox 43">
            <a:extLst>
              <a:ext uri="{FF2B5EF4-FFF2-40B4-BE49-F238E27FC236}">
                <a16:creationId xmlns:a16="http://schemas.microsoft.com/office/drawing/2014/main" id="{DF723AFB-9EE1-4643-C754-3B97ACAAB810}"/>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45" name="TextBox 44">
            <a:extLst>
              <a:ext uri="{FF2B5EF4-FFF2-40B4-BE49-F238E27FC236}">
                <a16:creationId xmlns:a16="http://schemas.microsoft.com/office/drawing/2014/main" id="{573A0D66-BE15-29D6-67B3-39D13664812F}"/>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46" name="TextBox 45">
            <a:extLst>
              <a:ext uri="{FF2B5EF4-FFF2-40B4-BE49-F238E27FC236}">
                <a16:creationId xmlns:a16="http://schemas.microsoft.com/office/drawing/2014/main" id="{3A9B0344-09D0-3F3C-26BC-80AD0A4BAD81}"/>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47" name="Rectangle 46">
            <a:extLst>
              <a:ext uri="{FF2B5EF4-FFF2-40B4-BE49-F238E27FC236}">
                <a16:creationId xmlns:a16="http://schemas.microsoft.com/office/drawing/2014/main" id="{E9939268-070F-CB93-9B41-A2EC3BA3EA1E}"/>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8" name="TextBox 47">
            <a:extLst>
              <a:ext uri="{FF2B5EF4-FFF2-40B4-BE49-F238E27FC236}">
                <a16:creationId xmlns:a16="http://schemas.microsoft.com/office/drawing/2014/main" id="{8BFA4E63-56FA-0510-FDDF-5F2C1A58478E}"/>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49" name="Rectangle 48">
            <a:extLst>
              <a:ext uri="{FF2B5EF4-FFF2-40B4-BE49-F238E27FC236}">
                <a16:creationId xmlns:a16="http://schemas.microsoft.com/office/drawing/2014/main" id="{A71FDDFF-698B-B556-A6E8-5C7F79D8E8B2}"/>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0" name="Rectangle 49">
            <a:extLst>
              <a:ext uri="{FF2B5EF4-FFF2-40B4-BE49-F238E27FC236}">
                <a16:creationId xmlns:a16="http://schemas.microsoft.com/office/drawing/2014/main" id="{7071A51C-D82D-D223-FCFD-B86971E8944D}"/>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1" name="Rectangle 50">
            <a:extLst>
              <a:ext uri="{FF2B5EF4-FFF2-40B4-BE49-F238E27FC236}">
                <a16:creationId xmlns:a16="http://schemas.microsoft.com/office/drawing/2014/main" id="{5A3CF86F-EDAB-5434-4295-7A01ED9EEDDA}"/>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2" name="TextBox 51">
            <a:extLst>
              <a:ext uri="{FF2B5EF4-FFF2-40B4-BE49-F238E27FC236}">
                <a16:creationId xmlns:a16="http://schemas.microsoft.com/office/drawing/2014/main" id="{E49476A7-5D13-07DA-14FD-08FEE9D955B2}"/>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53" name="TextBox 52">
            <a:extLst>
              <a:ext uri="{FF2B5EF4-FFF2-40B4-BE49-F238E27FC236}">
                <a16:creationId xmlns:a16="http://schemas.microsoft.com/office/drawing/2014/main" id="{0EC528DF-EC40-BDAB-FCB9-3E6422124676}"/>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54" name="TextBox 53">
            <a:extLst>
              <a:ext uri="{FF2B5EF4-FFF2-40B4-BE49-F238E27FC236}">
                <a16:creationId xmlns:a16="http://schemas.microsoft.com/office/drawing/2014/main" id="{512B3710-D653-0B8E-479D-49EBE79E566C}"/>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55" name="Rectangle 54">
            <a:extLst>
              <a:ext uri="{FF2B5EF4-FFF2-40B4-BE49-F238E27FC236}">
                <a16:creationId xmlns:a16="http://schemas.microsoft.com/office/drawing/2014/main" id="{6015336B-DC38-D3BB-C641-8311C4A1B33F}"/>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6" name="TextBox 55">
            <a:extLst>
              <a:ext uri="{FF2B5EF4-FFF2-40B4-BE49-F238E27FC236}">
                <a16:creationId xmlns:a16="http://schemas.microsoft.com/office/drawing/2014/main" id="{A8016BB7-37D8-3221-27D2-0D5620F87641}"/>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57" name="Rectangle 56">
            <a:extLst>
              <a:ext uri="{FF2B5EF4-FFF2-40B4-BE49-F238E27FC236}">
                <a16:creationId xmlns:a16="http://schemas.microsoft.com/office/drawing/2014/main" id="{87487A0E-51E9-D863-92F9-89058EF6B490}"/>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8" name="Rectangle 57">
            <a:extLst>
              <a:ext uri="{FF2B5EF4-FFF2-40B4-BE49-F238E27FC236}">
                <a16:creationId xmlns:a16="http://schemas.microsoft.com/office/drawing/2014/main" id="{330AA5E9-CC9E-A183-6786-B47A57EFC2B3}"/>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9" name="Rectangle 58">
            <a:extLst>
              <a:ext uri="{FF2B5EF4-FFF2-40B4-BE49-F238E27FC236}">
                <a16:creationId xmlns:a16="http://schemas.microsoft.com/office/drawing/2014/main" id="{CE1E4637-DDDB-8D37-47C7-ECE4B3BBDEBF}"/>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0" name="TextBox 59">
            <a:extLst>
              <a:ext uri="{FF2B5EF4-FFF2-40B4-BE49-F238E27FC236}">
                <a16:creationId xmlns:a16="http://schemas.microsoft.com/office/drawing/2014/main" id="{555BFB97-3AD9-6869-FAE9-0D6C34827BE6}"/>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61" name="TextBox 60">
            <a:extLst>
              <a:ext uri="{FF2B5EF4-FFF2-40B4-BE49-F238E27FC236}">
                <a16:creationId xmlns:a16="http://schemas.microsoft.com/office/drawing/2014/main" id="{243AB24D-2F27-0E84-EF59-D3CD3490CAC7}"/>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62" name="TextBox 61">
            <a:extLst>
              <a:ext uri="{FF2B5EF4-FFF2-40B4-BE49-F238E27FC236}">
                <a16:creationId xmlns:a16="http://schemas.microsoft.com/office/drawing/2014/main" id="{9F9E1CA0-E0A1-0450-1DE1-404D7C1D96C5}"/>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63" name="Rectangle 62">
            <a:extLst>
              <a:ext uri="{FF2B5EF4-FFF2-40B4-BE49-F238E27FC236}">
                <a16:creationId xmlns:a16="http://schemas.microsoft.com/office/drawing/2014/main" id="{CFBC0DAE-1EF6-C1B2-86BC-22B1BD64DA67}"/>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4" name="TextBox 63">
            <a:extLst>
              <a:ext uri="{FF2B5EF4-FFF2-40B4-BE49-F238E27FC236}">
                <a16:creationId xmlns:a16="http://schemas.microsoft.com/office/drawing/2014/main" id="{DEBA864A-29A7-2DEC-5338-B0BA6FD45D67}"/>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65" name="Rectangle 64">
            <a:extLst>
              <a:ext uri="{FF2B5EF4-FFF2-40B4-BE49-F238E27FC236}">
                <a16:creationId xmlns:a16="http://schemas.microsoft.com/office/drawing/2014/main" id="{CDAB5476-921B-EE80-BA20-3D3C96C7E113}"/>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6" name="Rectangle 65">
            <a:extLst>
              <a:ext uri="{FF2B5EF4-FFF2-40B4-BE49-F238E27FC236}">
                <a16:creationId xmlns:a16="http://schemas.microsoft.com/office/drawing/2014/main" id="{C9F78247-29E3-B5FF-BC84-ABCD9E193E8D}"/>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7" name="Rectangle 66">
            <a:extLst>
              <a:ext uri="{FF2B5EF4-FFF2-40B4-BE49-F238E27FC236}">
                <a16:creationId xmlns:a16="http://schemas.microsoft.com/office/drawing/2014/main" id="{39973B9A-4A0F-6ED8-0EE2-6AA5C7F17D3B}"/>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8" name="TextBox 67">
            <a:extLst>
              <a:ext uri="{FF2B5EF4-FFF2-40B4-BE49-F238E27FC236}">
                <a16:creationId xmlns:a16="http://schemas.microsoft.com/office/drawing/2014/main" id="{3E52938F-DD91-A098-346D-B59A6A205008}"/>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69" name="TextBox 68">
            <a:extLst>
              <a:ext uri="{FF2B5EF4-FFF2-40B4-BE49-F238E27FC236}">
                <a16:creationId xmlns:a16="http://schemas.microsoft.com/office/drawing/2014/main" id="{03F7387B-4117-FAF5-8906-C8AA676E0022}"/>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70" name="TextBox 69">
            <a:extLst>
              <a:ext uri="{FF2B5EF4-FFF2-40B4-BE49-F238E27FC236}">
                <a16:creationId xmlns:a16="http://schemas.microsoft.com/office/drawing/2014/main" id="{E8EC24F5-5DAE-CC9C-6D45-36CA75087E03}"/>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71" name="TextBox 70">
            <a:extLst>
              <a:ext uri="{FF2B5EF4-FFF2-40B4-BE49-F238E27FC236}">
                <a16:creationId xmlns:a16="http://schemas.microsoft.com/office/drawing/2014/main" id="{6DC6B074-BD8A-CA21-11CA-F42A3C42BE80}"/>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72" name="Rectangle 71">
            <a:extLst>
              <a:ext uri="{FF2B5EF4-FFF2-40B4-BE49-F238E27FC236}">
                <a16:creationId xmlns:a16="http://schemas.microsoft.com/office/drawing/2014/main" id="{09F343E1-D771-F47E-2BBC-54F313B52A56}"/>
              </a:ext>
            </a:extLst>
          </p:cNvPr>
          <p:cNvSpPr/>
          <p:nvPr/>
        </p:nvSpPr>
        <p:spPr>
          <a:xfrm>
            <a:off x="5152533" y="555932"/>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693507DE-C52D-65D3-96B9-B1AD9961E7E5}"/>
              </a:ext>
            </a:extLst>
          </p:cNvPr>
          <p:cNvSpPr txBox="1"/>
          <p:nvPr/>
        </p:nvSpPr>
        <p:spPr>
          <a:xfrm>
            <a:off x="3670304" y="525452"/>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74" name="TextBox 73">
            <a:extLst>
              <a:ext uri="{FF2B5EF4-FFF2-40B4-BE49-F238E27FC236}">
                <a16:creationId xmlns:a16="http://schemas.microsoft.com/office/drawing/2014/main" id="{19982FB1-7471-2639-7150-615A9CCA4F76}"/>
              </a:ext>
            </a:extLst>
          </p:cNvPr>
          <p:cNvSpPr txBox="1"/>
          <p:nvPr/>
        </p:nvSpPr>
        <p:spPr>
          <a:xfrm>
            <a:off x="5073556" y="169070"/>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Tree>
    <p:extLst>
      <p:ext uri="{BB962C8B-B14F-4D97-AF65-F5344CB8AC3E}">
        <p14:creationId xmlns:p14="http://schemas.microsoft.com/office/powerpoint/2010/main" val="3184333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5715-EA79-8487-7E32-1246EAF2E5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ED1BFCE-746B-CAE5-CDE3-2867FEBF27CC}"/>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48F9E2A6-DE82-A0E3-2A75-3D88634E965E}"/>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74F20F63-8BB4-449D-FEC2-75C7CBC7665E}"/>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A5CD1A05-1C99-8F92-7D16-1FBCC6F0C5FE}"/>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8" name="Rectangle 7">
            <a:extLst>
              <a:ext uri="{FF2B5EF4-FFF2-40B4-BE49-F238E27FC236}">
                <a16:creationId xmlns:a16="http://schemas.microsoft.com/office/drawing/2014/main" id="{825430D2-F1FE-732A-0B38-372BF2F2BE12}"/>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EF43B56E-CC7C-CD63-F963-E2D9FB3DA2DD}"/>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10DDC814-E477-C9DC-5AB7-D86C640C9662}"/>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88745325-87BB-6BDA-F7E9-EC1E3784E887}"/>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52915748-5713-8106-D415-29C7290088B5}"/>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3" name="TextBox 12">
            <a:extLst>
              <a:ext uri="{FF2B5EF4-FFF2-40B4-BE49-F238E27FC236}">
                <a16:creationId xmlns:a16="http://schemas.microsoft.com/office/drawing/2014/main" id="{80825995-731A-3609-C005-B4A9EFD0C1B6}"/>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18760AB0-070C-73FA-A9F7-AE246A6CFE02}"/>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5" name="Rectangle 14">
            <a:extLst>
              <a:ext uri="{FF2B5EF4-FFF2-40B4-BE49-F238E27FC236}">
                <a16:creationId xmlns:a16="http://schemas.microsoft.com/office/drawing/2014/main" id="{700C86EB-6323-8AFE-6FC5-0EC6A54C1AF2}"/>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6" name="Rectangle 15">
            <a:extLst>
              <a:ext uri="{FF2B5EF4-FFF2-40B4-BE49-F238E27FC236}">
                <a16:creationId xmlns:a16="http://schemas.microsoft.com/office/drawing/2014/main" id="{706C6416-DCB3-014C-4048-8542BEBB3105}"/>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845C8AB3-BF37-CA4B-3A84-BE7AA43FC99D}"/>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BD0A29D9-CB2F-9868-CD3A-794E6F838B03}"/>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B1249ACF-41B6-9915-081A-9E61D97FAE46}"/>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E9206167-6526-56ED-FD31-53ACDE888B39}"/>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F6EA771F-1F72-1F40-D6CD-194D4DBB2646}"/>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4309FE60-A919-AD56-5DE1-D4B49219E0DD}"/>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008D</a:t>
            </a:r>
          </a:p>
        </p:txBody>
      </p:sp>
      <p:sp>
        <p:nvSpPr>
          <p:cNvPr id="23" name="Rectangle 22">
            <a:extLst>
              <a:ext uri="{FF2B5EF4-FFF2-40B4-BE49-F238E27FC236}">
                <a16:creationId xmlns:a16="http://schemas.microsoft.com/office/drawing/2014/main" id="{60D5542E-824F-5488-BE48-C35F83F1718A}"/>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4" name="Rectangle 23">
            <a:extLst>
              <a:ext uri="{FF2B5EF4-FFF2-40B4-BE49-F238E27FC236}">
                <a16:creationId xmlns:a16="http://schemas.microsoft.com/office/drawing/2014/main" id="{BFFD2BDA-2E08-98AD-D583-9C56BDE5B082}"/>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5" name="TextBox 24">
            <a:extLst>
              <a:ext uri="{FF2B5EF4-FFF2-40B4-BE49-F238E27FC236}">
                <a16:creationId xmlns:a16="http://schemas.microsoft.com/office/drawing/2014/main" id="{A443A8A5-B3E4-C6EC-547F-CBF04CF1EAF0}"/>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963F1604-8D78-FFFF-358C-17020222D027}"/>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A57C45A6-7C89-F528-4FDC-31D708289865}"/>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BC5503DB-38E1-869F-602E-01C30E8EE887}"/>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9" name="TextBox 28">
            <a:extLst>
              <a:ext uri="{FF2B5EF4-FFF2-40B4-BE49-F238E27FC236}">
                <a16:creationId xmlns:a16="http://schemas.microsoft.com/office/drawing/2014/main" id="{B1B4AF19-22AC-F6AF-A5A9-23099CE2B9E0}"/>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9D2DD493-64C3-162B-56D2-5913ACEA14C9}"/>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1" name="Rectangle 30">
            <a:extLst>
              <a:ext uri="{FF2B5EF4-FFF2-40B4-BE49-F238E27FC236}">
                <a16:creationId xmlns:a16="http://schemas.microsoft.com/office/drawing/2014/main" id="{23C6721B-4305-E182-3F50-6977C21F05BA}"/>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623C04EF-ABFA-ED53-044D-7FC2FAB4C946}"/>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B2FECE50-6FE5-7543-2C3B-D03512D7E8EC}"/>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5319ACFC-C28C-23BA-1D3B-F0095BD03B49}"/>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6C8B8189-C7A1-886D-AA93-34452E7AE6F3}"/>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36" name="Rectangle 35">
            <a:extLst>
              <a:ext uri="{FF2B5EF4-FFF2-40B4-BE49-F238E27FC236}">
                <a16:creationId xmlns:a16="http://schemas.microsoft.com/office/drawing/2014/main" id="{EC32E9BC-D231-3513-93DA-7C74F7AD9382}"/>
              </a:ext>
            </a:extLst>
          </p:cNvPr>
          <p:cNvSpPr/>
          <p:nvPr/>
        </p:nvSpPr>
        <p:spPr>
          <a:xfrm>
            <a:off x="5152533" y="555932"/>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05DFB8A-AD94-EB09-28A0-DF61C3D5368F}"/>
              </a:ext>
            </a:extLst>
          </p:cNvPr>
          <p:cNvSpPr txBox="1"/>
          <p:nvPr/>
        </p:nvSpPr>
        <p:spPr>
          <a:xfrm>
            <a:off x="3670304" y="525452"/>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38" name="TextBox 37">
            <a:extLst>
              <a:ext uri="{FF2B5EF4-FFF2-40B4-BE49-F238E27FC236}">
                <a16:creationId xmlns:a16="http://schemas.microsoft.com/office/drawing/2014/main" id="{D26B1BBD-5DC3-F7FC-A5DE-F9F3C9B98A41}"/>
              </a:ext>
            </a:extLst>
          </p:cNvPr>
          <p:cNvSpPr txBox="1"/>
          <p:nvPr/>
        </p:nvSpPr>
        <p:spPr>
          <a:xfrm>
            <a:off x="5073556" y="169070"/>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2" name="Content Placeholder 2">
            <a:extLst>
              <a:ext uri="{FF2B5EF4-FFF2-40B4-BE49-F238E27FC236}">
                <a16:creationId xmlns:a16="http://schemas.microsoft.com/office/drawing/2014/main" id="{3E296946-B287-DA5D-5D57-D8E275A018FB}"/>
              </a:ext>
            </a:extLst>
          </p:cNvPr>
          <p:cNvSpPr>
            <a:spLocks noGrp="1"/>
          </p:cNvSpPr>
          <p:nvPr>
            <p:ph idx="1"/>
          </p:nvPr>
        </p:nvSpPr>
        <p:spPr>
          <a:xfrm>
            <a:off x="2872153" y="4187581"/>
            <a:ext cx="9120554" cy="1817292"/>
          </a:xfrm>
          <a:ln>
            <a:solidFill>
              <a:schemeClr val="accent1">
                <a:shade val="15000"/>
              </a:schemeClr>
            </a:solidFill>
          </a:ln>
        </p:spPr>
        <p:txBody>
          <a:bodyPr lIns="91440" tIns="91440" rIns="91440" bIns="91440">
            <a:normAutofit fontScale="62500" lnSpcReduction="20000"/>
          </a:bodyPr>
          <a:lstStyle/>
          <a:p>
            <a:pPr marL="0" indent="0">
              <a:buNone/>
            </a:pPr>
            <a:r>
              <a:rPr lang="en-US" dirty="0">
                <a:latin typeface="Courier New" panose="02070309020205020404" pitchFamily="49" charset="0"/>
                <a:cs typeface="Courier New" panose="02070309020205020404" pitchFamily="49" charset="0"/>
              </a:rPr>
              <a:t>0700 0203 D021 09F4 CALL	</a:t>
            </a:r>
            <a:r>
              <a:rPr lang="en-US" dirty="0" err="1">
                <a:latin typeface="Courier New" panose="02070309020205020404" pitchFamily="49" charset="0"/>
                <a:cs typeface="Courier New" panose="02070309020205020404" pitchFamily="49" charset="0"/>
              </a:rPr>
              <a:t>ClrScr</a:t>
            </a:r>
            <a:r>
              <a:rPr lang="en-US" dirty="0">
                <a:latin typeface="Courier New" panose="02070309020205020404" pitchFamily="49" charset="0"/>
                <a:cs typeface="Courier New" panose="02070309020205020404" pitchFamily="49" charset="0"/>
              </a:rPr>
              <a:t>, R2</a:t>
            </a:r>
          </a:p>
          <a:p>
            <a:pPr marL="0" indent="0">
              <a:buNone/>
            </a:pPr>
            <a:r>
              <a:rPr lang="en-US" dirty="0">
                <a:latin typeface="Courier New" panose="02070309020205020404" pitchFamily="49" charset="0"/>
                <a:cs typeface="Courier New" panose="02070309020205020404" pitchFamily="49" charset="0"/>
              </a:rPr>
              <a:t>0706 D901 0E00      LWI   	R9, BANNER_LEN	</a:t>
            </a:r>
            <a:r>
              <a:rPr lang="en-US" dirty="0">
                <a:latin typeface="Courier New" panose="02070309020205020404" pitchFamily="49" charset="0"/>
                <a:cs typeface="Courier New" panose="02070309020205020404" pitchFamily="49" charset="0"/>
                <a:sym typeface="Wingdings" panose="05000000000000000000" pitchFamily="2" charset="2"/>
              </a:rPr>
              <a:t> R9 = 0x0E00</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070A 6998           LDBI  	R9, R9 	    	</a:t>
            </a:r>
            <a:r>
              <a:rPr lang="en-US" dirty="0">
                <a:latin typeface="Courier New" panose="02070309020205020404" pitchFamily="49" charset="0"/>
                <a:cs typeface="Courier New" panose="02070309020205020404" pitchFamily="49" charset="0"/>
                <a:sym typeface="Wingdings" panose="05000000000000000000" pitchFamily="2" charset="2"/>
              </a:rPr>
              <a:t> R9 = 141</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070C 8A00           LBI  	R10, 0			</a:t>
            </a:r>
            <a:r>
              <a:rPr lang="en-US" dirty="0">
                <a:latin typeface="Courier New" panose="02070309020205020404" pitchFamily="49" charset="0"/>
                <a:cs typeface="Courier New" panose="02070309020205020404" pitchFamily="49" charset="0"/>
                <a:sym typeface="Wingdings" panose="05000000000000000000" pitchFamily="2" charset="2"/>
              </a:rPr>
              <a:t> Lo R10 = 0</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070E 0AAD 		LTH  	R10, R10		</a:t>
            </a:r>
            <a:r>
              <a:rPr lang="en-US" dirty="0">
                <a:latin typeface="Courier New" panose="02070309020205020404" pitchFamily="49" charset="0"/>
                <a:cs typeface="Courier New" panose="02070309020205020404" pitchFamily="49" charset="0"/>
                <a:sym typeface="Wingdings" panose="05000000000000000000" pitchFamily="2" charset="2"/>
              </a:rPr>
              <a:t> Hi R10 = 0</a:t>
            </a:r>
            <a:endParaRPr lang="en-US"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37174068-4090-DD0C-1F8F-CEDC51D91CFE}"/>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Tree>
    <p:extLst>
      <p:ext uri="{BB962C8B-B14F-4D97-AF65-F5344CB8AC3E}">
        <p14:creationId xmlns:p14="http://schemas.microsoft.com/office/powerpoint/2010/main" val="3526417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1E7D5-66F2-1256-C287-CB7960EF10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DE240B-4F78-2EDD-4DFC-60CD100A496A}"/>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1EA6D29B-8834-0768-F6ED-67E3276863BE}"/>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0FF5BC5E-696A-3739-8C77-6F6E1BAB5B79}"/>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2AB701F9-7015-7B5B-02FC-F92D97368D10}"/>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8" name="Rectangle 7">
            <a:extLst>
              <a:ext uri="{FF2B5EF4-FFF2-40B4-BE49-F238E27FC236}">
                <a16:creationId xmlns:a16="http://schemas.microsoft.com/office/drawing/2014/main" id="{500BBCD6-C1EF-1778-5145-6D73F77ADA97}"/>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0D97BAFF-56C7-33A2-8FD8-54390F288ACC}"/>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0035E3C4-5969-3827-BF36-974A683DDA26}"/>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D7385239-8C3E-4B92-0D79-71B5785D06A1}"/>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750DC5F1-9FF7-FB66-05ED-9A306718C742}"/>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3" name="TextBox 12">
            <a:extLst>
              <a:ext uri="{FF2B5EF4-FFF2-40B4-BE49-F238E27FC236}">
                <a16:creationId xmlns:a16="http://schemas.microsoft.com/office/drawing/2014/main" id="{45C5BE88-91FA-0389-6BA3-D1BAA8AB8E31}"/>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11EB4820-0247-225A-A771-75C22737FE3D}"/>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5" name="Rectangle 14">
            <a:extLst>
              <a:ext uri="{FF2B5EF4-FFF2-40B4-BE49-F238E27FC236}">
                <a16:creationId xmlns:a16="http://schemas.microsoft.com/office/drawing/2014/main" id="{8EED6A76-2A51-92E8-0C0F-B55AD62C73E6}"/>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6" name="Rectangle 15">
            <a:extLst>
              <a:ext uri="{FF2B5EF4-FFF2-40B4-BE49-F238E27FC236}">
                <a16:creationId xmlns:a16="http://schemas.microsoft.com/office/drawing/2014/main" id="{ACEF1291-3FCD-1EF6-452D-099021DAF86C}"/>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0F0F8ECB-F6ED-796F-80D5-288046D37F3B}"/>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574DFED7-294F-57AB-6D2F-1F403A77E871}"/>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248D4AB4-70C1-4F22-1A65-99B4AA41512B}"/>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FAE9E32B-A808-8F7F-2AA2-7A54721C98EB}"/>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2D302C63-FEF6-4958-2B32-671AE75F4D18}"/>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8C59CD60-1A32-35F7-5154-B26C433C8671}"/>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3" name="Rectangle 22">
            <a:extLst>
              <a:ext uri="{FF2B5EF4-FFF2-40B4-BE49-F238E27FC236}">
                <a16:creationId xmlns:a16="http://schemas.microsoft.com/office/drawing/2014/main" id="{C9566301-8A4A-29DF-109C-599EB556A673}"/>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F3C63149-5B1C-72DC-D0D8-B5F796DC9B16}"/>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5" name="TextBox 24">
            <a:extLst>
              <a:ext uri="{FF2B5EF4-FFF2-40B4-BE49-F238E27FC236}">
                <a16:creationId xmlns:a16="http://schemas.microsoft.com/office/drawing/2014/main" id="{68098FBC-E81A-23E9-45C0-BDA04199C26D}"/>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7C32F6D5-6D4F-A06C-FE03-9CFBC9531888}"/>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2299DCD2-AE89-2404-21F8-CB88DC8FA6CD}"/>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E57574AB-9C7B-E218-21AD-AEB68DEC284C}"/>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9" name="TextBox 28">
            <a:extLst>
              <a:ext uri="{FF2B5EF4-FFF2-40B4-BE49-F238E27FC236}">
                <a16:creationId xmlns:a16="http://schemas.microsoft.com/office/drawing/2014/main" id="{A456247B-92CA-6D9B-553A-A776AC36A147}"/>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61BD1E54-3562-CB15-F117-20D9C901913C}"/>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1" name="Rectangle 30">
            <a:extLst>
              <a:ext uri="{FF2B5EF4-FFF2-40B4-BE49-F238E27FC236}">
                <a16:creationId xmlns:a16="http://schemas.microsoft.com/office/drawing/2014/main" id="{52E006F7-4506-E01F-C4A3-6ACF5E8E3E80}"/>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0F773F7D-A30B-8E82-3068-653971D66B9D}"/>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6ADB260B-FA19-22FC-82F6-F4D04A9C36E4}"/>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B57813EB-51C2-B835-ADFB-CF89AABF9CAA}"/>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AD621E72-5002-A4B4-3E6E-20306317C29C}"/>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36" name="Rectangle 35">
            <a:extLst>
              <a:ext uri="{FF2B5EF4-FFF2-40B4-BE49-F238E27FC236}">
                <a16:creationId xmlns:a16="http://schemas.microsoft.com/office/drawing/2014/main" id="{B448F3EC-5BFE-3D68-F061-AA1581334A21}"/>
              </a:ext>
            </a:extLst>
          </p:cNvPr>
          <p:cNvSpPr/>
          <p:nvPr/>
        </p:nvSpPr>
        <p:spPr>
          <a:xfrm>
            <a:off x="5152533" y="555932"/>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0C6CA710-498B-5556-16EF-283E3D999396}"/>
              </a:ext>
            </a:extLst>
          </p:cNvPr>
          <p:cNvSpPr txBox="1"/>
          <p:nvPr/>
        </p:nvSpPr>
        <p:spPr>
          <a:xfrm>
            <a:off x="3670304" y="525452"/>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38" name="TextBox 37">
            <a:extLst>
              <a:ext uri="{FF2B5EF4-FFF2-40B4-BE49-F238E27FC236}">
                <a16:creationId xmlns:a16="http://schemas.microsoft.com/office/drawing/2014/main" id="{C500EF8F-5480-A82A-98F2-23C87B8EE7D2}"/>
              </a:ext>
            </a:extLst>
          </p:cNvPr>
          <p:cNvSpPr txBox="1"/>
          <p:nvPr/>
        </p:nvSpPr>
        <p:spPr>
          <a:xfrm>
            <a:off x="5073556" y="169070"/>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2" name="Content Placeholder 2">
            <a:extLst>
              <a:ext uri="{FF2B5EF4-FFF2-40B4-BE49-F238E27FC236}">
                <a16:creationId xmlns:a16="http://schemas.microsoft.com/office/drawing/2014/main" id="{4683B39B-972F-B856-7868-B956511927D0}"/>
              </a:ext>
            </a:extLst>
          </p:cNvPr>
          <p:cNvSpPr>
            <a:spLocks noGrp="1"/>
          </p:cNvSpPr>
          <p:nvPr>
            <p:ph idx="1"/>
          </p:nvPr>
        </p:nvSpPr>
        <p:spPr>
          <a:xfrm>
            <a:off x="2801814" y="4041832"/>
            <a:ext cx="8768862" cy="2300353"/>
          </a:xfrm>
          <a:ln>
            <a:solidFill>
              <a:schemeClr val="accent1">
                <a:shade val="15000"/>
              </a:schemeClr>
            </a:solidFill>
          </a:ln>
        </p:spPr>
        <p:txBody>
          <a:bodyPr lIns="91440" tIns="91440" rIns="91440" bIns="91440">
            <a:normAutofit fontScale="55000" lnSpcReduction="20000"/>
          </a:bodyPr>
          <a:lstStyle/>
          <a:p>
            <a:pPr marL="0" indent="0">
              <a:buNone/>
            </a:pPr>
            <a:r>
              <a:rPr lang="en-US" dirty="0">
                <a:latin typeface="Courier New" panose="02070309020205020404" pitchFamily="49" charset="0"/>
                <a:cs typeface="Courier New" panose="02070309020205020404" pitchFamily="49" charset="0"/>
              </a:rPr>
              <a:t>FIND_LEN_NEXT:	0710	C903	SZ     R9</a:t>
            </a:r>
          </a:p>
          <a:p>
            <a:pPr marL="0" indent="0">
              <a:buNone/>
            </a:pPr>
            <a:r>
              <a:rPr lang="en-US" dirty="0">
                <a:latin typeface="Courier New" panose="02070309020205020404" pitchFamily="49" charset="0"/>
                <a:cs typeface="Courier New" panose="02070309020205020404" pitchFamily="49" charset="0"/>
              </a:rPr>
              <a:t>		0712	A001	BRA    FIND_LEN_BYTES</a:t>
            </a:r>
          </a:p>
          <a:p>
            <a:pPr marL="0" indent="0">
              <a:buNone/>
            </a:pPr>
            <a:r>
              <a:rPr lang="en-US" dirty="0">
                <a:latin typeface="Courier New" panose="02070309020205020404" pitchFamily="49" charset="0"/>
                <a:cs typeface="Courier New" panose="02070309020205020404" pitchFamily="49" charset="0"/>
              </a:rPr>
              <a:t>		0714	A005	BRA    CALCULATE_NEXT_SETUP</a:t>
            </a:r>
          </a:p>
          <a:p>
            <a:pPr marL="0" indent="0">
              <a:buNone/>
            </a:pPr>
            <a:r>
              <a:rPr lang="en-US" dirty="0">
                <a:latin typeface="Courier New" panose="02070309020205020404" pitchFamily="49" charset="0"/>
                <a:cs typeface="Courier New" panose="02070309020205020404" pitchFamily="49" charset="0"/>
              </a:rPr>
              <a:t>FIND_LEN_BYTES:	0716	AA07	ADDI   R10, #8 		</a:t>
            </a:r>
            <a:r>
              <a:rPr lang="en-US" dirty="0">
                <a:latin typeface="Courier New" panose="02070309020205020404" pitchFamily="49" charset="0"/>
                <a:cs typeface="Courier New" panose="02070309020205020404" pitchFamily="49" charset="0"/>
                <a:sym typeface="Wingdings" panose="05000000000000000000" pitchFamily="2" charset="2"/>
              </a:rPr>
              <a:t> R10 = R10+8</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0718	0991	DEC    R9              	</a:t>
            </a:r>
            <a:r>
              <a:rPr lang="en-US" dirty="0">
                <a:latin typeface="Courier New" panose="02070309020205020404" pitchFamily="49" charset="0"/>
                <a:cs typeface="Courier New" panose="02070309020205020404" pitchFamily="49" charset="0"/>
                <a:sym typeface="Wingdings" panose="05000000000000000000" pitchFamily="2" charset="2"/>
              </a:rPr>
              <a:t> R9 = R9-1</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071A	F00B	BRA    FIND_LEN_NEXT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CALCULATE_NEXT_SETUP:</a:t>
            </a:r>
          </a:p>
          <a:p>
            <a:pPr marL="0" indent="0">
              <a:buNone/>
            </a:pPr>
            <a:r>
              <a:rPr lang="en-US" dirty="0">
                <a:latin typeface="Courier New" panose="02070309020205020404" pitchFamily="49" charset="0"/>
                <a:cs typeface="Courier New" panose="02070309020205020404" pitchFamily="49" charset="0"/>
              </a:rPr>
              <a:t>		071C</a:t>
            </a:r>
          </a:p>
        </p:txBody>
      </p:sp>
      <p:sp>
        <p:nvSpPr>
          <p:cNvPr id="3" name="TextBox 2">
            <a:extLst>
              <a:ext uri="{FF2B5EF4-FFF2-40B4-BE49-F238E27FC236}">
                <a16:creationId xmlns:a16="http://schemas.microsoft.com/office/drawing/2014/main" id="{EBDA3B9B-AB1C-E876-356A-F100E98B1CA1}"/>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0" name="TextBox 39">
            <a:extLst>
              <a:ext uri="{FF2B5EF4-FFF2-40B4-BE49-F238E27FC236}">
                <a16:creationId xmlns:a16="http://schemas.microsoft.com/office/drawing/2014/main" id="{8D9C4283-9569-E607-A4F1-AE074A468F3F}"/>
              </a:ext>
            </a:extLst>
          </p:cNvPr>
          <p:cNvSpPr txBox="1"/>
          <p:nvPr/>
        </p:nvSpPr>
        <p:spPr>
          <a:xfrm>
            <a:off x="7197964" y="5873750"/>
            <a:ext cx="4219331" cy="369332"/>
          </a:xfrm>
          <a:prstGeom prst="rect">
            <a:avLst/>
          </a:prstGeom>
          <a:solidFill>
            <a:srgbClr val="FFC000"/>
          </a:solidFill>
        </p:spPr>
        <p:txBody>
          <a:bodyPr wrap="square" rtlCol="0">
            <a:spAutoFit/>
          </a:bodyPr>
          <a:lstStyle/>
          <a:p>
            <a:pPr algn="ctr"/>
            <a:r>
              <a:rPr lang="en-US" dirty="0"/>
              <a:t>R10 = R9 * 8 </a:t>
            </a:r>
            <a:r>
              <a:rPr lang="en-US" dirty="0">
                <a:sym typeface="Wingdings" panose="05000000000000000000" pitchFamily="2" charset="2"/>
              </a:rPr>
              <a:t> 141 * 8 = 1,128 (0x0468)</a:t>
            </a:r>
            <a:endParaRPr lang="en-US" dirty="0"/>
          </a:p>
        </p:txBody>
      </p:sp>
    </p:spTree>
    <p:extLst>
      <p:ext uri="{BB962C8B-B14F-4D97-AF65-F5344CB8AC3E}">
        <p14:creationId xmlns:p14="http://schemas.microsoft.com/office/powerpoint/2010/main" val="4030633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E8F1A-ED77-E1B8-1FCF-C46AA97DA3C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09135F6-54B7-7B97-6950-0517933E7264}"/>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7E789DE7-B635-F49B-5763-689C3FA81F17}"/>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C53CDFE0-2AE2-BAE5-FA17-D46C92DAF958}"/>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B66AE463-788C-0A3B-9AEB-D4292994A59A}"/>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8" name="Rectangle 7">
            <a:extLst>
              <a:ext uri="{FF2B5EF4-FFF2-40B4-BE49-F238E27FC236}">
                <a16:creationId xmlns:a16="http://schemas.microsoft.com/office/drawing/2014/main" id="{99279F9E-A78A-D5F5-B18E-D76CB3EA261C}"/>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366C0B32-7DF2-8626-DD58-319E31DB2FE9}"/>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BF8FBECF-0A33-CD8B-B13A-F113D5138AE5}"/>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4EEB2344-E484-C89A-4B71-153C7EEF7DF4}"/>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20A7BBEC-F11F-2E10-938A-E869CF1CEDEA}"/>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3" name="TextBox 12">
            <a:extLst>
              <a:ext uri="{FF2B5EF4-FFF2-40B4-BE49-F238E27FC236}">
                <a16:creationId xmlns:a16="http://schemas.microsoft.com/office/drawing/2014/main" id="{295C00BB-5487-ECFF-99C1-A9629B934C34}"/>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8465EC22-563B-82A4-8E0F-A18621559EEE}"/>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5" name="Rectangle 14">
            <a:extLst>
              <a:ext uri="{FF2B5EF4-FFF2-40B4-BE49-F238E27FC236}">
                <a16:creationId xmlns:a16="http://schemas.microsoft.com/office/drawing/2014/main" id="{0B9DC48B-2027-A401-34B5-F8FBE31B61FB}"/>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6" name="Rectangle 15">
            <a:extLst>
              <a:ext uri="{FF2B5EF4-FFF2-40B4-BE49-F238E27FC236}">
                <a16:creationId xmlns:a16="http://schemas.microsoft.com/office/drawing/2014/main" id="{3DB12765-656C-6683-8302-066B6CF5FEC0}"/>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FB1D175A-5BA9-9EDA-1685-10D4A8FF2F52}"/>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4C08DB25-E80A-8C0B-27CD-3579DCE3EB68}"/>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2A8A7D5E-6E2E-4D0A-970D-DCC6159E07DA}"/>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C5ACB1A7-8225-3275-BDDA-A8C902F0206C}"/>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8DCD3477-30E9-F35E-324B-ECACFC238D79}"/>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A48681E9-2F26-9C94-5045-A554D83DD47F}"/>
              </a:ext>
            </a:extLst>
          </p:cNvPr>
          <p:cNvSpPr/>
          <p:nvPr/>
        </p:nvSpPr>
        <p:spPr>
          <a:xfrm>
            <a:off x="1384300" y="36581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0004</a:t>
            </a:r>
          </a:p>
        </p:txBody>
      </p:sp>
      <p:sp>
        <p:nvSpPr>
          <p:cNvPr id="23" name="Rectangle 22">
            <a:extLst>
              <a:ext uri="{FF2B5EF4-FFF2-40B4-BE49-F238E27FC236}">
                <a16:creationId xmlns:a16="http://schemas.microsoft.com/office/drawing/2014/main" id="{B7135EE9-CDDE-B54C-1C5E-0F812878AD9D}"/>
              </a:ext>
            </a:extLst>
          </p:cNvPr>
          <p:cNvSpPr/>
          <p:nvPr/>
        </p:nvSpPr>
        <p:spPr>
          <a:xfrm>
            <a:off x="1384300" y="40010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F14FAA47-7C61-2C4C-2EE1-B2AEAF2D8BF5}"/>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1000</a:t>
            </a:r>
          </a:p>
        </p:txBody>
      </p:sp>
      <p:sp>
        <p:nvSpPr>
          <p:cNvPr id="25" name="TextBox 24">
            <a:extLst>
              <a:ext uri="{FF2B5EF4-FFF2-40B4-BE49-F238E27FC236}">
                <a16:creationId xmlns:a16="http://schemas.microsoft.com/office/drawing/2014/main" id="{979D8EBD-79D3-427A-C99B-7BA69096B9F2}"/>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31E638B9-4051-1312-2234-5BD57B9E376D}"/>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B1358407-5C13-69C2-58C9-34BB8F7EFD80}"/>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A9777796-416B-0E54-2F61-62CAF1FEEA8F}"/>
              </a:ext>
            </a:extLst>
          </p:cNvPr>
          <p:cNvSpPr/>
          <p:nvPr/>
        </p:nvSpPr>
        <p:spPr>
          <a:xfrm>
            <a:off x="1384300" y="46868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0C96</a:t>
            </a:r>
          </a:p>
        </p:txBody>
      </p:sp>
      <p:sp>
        <p:nvSpPr>
          <p:cNvPr id="29" name="TextBox 28">
            <a:extLst>
              <a:ext uri="{FF2B5EF4-FFF2-40B4-BE49-F238E27FC236}">
                <a16:creationId xmlns:a16="http://schemas.microsoft.com/office/drawing/2014/main" id="{96FBF5A5-C56C-3A19-370C-65ECC7BF83F2}"/>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D6988922-DBEE-FDAC-3132-C157849FCA5D}"/>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31" name="Rectangle 30">
            <a:extLst>
              <a:ext uri="{FF2B5EF4-FFF2-40B4-BE49-F238E27FC236}">
                <a16:creationId xmlns:a16="http://schemas.microsoft.com/office/drawing/2014/main" id="{F3B3C319-903F-FDA4-4C8D-135403CF84A9}"/>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240DBB4D-3393-DF35-8436-4C38ED68543C}"/>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394B4B50-BE34-C8D3-6463-C2E1F86C63CA}"/>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0D4EC115-E552-72CB-C2B5-568FBD764A6C}"/>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D997F7B7-E027-7D4F-09F2-DEBBCDCF013C}"/>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A0175198-10C4-0EDF-9E04-D157776150A0}"/>
              </a:ext>
            </a:extLst>
          </p:cNvPr>
          <p:cNvSpPr>
            <a:spLocks noGrp="1"/>
          </p:cNvSpPr>
          <p:nvPr>
            <p:ph idx="1"/>
          </p:nvPr>
        </p:nvSpPr>
        <p:spPr>
          <a:xfrm>
            <a:off x="2801814" y="351693"/>
            <a:ext cx="8768862" cy="4691240"/>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CALCULATE_NEXT_SETUP:	</a:t>
            </a:r>
          </a:p>
          <a:p>
            <a:pPr marL="0" indent="0">
              <a:spcBef>
                <a:spcPts val="200"/>
              </a:spcBef>
              <a:spcAft>
                <a:spcPts val="200"/>
              </a:spcAft>
              <a:buNone/>
            </a:pP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	071C	09AC		HTL    R9, R10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R10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071E	DB01 1000	LWI    R11, BANNER_TARGET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0722	DC01 0C96	LWI    R12, WORKING_ADDRESS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0726	DD01 0CAA	LWI    R13, WORKING_ADDRESSI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072A	5BC1		MOVE   (R12)+, R11	; ROW 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072C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072E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0734	5BC1		MOVE   (R12)+, R11	; ROW 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0736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0738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073E	5BC1		MOVE   (R12)+, R11	; ROW 3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0740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0742	0203 D021 0A06 	CALL   IncreaseR11_by_Len, R2		</a:t>
            </a: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	0748	5BC1		MOVE   (R12)+, R11	; ROW 4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074A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074C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E9412513-4C2F-F25E-3310-B66455CAA53C}"/>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cxnSp>
        <p:nvCxnSpPr>
          <p:cNvPr id="41" name="Straight Arrow Connector 40">
            <a:extLst>
              <a:ext uri="{FF2B5EF4-FFF2-40B4-BE49-F238E27FC236}">
                <a16:creationId xmlns:a16="http://schemas.microsoft.com/office/drawing/2014/main" id="{50899D75-47CF-311B-2DDF-4F7C0CF64F0F}"/>
              </a:ext>
            </a:extLst>
          </p:cNvPr>
          <p:cNvCxnSpPr>
            <a:cxnSpLocks/>
          </p:cNvCxnSpPr>
          <p:nvPr/>
        </p:nvCxnSpPr>
        <p:spPr>
          <a:xfrm flipV="1">
            <a:off x="1733550" y="3917156"/>
            <a:ext cx="130969" cy="1428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2AC74D36-A30B-DEA9-4489-67F1CDA1707C}"/>
              </a:ext>
            </a:extLst>
          </p:cNvPr>
          <p:cNvSpPr/>
          <p:nvPr/>
        </p:nvSpPr>
        <p:spPr>
          <a:xfrm>
            <a:off x="6447693" y="884079"/>
            <a:ext cx="3912455" cy="932998"/>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6029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13BD7-5617-E910-CB01-45FD1874F8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DDC9DC-32C2-145C-8656-E689BA4A5524}"/>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EC631836-5509-CF67-C97C-7FDBC39D511A}"/>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F73DCC83-67C3-93D8-8491-8318C90FEDD4}"/>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2D805D14-444F-BB28-6D83-344DB975DAB2}"/>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8" name="Rectangle 7">
            <a:extLst>
              <a:ext uri="{FF2B5EF4-FFF2-40B4-BE49-F238E27FC236}">
                <a16:creationId xmlns:a16="http://schemas.microsoft.com/office/drawing/2014/main" id="{25608589-88CF-5167-63D7-C0B06E1EB1D6}"/>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991BF574-7D54-30B9-C102-E446C101EDC5}"/>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C5CC79EB-440F-0B9E-A98C-6BFCFAC7F990}"/>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28F22C9A-3A29-0191-EB8F-CBD4D5718C47}"/>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52B64058-C0AA-1BD8-660A-E93DE32394CA}"/>
              </a:ext>
            </a:extLst>
          </p:cNvPr>
          <p:cNvSpPr/>
          <p:nvPr/>
        </p:nvSpPr>
        <p:spPr>
          <a:xfrm>
            <a:off x="1384300" y="1930400"/>
            <a:ext cx="909320" cy="342900"/>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3" name="TextBox 12">
            <a:extLst>
              <a:ext uri="{FF2B5EF4-FFF2-40B4-BE49-F238E27FC236}">
                <a16:creationId xmlns:a16="http://schemas.microsoft.com/office/drawing/2014/main" id="{517B6031-DF90-04AD-0058-763EB75222B4}"/>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96330A21-9117-96AF-4E80-D54AC5A37678}"/>
              </a:ext>
            </a:extLst>
          </p:cNvPr>
          <p:cNvSpPr/>
          <p:nvPr/>
        </p:nvSpPr>
        <p:spPr>
          <a:xfrm>
            <a:off x="1384300" y="2273300"/>
            <a:ext cx="909320" cy="342900"/>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5" name="Rectangle 14">
            <a:extLst>
              <a:ext uri="{FF2B5EF4-FFF2-40B4-BE49-F238E27FC236}">
                <a16:creationId xmlns:a16="http://schemas.microsoft.com/office/drawing/2014/main" id="{813D6CF5-B776-7722-8924-EB14DCA53C74}"/>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6" name="Rectangle 15">
            <a:extLst>
              <a:ext uri="{FF2B5EF4-FFF2-40B4-BE49-F238E27FC236}">
                <a16:creationId xmlns:a16="http://schemas.microsoft.com/office/drawing/2014/main" id="{D7B4856E-6293-EF4B-D32E-4F0D0164718B}"/>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F7C90DA4-2089-A196-1813-7AF913D9DB11}"/>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AEA74DD5-20B9-F6DE-8F13-5F083DAC6A42}"/>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1236B72F-6436-797E-2E86-BFEBCB1EBC6F}"/>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78E65F65-6FDB-A5EC-AB6F-D7FA1B725E96}"/>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F3756E80-14EF-3A67-0A03-1F031AAC2149}"/>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0D023051-91C5-7D2F-7259-FA3111B5F373}"/>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0004</a:t>
            </a:r>
          </a:p>
        </p:txBody>
      </p:sp>
      <p:sp>
        <p:nvSpPr>
          <p:cNvPr id="23" name="Rectangle 22">
            <a:extLst>
              <a:ext uri="{FF2B5EF4-FFF2-40B4-BE49-F238E27FC236}">
                <a16:creationId xmlns:a16="http://schemas.microsoft.com/office/drawing/2014/main" id="{8F5983DD-3783-2BC1-8DF5-4A12EF0C3271}"/>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34AB6A3C-8FF2-4456-BAF4-59E7BF15570F}"/>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21A0</a:t>
            </a:r>
          </a:p>
        </p:txBody>
      </p:sp>
      <p:sp>
        <p:nvSpPr>
          <p:cNvPr id="25" name="TextBox 24">
            <a:extLst>
              <a:ext uri="{FF2B5EF4-FFF2-40B4-BE49-F238E27FC236}">
                <a16:creationId xmlns:a16="http://schemas.microsoft.com/office/drawing/2014/main" id="{F6BDD1E4-B9E8-E1E4-0C63-C4F3EA50055C}"/>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BF9A90E5-479A-6E89-4E4A-A77A57704D0B}"/>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E45E1BFC-0851-4E6F-F8C6-613575FF1B40}"/>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1EBE7026-DEFA-84BF-E8F6-9DB57F8E658E}"/>
              </a:ext>
            </a:extLst>
          </p:cNvPr>
          <p:cNvSpPr/>
          <p:nvPr/>
        </p:nvSpPr>
        <p:spPr>
          <a:xfrm>
            <a:off x="1384300" y="46868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0C9E</a:t>
            </a:r>
          </a:p>
        </p:txBody>
      </p:sp>
      <p:sp>
        <p:nvSpPr>
          <p:cNvPr id="29" name="TextBox 28">
            <a:extLst>
              <a:ext uri="{FF2B5EF4-FFF2-40B4-BE49-F238E27FC236}">
                <a16:creationId xmlns:a16="http://schemas.microsoft.com/office/drawing/2014/main" id="{5AADE83E-C11D-1488-5D0F-91DB09AB8FD9}"/>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6023BDB6-870E-1123-E6F4-EA27E692B975}"/>
              </a:ext>
            </a:extLst>
          </p:cNvPr>
          <p:cNvSpPr/>
          <p:nvPr/>
        </p:nvSpPr>
        <p:spPr>
          <a:xfrm>
            <a:off x="1384300" y="50297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0CB2</a:t>
            </a:r>
          </a:p>
        </p:txBody>
      </p:sp>
      <p:sp>
        <p:nvSpPr>
          <p:cNvPr id="31" name="Rectangle 30">
            <a:extLst>
              <a:ext uri="{FF2B5EF4-FFF2-40B4-BE49-F238E27FC236}">
                <a16:creationId xmlns:a16="http://schemas.microsoft.com/office/drawing/2014/main" id="{A5626450-0330-143F-E7AA-84592E27693D}"/>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7689D275-8128-69D6-3167-1C70E56D24CD}"/>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4D186177-97C0-0348-79E2-2C6AD308F33D}"/>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071BAB0A-C972-90C8-819E-7A8C34A15C61}"/>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37345C29-D67B-7FD4-03EA-B6CF7EBFA590}"/>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3CE4AAF6-DA01-D9AC-03FA-7A53511678AF}"/>
              </a:ext>
            </a:extLst>
          </p:cNvPr>
          <p:cNvSpPr>
            <a:spLocks noGrp="1"/>
          </p:cNvSpPr>
          <p:nvPr>
            <p:ph idx="1"/>
          </p:nvPr>
        </p:nvSpPr>
        <p:spPr>
          <a:xfrm>
            <a:off x="2801814" y="351693"/>
            <a:ext cx="8768862" cy="4691240"/>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CALCULATE_NEXT_SETUP:	</a:t>
            </a:r>
          </a:p>
          <a:p>
            <a:pPr marL="0" indent="0">
              <a:spcBef>
                <a:spcPts val="200"/>
              </a:spcBef>
              <a:spcAft>
                <a:spcPts val="200"/>
              </a:spcAft>
              <a:buNone/>
            </a:pP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	071C	09AC		HTL    R9, R10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071E	DB01 1000	LWI    R11, BANNER_TARGET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0722	DC01 0C96	LWI    R12, WORKING_ADDRESS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0726	DD01 0CAA	LWI    R13, WORKING_ADDRESSI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072A	5BC1		MOVE   (R12)+, R11	; ROW 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072C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072E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0734	5BC1		MOVE   (R12)+, R11	; ROW 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0736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0738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073E	5BC1		MOVE   (R12)+, R11	; ROW 3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0740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0742	0203 D021 0A06 	CALL   IncreaseR11_by_Len, R2		</a:t>
            </a: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	0748	5BC1		MOVE   (R12)+, R11	; ROW 4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074A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074C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339354B5-C51F-489C-D67E-D51308A3760D}"/>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4" name="Rectangle 43">
            <a:extLst>
              <a:ext uri="{FF2B5EF4-FFF2-40B4-BE49-F238E27FC236}">
                <a16:creationId xmlns:a16="http://schemas.microsoft.com/office/drawing/2014/main" id="{66DD5B84-EBB2-C884-1780-92EFE00155CB}"/>
              </a:ext>
            </a:extLst>
          </p:cNvPr>
          <p:cNvSpPr/>
          <p:nvPr/>
        </p:nvSpPr>
        <p:spPr>
          <a:xfrm>
            <a:off x="11128251" y="2678470"/>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p>
        </p:txBody>
      </p:sp>
      <p:sp>
        <p:nvSpPr>
          <p:cNvPr id="45" name="TextBox 44">
            <a:extLst>
              <a:ext uri="{FF2B5EF4-FFF2-40B4-BE49-F238E27FC236}">
                <a16:creationId xmlns:a16="http://schemas.microsoft.com/office/drawing/2014/main" id="{BB4C26D1-608A-E00A-04A4-D974B2D5F663}"/>
              </a:ext>
            </a:extLst>
          </p:cNvPr>
          <p:cNvSpPr txBox="1"/>
          <p:nvPr/>
        </p:nvSpPr>
        <p:spPr>
          <a:xfrm>
            <a:off x="10408597" y="2678470"/>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47" name="Rectangle 46">
            <a:extLst>
              <a:ext uri="{FF2B5EF4-FFF2-40B4-BE49-F238E27FC236}">
                <a16:creationId xmlns:a16="http://schemas.microsoft.com/office/drawing/2014/main" id="{C4BBE609-1C41-5271-5612-F1C2F1CC79AC}"/>
              </a:ext>
            </a:extLst>
          </p:cNvPr>
          <p:cNvSpPr/>
          <p:nvPr/>
        </p:nvSpPr>
        <p:spPr>
          <a:xfrm>
            <a:off x="11128223" y="460284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p>
        </p:txBody>
      </p:sp>
      <p:sp>
        <p:nvSpPr>
          <p:cNvPr id="48" name="TextBox 47">
            <a:extLst>
              <a:ext uri="{FF2B5EF4-FFF2-40B4-BE49-F238E27FC236}">
                <a16:creationId xmlns:a16="http://schemas.microsoft.com/office/drawing/2014/main" id="{BA5B1BAD-B1C2-42C0-B07F-89DC3A320678}"/>
              </a:ext>
            </a:extLst>
          </p:cNvPr>
          <p:cNvSpPr txBox="1"/>
          <p:nvPr/>
        </p:nvSpPr>
        <p:spPr>
          <a:xfrm>
            <a:off x="10407040" y="460284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0CAA</a:t>
            </a:r>
          </a:p>
          <a:p>
            <a:r>
              <a:rPr lang="nn-NO" sz="1200" dirty="0">
                <a:latin typeface="Courier New" panose="02070309020205020404" pitchFamily="49" charset="0"/>
                <a:cs typeface="Courier New" panose="02070309020205020404" pitchFamily="49" charset="0"/>
              </a:rPr>
              <a:t>0CAC</a:t>
            </a:r>
          </a:p>
          <a:p>
            <a:r>
              <a:rPr lang="nn-NO" sz="1200" dirty="0">
                <a:latin typeface="Courier New" panose="02070309020205020404" pitchFamily="49" charset="0"/>
                <a:cs typeface="Courier New" panose="02070309020205020404" pitchFamily="49" charset="0"/>
              </a:rPr>
              <a:t>0CAE</a:t>
            </a:r>
          </a:p>
          <a:p>
            <a:r>
              <a:rPr lang="nn-NO" sz="1200" dirty="0">
                <a:latin typeface="Courier New" panose="02070309020205020404" pitchFamily="49" charset="0"/>
                <a:cs typeface="Courier New" panose="02070309020205020404" pitchFamily="49" charset="0"/>
              </a:rPr>
              <a:t>0CB0</a:t>
            </a:r>
          </a:p>
          <a:p>
            <a:r>
              <a:rPr lang="nn-NO" sz="1200" dirty="0">
                <a:latin typeface="Courier New" panose="02070309020205020404" pitchFamily="49" charset="0"/>
                <a:cs typeface="Courier New" panose="02070309020205020404" pitchFamily="49" charset="0"/>
              </a:rPr>
              <a:t>0CB2</a:t>
            </a:r>
          </a:p>
          <a:p>
            <a:r>
              <a:rPr lang="nn-NO" sz="1200" dirty="0">
                <a:latin typeface="Courier New" panose="02070309020205020404" pitchFamily="49" charset="0"/>
                <a:cs typeface="Courier New" panose="02070309020205020404" pitchFamily="49" charset="0"/>
              </a:rPr>
              <a:t>0CB4</a:t>
            </a:r>
          </a:p>
          <a:p>
            <a:r>
              <a:rPr lang="nn-NO" sz="1200" dirty="0">
                <a:latin typeface="Courier New" panose="02070309020205020404" pitchFamily="49" charset="0"/>
                <a:cs typeface="Courier New" panose="02070309020205020404" pitchFamily="49" charset="0"/>
              </a:rPr>
              <a:t>0CB6</a:t>
            </a:r>
          </a:p>
          <a:p>
            <a:r>
              <a:rPr lang="nn-NO" sz="1200" dirty="0">
                <a:latin typeface="Courier New" panose="02070309020205020404" pitchFamily="49" charset="0"/>
                <a:cs typeface="Courier New" panose="02070309020205020404" pitchFamily="49" charset="0"/>
              </a:rPr>
              <a:t>0CB8</a:t>
            </a:r>
          </a:p>
          <a:p>
            <a:r>
              <a:rPr lang="nn-NO" sz="1200" dirty="0">
                <a:latin typeface="Courier New" panose="02070309020205020404" pitchFamily="49" charset="0"/>
                <a:cs typeface="Courier New" panose="02070309020205020404" pitchFamily="49" charset="0"/>
              </a:rPr>
              <a:t>0CBA</a:t>
            </a:r>
          </a:p>
          <a:p>
            <a:r>
              <a:rPr lang="nn-NO" sz="1200" dirty="0">
                <a:latin typeface="Courier New" panose="02070309020205020404" pitchFamily="49" charset="0"/>
                <a:cs typeface="Courier New" panose="02070309020205020404" pitchFamily="49" charset="0"/>
              </a:rPr>
              <a:t>0CBC</a:t>
            </a:r>
          </a:p>
        </p:txBody>
      </p:sp>
      <p:sp>
        <p:nvSpPr>
          <p:cNvPr id="49" name="Rectangle 48">
            <a:extLst>
              <a:ext uri="{FF2B5EF4-FFF2-40B4-BE49-F238E27FC236}">
                <a16:creationId xmlns:a16="http://schemas.microsoft.com/office/drawing/2014/main" id="{8D25186F-2240-E1ED-D326-EF26B4C575B1}"/>
              </a:ext>
            </a:extLst>
          </p:cNvPr>
          <p:cNvSpPr/>
          <p:nvPr/>
        </p:nvSpPr>
        <p:spPr>
          <a:xfrm>
            <a:off x="6484447" y="1820016"/>
            <a:ext cx="3912455" cy="2866799"/>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965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F48A8-B477-5416-086A-DE21BB8D645C}"/>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ACA9806-C52B-7516-A77F-658B69BEE5D2}"/>
              </a:ext>
            </a:extLst>
          </p:cNvPr>
          <p:cNvSpPr>
            <a:spLocks noGrp="1"/>
          </p:cNvSpPr>
          <p:nvPr>
            <p:ph idx="1"/>
          </p:nvPr>
        </p:nvSpPr>
        <p:spPr>
          <a:xfrm>
            <a:off x="2801814" y="187976"/>
            <a:ext cx="8768862" cy="6154210"/>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074C	0203 D021 0A06	</a:t>
            </a:r>
            <a:r>
              <a:rPr lang="pt-BR" sz="1600" b="1" dirty="0">
                <a:solidFill>
                  <a:srgbClr val="FF0000"/>
                </a:solidFill>
                <a:latin typeface="Courier New" panose="02070309020205020404" pitchFamily="49" charset="0"/>
                <a:cs typeface="Courier New" panose="02070309020205020404" pitchFamily="49" charset="0"/>
              </a:rPr>
              <a:t>CALL   IncreaseR11_by_Len, R2		</a:t>
            </a:r>
          </a:p>
          <a:p>
            <a:pPr marL="0" indent="0">
              <a:spcBef>
                <a:spcPts val="200"/>
              </a:spcBef>
              <a:spcAft>
                <a:spcPts val="200"/>
              </a:spcAft>
              <a:buNone/>
            </a:pPr>
            <a:r>
              <a:rPr lang="pt-BR" sz="1600" b="1" dirty="0">
                <a:latin typeface="Courier New" panose="02070309020205020404" pitchFamily="49" charset="0"/>
                <a:cs typeface="Courier New" panose="02070309020205020404" pitchFamily="49" charset="0"/>
              </a:rPr>
              <a:t>	...</a:t>
            </a:r>
            <a:br>
              <a:rPr lang="pt-BR" sz="1600" b="1" dirty="0">
                <a:latin typeface="Courier New" panose="02070309020205020404" pitchFamily="49" charset="0"/>
                <a:cs typeface="Courier New" panose="02070309020205020404" pitchFamily="49" charset="0"/>
              </a:rPr>
            </a:br>
            <a:r>
              <a:rPr lang="pt-BR" sz="1600" b="1" dirty="0">
                <a:solidFill>
                  <a:srgbClr val="FF0000"/>
                </a:solidFill>
                <a:latin typeface="Courier New" panose="02070309020205020404" pitchFamily="49" charset="0"/>
                <a:cs typeface="Courier New" panose="02070309020205020404" pitchFamily="49" charset="0"/>
              </a:rPr>
              <a:t>IncreaseR11_by_Len:</a:t>
            </a:r>
            <a:r>
              <a:rPr lang="pt-BR" sz="1600" b="1" dirty="0">
                <a:latin typeface="Courier New" panose="02070309020205020404" pitchFamily="49" charset="0"/>
                <a:cs typeface="Courier New" panose="02070309020205020404" pitchFamily="49" charset="0"/>
              </a:rPr>
              <a:t>	</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0A06	0494	MOVE   R4, R9		</a:t>
            </a:r>
            <a:r>
              <a:rPr lang="pt-BR" sz="1600" dirty="0">
                <a:latin typeface="Courier New" panose="02070309020205020404" pitchFamily="49" charset="0"/>
                <a:cs typeface="Courier New" panose="02070309020205020404" pitchFamily="49" charset="0"/>
                <a:sym typeface="Wingdings" panose="05000000000000000000" pitchFamily="2" charset="2"/>
              </a:rPr>
              <a:t> R4 = R9</a:t>
            </a:r>
            <a:endParaRPr lang="pt-BR" sz="16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0A08	05A4	MOVE   R5, R10		</a:t>
            </a:r>
            <a:r>
              <a:rPr lang="pt-BR" sz="1600" dirty="0">
                <a:latin typeface="Courier New" panose="02070309020205020404" pitchFamily="49" charset="0"/>
                <a:cs typeface="Courier New" panose="02070309020205020404" pitchFamily="49" charset="0"/>
                <a:sym typeface="Wingdings" panose="05000000000000000000" pitchFamily="2" charset="2"/>
              </a:rPr>
              <a:t> R5 = R10</a:t>
            </a:r>
            <a:endParaRPr lang="pt-BR" sz="16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RepeatR11IncHi:	</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0A0A	C403	SZ     R4</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0A0C	A001	BRA    ContinueR11IncHi</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0A0E	A007	BRA    IncreaseR11ChkLo</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ContinueR11IncHi:	</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0A10	ABFE	ADDI   R11,#$FF</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0A12	AB00	ADDI   R11,#1</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0A14	0441	DEC    R4</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0A16	F00D	BRA    RepeatR11IncHi</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IncreaseR11ChkLo:	</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0A18	C503	SZ     R5</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0A1A	A001	BRA    ContinueR11IncLo</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0A1C	0024	</a:t>
            </a:r>
            <a:r>
              <a:rPr lang="pt-BR" sz="1600" b="1" dirty="0">
                <a:latin typeface="Courier New" panose="02070309020205020404" pitchFamily="49" charset="0"/>
                <a:cs typeface="Courier New" panose="02070309020205020404" pitchFamily="49" charset="0"/>
              </a:rPr>
              <a:t>RET    R2</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ContinueR11IncLo:	</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0A1E	AB00	ADDI   R11,#1</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0A20	0551	DEC    R5</a:t>
            </a:r>
          </a:p>
          <a:p>
            <a:pPr marL="0" indent="0">
              <a:spcBef>
                <a:spcPts val="200"/>
              </a:spcBef>
              <a:spcAft>
                <a:spcPts val="200"/>
              </a:spcAft>
              <a:buNone/>
            </a:pPr>
            <a:r>
              <a:rPr lang="pt-BR" sz="1600" dirty="0">
                <a:latin typeface="Courier New" panose="02070309020205020404" pitchFamily="49" charset="0"/>
                <a:cs typeface="Courier New" panose="02070309020205020404" pitchFamily="49" charset="0"/>
              </a:rPr>
              <a:t>	0A22	F00B	BRA    IncreaseR11ChkLo</a:t>
            </a:r>
          </a:p>
        </p:txBody>
      </p:sp>
      <p:sp>
        <p:nvSpPr>
          <p:cNvPr id="36" name="Rectangle 35">
            <a:extLst>
              <a:ext uri="{FF2B5EF4-FFF2-40B4-BE49-F238E27FC236}">
                <a16:creationId xmlns:a16="http://schemas.microsoft.com/office/drawing/2014/main" id="{9122B1B0-1C69-E3E2-E0BA-0C37F80CC582}"/>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074C</a:t>
            </a:r>
          </a:p>
        </p:txBody>
      </p:sp>
      <p:sp>
        <p:nvSpPr>
          <p:cNvPr id="37" name="TextBox 36">
            <a:extLst>
              <a:ext uri="{FF2B5EF4-FFF2-40B4-BE49-F238E27FC236}">
                <a16:creationId xmlns:a16="http://schemas.microsoft.com/office/drawing/2014/main" id="{71CF91A1-BCA2-9E3E-71B0-2C2EFBE63B52}"/>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38" name="Rectangle 37">
            <a:extLst>
              <a:ext uri="{FF2B5EF4-FFF2-40B4-BE49-F238E27FC236}">
                <a16:creationId xmlns:a16="http://schemas.microsoft.com/office/drawing/2014/main" id="{9C6EF4CD-3E41-09CC-CDF9-BA367AF51907}"/>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9" name="Rectangle 38">
            <a:extLst>
              <a:ext uri="{FF2B5EF4-FFF2-40B4-BE49-F238E27FC236}">
                <a16:creationId xmlns:a16="http://schemas.microsoft.com/office/drawing/2014/main" id="{B6F836DB-298A-6B97-08D4-364C4F138749}"/>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0" name="Rectangle 39">
            <a:extLst>
              <a:ext uri="{FF2B5EF4-FFF2-40B4-BE49-F238E27FC236}">
                <a16:creationId xmlns:a16="http://schemas.microsoft.com/office/drawing/2014/main" id="{3B15B32A-A460-D7A4-FFB1-FEB1EE496054}"/>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1" name="TextBox 40">
            <a:extLst>
              <a:ext uri="{FF2B5EF4-FFF2-40B4-BE49-F238E27FC236}">
                <a16:creationId xmlns:a16="http://schemas.microsoft.com/office/drawing/2014/main" id="{84E644BB-6634-5CCE-B721-BA167DE1F0A4}"/>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42" name="TextBox 41">
            <a:extLst>
              <a:ext uri="{FF2B5EF4-FFF2-40B4-BE49-F238E27FC236}">
                <a16:creationId xmlns:a16="http://schemas.microsoft.com/office/drawing/2014/main" id="{BA342EAA-50DD-CFD0-E73C-096554A40DFE}"/>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43" name="TextBox 42">
            <a:extLst>
              <a:ext uri="{FF2B5EF4-FFF2-40B4-BE49-F238E27FC236}">
                <a16:creationId xmlns:a16="http://schemas.microsoft.com/office/drawing/2014/main" id="{75BB77E2-2D7D-8DB0-B325-B5249EC6966B}"/>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44" name="Rectangle 43">
            <a:extLst>
              <a:ext uri="{FF2B5EF4-FFF2-40B4-BE49-F238E27FC236}">
                <a16:creationId xmlns:a16="http://schemas.microsoft.com/office/drawing/2014/main" id="{D88CAA6A-2870-C7F2-E35C-6492ED344927}"/>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0004</a:t>
            </a:r>
          </a:p>
        </p:txBody>
      </p:sp>
      <p:sp>
        <p:nvSpPr>
          <p:cNvPr id="45" name="TextBox 44">
            <a:extLst>
              <a:ext uri="{FF2B5EF4-FFF2-40B4-BE49-F238E27FC236}">
                <a16:creationId xmlns:a16="http://schemas.microsoft.com/office/drawing/2014/main" id="{3FC5C397-2EC4-B000-1AC8-911A0A9DE6B4}"/>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46" name="Rectangle 45">
            <a:extLst>
              <a:ext uri="{FF2B5EF4-FFF2-40B4-BE49-F238E27FC236}">
                <a16:creationId xmlns:a16="http://schemas.microsoft.com/office/drawing/2014/main" id="{5649AA88-9838-65CC-1F74-9B8E26311368}"/>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0468</a:t>
            </a:r>
          </a:p>
        </p:txBody>
      </p:sp>
      <p:sp>
        <p:nvSpPr>
          <p:cNvPr id="47" name="Rectangle 46">
            <a:extLst>
              <a:ext uri="{FF2B5EF4-FFF2-40B4-BE49-F238E27FC236}">
                <a16:creationId xmlns:a16="http://schemas.microsoft.com/office/drawing/2014/main" id="{388D37A4-6EF7-3A0D-C6EA-F626A6E5528C}"/>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8" name="Rectangle 47">
            <a:extLst>
              <a:ext uri="{FF2B5EF4-FFF2-40B4-BE49-F238E27FC236}">
                <a16:creationId xmlns:a16="http://schemas.microsoft.com/office/drawing/2014/main" id="{8E72CCAD-5A6A-EC68-EE13-EF0F0E227A9D}"/>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9" name="TextBox 48">
            <a:extLst>
              <a:ext uri="{FF2B5EF4-FFF2-40B4-BE49-F238E27FC236}">
                <a16:creationId xmlns:a16="http://schemas.microsoft.com/office/drawing/2014/main" id="{712AF787-2B5E-E8CA-8DD8-4B207E57A476}"/>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50" name="TextBox 49">
            <a:extLst>
              <a:ext uri="{FF2B5EF4-FFF2-40B4-BE49-F238E27FC236}">
                <a16:creationId xmlns:a16="http://schemas.microsoft.com/office/drawing/2014/main" id="{276AD0E4-8720-EA05-30DC-E6045CD33D84}"/>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51" name="TextBox 50">
            <a:extLst>
              <a:ext uri="{FF2B5EF4-FFF2-40B4-BE49-F238E27FC236}">
                <a16:creationId xmlns:a16="http://schemas.microsoft.com/office/drawing/2014/main" id="{DB09E1CD-F93C-FAB1-7CE2-392B5E5D9459}"/>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52" name="Rectangle 51">
            <a:extLst>
              <a:ext uri="{FF2B5EF4-FFF2-40B4-BE49-F238E27FC236}">
                <a16:creationId xmlns:a16="http://schemas.microsoft.com/office/drawing/2014/main" id="{DAB38117-31E4-0FD4-6907-853E9E35E81E}"/>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3" name="TextBox 52">
            <a:extLst>
              <a:ext uri="{FF2B5EF4-FFF2-40B4-BE49-F238E27FC236}">
                <a16:creationId xmlns:a16="http://schemas.microsoft.com/office/drawing/2014/main" id="{CDF76264-BC34-64E7-2985-AF23FEAFE1DA}"/>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54" name="Rectangle 53">
            <a:extLst>
              <a:ext uri="{FF2B5EF4-FFF2-40B4-BE49-F238E27FC236}">
                <a16:creationId xmlns:a16="http://schemas.microsoft.com/office/drawing/2014/main" id="{B47A17EB-8061-94AD-BC0E-9D08A40B1A17}"/>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0004</a:t>
            </a:r>
          </a:p>
        </p:txBody>
      </p:sp>
      <p:sp>
        <p:nvSpPr>
          <p:cNvPr id="55" name="Rectangle 54">
            <a:extLst>
              <a:ext uri="{FF2B5EF4-FFF2-40B4-BE49-F238E27FC236}">
                <a16:creationId xmlns:a16="http://schemas.microsoft.com/office/drawing/2014/main" id="{356E6C89-EE79-0F0D-3A11-DDA0BADEC1E0}"/>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57" name="TextBox 56">
            <a:extLst>
              <a:ext uri="{FF2B5EF4-FFF2-40B4-BE49-F238E27FC236}">
                <a16:creationId xmlns:a16="http://schemas.microsoft.com/office/drawing/2014/main" id="{60025E58-0581-76D4-8EF0-AA889C659A03}"/>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58" name="TextBox 57">
            <a:extLst>
              <a:ext uri="{FF2B5EF4-FFF2-40B4-BE49-F238E27FC236}">
                <a16:creationId xmlns:a16="http://schemas.microsoft.com/office/drawing/2014/main" id="{CCE0775B-4DDC-E477-6F7B-7B5367871D9E}"/>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63" name="Rectangle 62">
            <a:extLst>
              <a:ext uri="{FF2B5EF4-FFF2-40B4-BE49-F238E27FC236}">
                <a16:creationId xmlns:a16="http://schemas.microsoft.com/office/drawing/2014/main" id="{391F2A40-CCB9-66AB-DAD9-3BFB9EA224A3}"/>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4" name="Rectangle 63">
            <a:extLst>
              <a:ext uri="{FF2B5EF4-FFF2-40B4-BE49-F238E27FC236}">
                <a16:creationId xmlns:a16="http://schemas.microsoft.com/office/drawing/2014/main" id="{4E42D7B9-082B-057F-3736-9CB2500F0F8A}"/>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6" name="TextBox 65">
            <a:extLst>
              <a:ext uri="{FF2B5EF4-FFF2-40B4-BE49-F238E27FC236}">
                <a16:creationId xmlns:a16="http://schemas.microsoft.com/office/drawing/2014/main" id="{33F4981B-B961-6FC8-C564-E766D7E1A0B5}"/>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67" name="TextBox 66">
            <a:extLst>
              <a:ext uri="{FF2B5EF4-FFF2-40B4-BE49-F238E27FC236}">
                <a16:creationId xmlns:a16="http://schemas.microsoft.com/office/drawing/2014/main" id="{7F044DEA-2D37-1C12-03BD-C59793BC7375}"/>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68" name="TextBox 67">
            <a:extLst>
              <a:ext uri="{FF2B5EF4-FFF2-40B4-BE49-F238E27FC236}">
                <a16:creationId xmlns:a16="http://schemas.microsoft.com/office/drawing/2014/main" id="{C5ECE22A-26DB-CEEE-1573-2E715B38A89F}"/>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69" name="Rectangle 68">
            <a:extLst>
              <a:ext uri="{FF2B5EF4-FFF2-40B4-BE49-F238E27FC236}">
                <a16:creationId xmlns:a16="http://schemas.microsoft.com/office/drawing/2014/main" id="{DA1C1E92-847C-6A02-E6EC-C4DA28C15489}"/>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1D38</a:t>
            </a:r>
          </a:p>
        </p:txBody>
      </p:sp>
      <p:sp>
        <p:nvSpPr>
          <p:cNvPr id="70" name="TextBox 69">
            <a:extLst>
              <a:ext uri="{FF2B5EF4-FFF2-40B4-BE49-F238E27FC236}">
                <a16:creationId xmlns:a16="http://schemas.microsoft.com/office/drawing/2014/main" id="{43430E1A-D58B-A79F-621D-AC28FADD8E6E}"/>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71" name="Rectangle 70">
            <a:extLst>
              <a:ext uri="{FF2B5EF4-FFF2-40B4-BE49-F238E27FC236}">
                <a16:creationId xmlns:a16="http://schemas.microsoft.com/office/drawing/2014/main" id="{33CC481E-767C-080E-7C24-B36E614A9868}"/>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0C9E</a:t>
            </a:r>
          </a:p>
        </p:txBody>
      </p:sp>
      <p:sp>
        <p:nvSpPr>
          <p:cNvPr id="72" name="TextBox 71">
            <a:extLst>
              <a:ext uri="{FF2B5EF4-FFF2-40B4-BE49-F238E27FC236}">
                <a16:creationId xmlns:a16="http://schemas.microsoft.com/office/drawing/2014/main" id="{E64A1B5F-8121-076E-033F-FC2D1D2E547B}"/>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73" name="Rectangle 72">
            <a:extLst>
              <a:ext uri="{FF2B5EF4-FFF2-40B4-BE49-F238E27FC236}">
                <a16:creationId xmlns:a16="http://schemas.microsoft.com/office/drawing/2014/main" id="{913FFC70-0E11-A673-994D-5A9E2EB6A4EA}"/>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0CB2</a:t>
            </a:r>
          </a:p>
        </p:txBody>
      </p:sp>
      <p:sp>
        <p:nvSpPr>
          <p:cNvPr id="74" name="TextBox 73">
            <a:extLst>
              <a:ext uri="{FF2B5EF4-FFF2-40B4-BE49-F238E27FC236}">
                <a16:creationId xmlns:a16="http://schemas.microsoft.com/office/drawing/2014/main" id="{D902F499-907A-89A4-FF9F-25F8EDB60629}"/>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75" name="Rectangle 74">
            <a:extLst>
              <a:ext uri="{FF2B5EF4-FFF2-40B4-BE49-F238E27FC236}">
                <a16:creationId xmlns:a16="http://schemas.microsoft.com/office/drawing/2014/main" id="{9556A6EC-93EC-E185-29B5-6022B4A16167}"/>
              </a:ext>
            </a:extLst>
          </p:cNvPr>
          <p:cNvSpPr/>
          <p:nvPr/>
        </p:nvSpPr>
        <p:spPr>
          <a:xfrm>
            <a:off x="4888523" y="1599223"/>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2078AB8D-9503-EAE3-F46D-7BF3A19FD578}"/>
              </a:ext>
            </a:extLst>
          </p:cNvPr>
          <p:cNvSpPr/>
          <p:nvPr/>
        </p:nvSpPr>
        <p:spPr>
          <a:xfrm>
            <a:off x="8378483" y="3745542"/>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E5C70CF6-95B3-B7DB-9BDF-1B4F0E54F858}"/>
              </a:ext>
            </a:extLst>
          </p:cNvPr>
          <p:cNvSpPr/>
          <p:nvPr/>
        </p:nvSpPr>
        <p:spPr>
          <a:xfrm>
            <a:off x="5145698" y="4013228"/>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EBF5ABF5-3D43-E0F0-7043-E989F2FCB419}"/>
              </a:ext>
            </a:extLst>
          </p:cNvPr>
          <p:cNvSpPr/>
          <p:nvPr/>
        </p:nvSpPr>
        <p:spPr>
          <a:xfrm>
            <a:off x="8631848" y="5886966"/>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Arrow Connector 79">
            <a:extLst>
              <a:ext uri="{FF2B5EF4-FFF2-40B4-BE49-F238E27FC236}">
                <a16:creationId xmlns:a16="http://schemas.microsoft.com/office/drawing/2014/main" id="{F71E4D3C-C62E-C68D-BBE1-6C3DC316F450}"/>
              </a:ext>
            </a:extLst>
          </p:cNvPr>
          <p:cNvCxnSpPr>
            <a:stCxn id="76" idx="3"/>
            <a:endCxn id="75" idx="3"/>
          </p:cNvCxnSpPr>
          <p:nvPr/>
        </p:nvCxnSpPr>
        <p:spPr>
          <a:xfrm flipH="1" flipV="1">
            <a:off x="5052646" y="1678842"/>
            <a:ext cx="3489960" cy="2146319"/>
          </a:xfrm>
          <a:prstGeom prst="bentConnector3">
            <a:avLst>
              <a:gd name="adj1" fmla="val -6550"/>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79">
            <a:extLst>
              <a:ext uri="{FF2B5EF4-FFF2-40B4-BE49-F238E27FC236}">
                <a16:creationId xmlns:a16="http://schemas.microsoft.com/office/drawing/2014/main" id="{6F01FC36-624D-8661-4455-C8BA983240B4}"/>
              </a:ext>
            </a:extLst>
          </p:cNvPr>
          <p:cNvCxnSpPr>
            <a:cxnSpLocks/>
            <a:stCxn id="78" idx="3"/>
            <a:endCxn id="77" idx="3"/>
          </p:cNvCxnSpPr>
          <p:nvPr/>
        </p:nvCxnSpPr>
        <p:spPr>
          <a:xfrm flipH="1" flipV="1">
            <a:off x="5309821" y="4092847"/>
            <a:ext cx="3486150" cy="1873738"/>
          </a:xfrm>
          <a:prstGeom prst="bentConnector3">
            <a:avLst>
              <a:gd name="adj1" fmla="val -6557"/>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3AF10CA7-8F43-600D-431E-973E28DC54E3}"/>
              </a:ext>
            </a:extLst>
          </p:cNvPr>
          <p:cNvSpPr/>
          <p:nvPr/>
        </p:nvSpPr>
        <p:spPr>
          <a:xfrm>
            <a:off x="6904159" y="4844816"/>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DD29C9B8-00F7-085E-DA1D-02FD91E641D2}"/>
              </a:ext>
            </a:extLst>
          </p:cNvPr>
          <p:cNvSpPr/>
          <p:nvPr/>
        </p:nvSpPr>
        <p:spPr>
          <a:xfrm>
            <a:off x="9870097" y="650631"/>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Arrow Connector 79">
            <a:extLst>
              <a:ext uri="{FF2B5EF4-FFF2-40B4-BE49-F238E27FC236}">
                <a16:creationId xmlns:a16="http://schemas.microsoft.com/office/drawing/2014/main" id="{EFF0160C-3E98-AAEC-DFD1-0CBC19386CA2}"/>
              </a:ext>
            </a:extLst>
          </p:cNvPr>
          <p:cNvCxnSpPr>
            <a:cxnSpLocks/>
            <a:stCxn id="84" idx="3"/>
            <a:endCxn id="85" idx="2"/>
          </p:cNvCxnSpPr>
          <p:nvPr/>
        </p:nvCxnSpPr>
        <p:spPr>
          <a:xfrm flipV="1">
            <a:off x="7068282" y="809869"/>
            <a:ext cx="2883877" cy="4114566"/>
          </a:xfrm>
          <a:prstGeom prst="bentConnector2">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90" name="Right Brace 89">
            <a:extLst>
              <a:ext uri="{FF2B5EF4-FFF2-40B4-BE49-F238E27FC236}">
                <a16:creationId xmlns:a16="http://schemas.microsoft.com/office/drawing/2014/main" id="{F902DCC7-ED01-37F5-3B87-CEA428EC37EA}"/>
              </a:ext>
            </a:extLst>
          </p:cNvPr>
          <p:cNvSpPr/>
          <p:nvPr/>
        </p:nvSpPr>
        <p:spPr>
          <a:xfrm>
            <a:off x="7530123" y="2932668"/>
            <a:ext cx="187569" cy="496332"/>
          </a:xfrm>
          <a:prstGeom prst="rightBrace">
            <a:avLst>
              <a:gd name="adj1" fmla="val 3372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1" name="TextBox 90">
            <a:extLst>
              <a:ext uri="{FF2B5EF4-FFF2-40B4-BE49-F238E27FC236}">
                <a16:creationId xmlns:a16="http://schemas.microsoft.com/office/drawing/2014/main" id="{2E4B3FAC-7E38-A453-7309-1A3E04FB9A02}"/>
              </a:ext>
            </a:extLst>
          </p:cNvPr>
          <p:cNvSpPr txBox="1"/>
          <p:nvPr/>
        </p:nvSpPr>
        <p:spPr>
          <a:xfrm>
            <a:off x="7723364" y="2996168"/>
            <a:ext cx="535724" cy="369332"/>
          </a:xfrm>
          <a:prstGeom prst="rect">
            <a:avLst/>
          </a:prstGeom>
          <a:noFill/>
        </p:spPr>
        <p:txBody>
          <a:bodyPr wrap="none" rtlCol="0">
            <a:spAutoFit/>
          </a:bodyPr>
          <a:lstStyle/>
          <a:p>
            <a:r>
              <a:rPr lang="en-US" dirty="0"/>
              <a:t>256</a:t>
            </a:r>
          </a:p>
        </p:txBody>
      </p:sp>
      <p:sp>
        <p:nvSpPr>
          <p:cNvPr id="92" name="TextBox 91">
            <a:extLst>
              <a:ext uri="{FF2B5EF4-FFF2-40B4-BE49-F238E27FC236}">
                <a16:creationId xmlns:a16="http://schemas.microsoft.com/office/drawing/2014/main" id="{A66D0C98-0306-5547-0BAE-65CA78DF2468}"/>
              </a:ext>
            </a:extLst>
          </p:cNvPr>
          <p:cNvSpPr txBox="1"/>
          <p:nvPr/>
        </p:nvSpPr>
        <p:spPr>
          <a:xfrm>
            <a:off x="9389452" y="5791308"/>
            <a:ext cx="2515675" cy="646331"/>
          </a:xfrm>
          <a:prstGeom prst="rect">
            <a:avLst/>
          </a:prstGeom>
          <a:solidFill>
            <a:srgbClr val="FFC000"/>
          </a:solidFill>
        </p:spPr>
        <p:txBody>
          <a:bodyPr wrap="square" rtlCol="0">
            <a:spAutoFit/>
          </a:bodyPr>
          <a:lstStyle/>
          <a:p>
            <a:pPr algn="ctr"/>
            <a:r>
              <a:rPr lang="en-US" dirty="0"/>
              <a:t>R11=(LoR4*256)+LoR5</a:t>
            </a:r>
            <a:br>
              <a:rPr lang="en-US" dirty="0"/>
            </a:br>
            <a:r>
              <a:rPr lang="en-US" dirty="0"/>
              <a:t>(full word addition)</a:t>
            </a:r>
          </a:p>
        </p:txBody>
      </p:sp>
      <p:sp>
        <p:nvSpPr>
          <p:cNvPr id="93" name="Rectangle 92">
            <a:extLst>
              <a:ext uri="{FF2B5EF4-FFF2-40B4-BE49-F238E27FC236}">
                <a16:creationId xmlns:a16="http://schemas.microsoft.com/office/drawing/2014/main" id="{ABCF5F8A-F9FE-9977-3FBB-5AF8A8942506}"/>
              </a:ext>
            </a:extLst>
          </p:cNvPr>
          <p:cNvSpPr/>
          <p:nvPr/>
        </p:nvSpPr>
        <p:spPr>
          <a:xfrm>
            <a:off x="5560840" y="1000776"/>
            <a:ext cx="4309257" cy="560292"/>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Arrow Connector 93">
            <a:extLst>
              <a:ext uri="{FF2B5EF4-FFF2-40B4-BE49-F238E27FC236}">
                <a16:creationId xmlns:a16="http://schemas.microsoft.com/office/drawing/2014/main" id="{ACE3AC91-C454-4A3B-6827-38CF6B29837E}"/>
              </a:ext>
            </a:extLst>
          </p:cNvPr>
          <p:cNvCxnSpPr>
            <a:cxnSpLocks/>
          </p:cNvCxnSpPr>
          <p:nvPr/>
        </p:nvCxnSpPr>
        <p:spPr>
          <a:xfrm flipV="1">
            <a:off x="2179320" y="396240"/>
            <a:ext cx="1562100" cy="3124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28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B575-7FF6-162D-9D43-C35CAC14312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E77D150-53FD-423E-1E14-B678FEAE0080}"/>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078C</a:t>
            </a:r>
          </a:p>
        </p:txBody>
      </p:sp>
      <p:sp>
        <p:nvSpPr>
          <p:cNvPr id="5" name="TextBox 4">
            <a:extLst>
              <a:ext uri="{FF2B5EF4-FFF2-40B4-BE49-F238E27FC236}">
                <a16:creationId xmlns:a16="http://schemas.microsoft.com/office/drawing/2014/main" id="{0B1C6579-EA79-4292-2FC0-5565561633E7}"/>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49255C6B-B9CD-9072-0FFB-5CF5E7147733}"/>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0A1C</a:t>
            </a:r>
          </a:p>
        </p:txBody>
      </p:sp>
      <p:sp>
        <p:nvSpPr>
          <p:cNvPr id="7" name="Rectangle 6">
            <a:extLst>
              <a:ext uri="{FF2B5EF4-FFF2-40B4-BE49-F238E27FC236}">
                <a16:creationId xmlns:a16="http://schemas.microsoft.com/office/drawing/2014/main" id="{12E7893D-4409-AA6B-C10E-63A1FB73634B}"/>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A7412857-BB7B-52D2-4B3B-0DB1E06ACB29}"/>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0E02</a:t>
            </a:r>
          </a:p>
        </p:txBody>
      </p:sp>
      <p:sp>
        <p:nvSpPr>
          <p:cNvPr id="9" name="TextBox 8">
            <a:extLst>
              <a:ext uri="{FF2B5EF4-FFF2-40B4-BE49-F238E27FC236}">
                <a16:creationId xmlns:a16="http://schemas.microsoft.com/office/drawing/2014/main" id="{95EC4C1D-9859-1541-7E00-0DDA9B307E1D}"/>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660AF978-7F0D-1699-5157-A31A7E1264AB}"/>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B518F59A-F815-039F-04D3-7039496B64D5}"/>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B5598524-AF32-6616-AA5C-909752D114C3}"/>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3" name="TextBox 12">
            <a:extLst>
              <a:ext uri="{FF2B5EF4-FFF2-40B4-BE49-F238E27FC236}">
                <a16:creationId xmlns:a16="http://schemas.microsoft.com/office/drawing/2014/main" id="{8DC68A2F-9732-2DF2-FD5A-C0B14A93728A}"/>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39F5DA02-838A-B894-024B-B73F152532C0}"/>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0400</a:t>
            </a:r>
          </a:p>
        </p:txBody>
      </p:sp>
      <p:sp>
        <p:nvSpPr>
          <p:cNvPr id="15" name="Rectangle 14">
            <a:extLst>
              <a:ext uri="{FF2B5EF4-FFF2-40B4-BE49-F238E27FC236}">
                <a16:creationId xmlns:a16="http://schemas.microsoft.com/office/drawing/2014/main" id="{799F0B67-3AA8-9E12-32DD-ACECDC92A54B}"/>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6" name="Rectangle 15">
            <a:extLst>
              <a:ext uri="{FF2B5EF4-FFF2-40B4-BE49-F238E27FC236}">
                <a16:creationId xmlns:a16="http://schemas.microsoft.com/office/drawing/2014/main" id="{9BD3A10F-21A3-22B7-3259-E16CA7F79DC7}"/>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31D4D8E8-4B50-ABA9-BBA0-DB5414C8BF44}"/>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331620AB-E3F3-0982-B11A-914717DC3786}"/>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34E5ADEB-6991-CF93-A7AC-3E6522A664A6}"/>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E722CE59-D795-1266-95CD-ED83763C892D}"/>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8299E2D1-E457-1D9E-B425-F8D7D326E229}"/>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3BE66516-3FD9-C49C-C382-D69E5A62C514}"/>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0004</a:t>
            </a:r>
          </a:p>
        </p:txBody>
      </p:sp>
      <p:sp>
        <p:nvSpPr>
          <p:cNvPr id="23" name="Rectangle 22">
            <a:extLst>
              <a:ext uri="{FF2B5EF4-FFF2-40B4-BE49-F238E27FC236}">
                <a16:creationId xmlns:a16="http://schemas.microsoft.com/office/drawing/2014/main" id="{C14F3A2D-086A-99AA-DF41-00DDC4F1F38B}"/>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20524847-A547-67E0-A98B-896D0694B806}"/>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37A8</a:t>
            </a:r>
          </a:p>
        </p:txBody>
      </p:sp>
      <p:sp>
        <p:nvSpPr>
          <p:cNvPr id="25" name="TextBox 24">
            <a:extLst>
              <a:ext uri="{FF2B5EF4-FFF2-40B4-BE49-F238E27FC236}">
                <a16:creationId xmlns:a16="http://schemas.microsoft.com/office/drawing/2014/main" id="{72087C19-FA95-5CE8-1AB4-6D12BBB03EA3}"/>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A2B9FBDA-4BCE-76CC-FE36-64A39E6E2BF2}"/>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9BA98DAA-89A9-5146-271F-242E42ABB442}"/>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B0BF6DDD-B4A6-6948-344F-278A617BEB4A}"/>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B8BEBCD1-B0F8-981B-3F4D-3093E7F3DB40}"/>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73E3C7AE-0F35-02BF-9C93-9C1137337AD5}"/>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39A374A4-79AA-27D2-73F8-E6F08ED25499}"/>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C279B617-85F8-B3BA-C113-887EBFAD346C}"/>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275A8CE7-49F9-4A83-8107-F08C60031BA9}"/>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C7F21770-3488-5174-6BA8-6A3AA31E53F2}"/>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42A0A028-AD70-70A6-E5C6-B3C6D93571EC}"/>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A3A95527-BA02-3D1F-ED1C-C9F3095DE684}"/>
              </a:ext>
            </a:extLst>
          </p:cNvPr>
          <p:cNvSpPr>
            <a:spLocks noGrp="1"/>
          </p:cNvSpPr>
          <p:nvPr>
            <p:ph idx="1"/>
          </p:nvPr>
        </p:nvSpPr>
        <p:spPr>
          <a:xfrm>
            <a:off x="2801814" y="351693"/>
            <a:ext cx="8768862" cy="525193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a:t>
            </a: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	0752	5BC1		MOVE   (R12)+, R11	ROW 5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0754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0756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075C	5BC1		MOVE   (R12)+, R11	ROW 6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075E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0760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0766	5BC1		MOVE   (R12)+, R11	ROW 7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0768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076A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0770	5BC1		MOVE   (R12)+, R11	ROW 8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0772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0774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077A	5BC1		MOVE   (R12)+, R11	ROW 9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077C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077E	0203 D021 0A06	CALL   IncreaseR11_by_Len, 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0784	5BC1		MOVE   (R12)+, R11	ROW 10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0786	5BD1		MOVE   (R13)+, R11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0788	D301 0E02	LWI    R3, BANNER_STRING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CALCULATE_NEXT:	</a:t>
            </a: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	078C	...</a:t>
            </a:r>
          </a:p>
        </p:txBody>
      </p:sp>
      <p:sp>
        <p:nvSpPr>
          <p:cNvPr id="3" name="TextBox 2">
            <a:extLst>
              <a:ext uri="{FF2B5EF4-FFF2-40B4-BE49-F238E27FC236}">
                <a16:creationId xmlns:a16="http://schemas.microsoft.com/office/drawing/2014/main" id="{5736891E-2D04-450C-6056-41D5E952DF70}"/>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4" name="Rectangle 43">
            <a:extLst>
              <a:ext uri="{FF2B5EF4-FFF2-40B4-BE49-F238E27FC236}">
                <a16:creationId xmlns:a16="http://schemas.microsoft.com/office/drawing/2014/main" id="{A57F0FC5-415C-531D-B052-B272C60C9CBA}"/>
              </a:ext>
            </a:extLst>
          </p:cNvPr>
          <p:cNvSpPr/>
          <p:nvPr/>
        </p:nvSpPr>
        <p:spPr>
          <a:xfrm>
            <a:off x="11128251" y="2678470"/>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5" name="TextBox 44">
            <a:extLst>
              <a:ext uri="{FF2B5EF4-FFF2-40B4-BE49-F238E27FC236}">
                <a16:creationId xmlns:a16="http://schemas.microsoft.com/office/drawing/2014/main" id="{CB57B445-A364-7263-F7D0-29A5A4D05FC2}"/>
              </a:ext>
            </a:extLst>
          </p:cNvPr>
          <p:cNvSpPr txBox="1"/>
          <p:nvPr/>
        </p:nvSpPr>
        <p:spPr>
          <a:xfrm>
            <a:off x="10408597" y="2678470"/>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47" name="Rectangle 46">
            <a:extLst>
              <a:ext uri="{FF2B5EF4-FFF2-40B4-BE49-F238E27FC236}">
                <a16:creationId xmlns:a16="http://schemas.microsoft.com/office/drawing/2014/main" id="{23C7B981-2B91-542B-2D4C-7096DB3709F9}"/>
              </a:ext>
            </a:extLst>
          </p:cNvPr>
          <p:cNvSpPr/>
          <p:nvPr/>
        </p:nvSpPr>
        <p:spPr>
          <a:xfrm>
            <a:off x="11128223" y="460284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8" name="TextBox 47">
            <a:extLst>
              <a:ext uri="{FF2B5EF4-FFF2-40B4-BE49-F238E27FC236}">
                <a16:creationId xmlns:a16="http://schemas.microsoft.com/office/drawing/2014/main" id="{6BDDB6FD-26CD-9963-7AE6-74B518038B45}"/>
              </a:ext>
            </a:extLst>
          </p:cNvPr>
          <p:cNvSpPr txBox="1"/>
          <p:nvPr/>
        </p:nvSpPr>
        <p:spPr>
          <a:xfrm>
            <a:off x="10407040" y="460284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0CAA</a:t>
            </a:r>
          </a:p>
          <a:p>
            <a:r>
              <a:rPr lang="nn-NO" sz="1200" dirty="0">
                <a:latin typeface="Courier New" panose="02070309020205020404" pitchFamily="49" charset="0"/>
                <a:cs typeface="Courier New" panose="02070309020205020404" pitchFamily="49" charset="0"/>
              </a:rPr>
              <a:t>0CAC</a:t>
            </a:r>
          </a:p>
          <a:p>
            <a:r>
              <a:rPr lang="nn-NO" sz="1200" dirty="0">
                <a:latin typeface="Courier New" panose="02070309020205020404" pitchFamily="49" charset="0"/>
                <a:cs typeface="Courier New" panose="02070309020205020404" pitchFamily="49" charset="0"/>
              </a:rPr>
              <a:t>0CAE</a:t>
            </a:r>
          </a:p>
          <a:p>
            <a:r>
              <a:rPr lang="nn-NO" sz="1200" dirty="0">
                <a:latin typeface="Courier New" panose="02070309020205020404" pitchFamily="49" charset="0"/>
                <a:cs typeface="Courier New" panose="02070309020205020404" pitchFamily="49" charset="0"/>
              </a:rPr>
              <a:t>0CB0</a:t>
            </a:r>
          </a:p>
          <a:p>
            <a:r>
              <a:rPr lang="nn-NO" sz="1200" dirty="0">
                <a:latin typeface="Courier New" panose="02070309020205020404" pitchFamily="49" charset="0"/>
                <a:cs typeface="Courier New" panose="02070309020205020404" pitchFamily="49" charset="0"/>
              </a:rPr>
              <a:t>0CB2</a:t>
            </a:r>
          </a:p>
          <a:p>
            <a:r>
              <a:rPr lang="nn-NO" sz="1200" dirty="0">
                <a:latin typeface="Courier New" panose="02070309020205020404" pitchFamily="49" charset="0"/>
                <a:cs typeface="Courier New" panose="02070309020205020404" pitchFamily="49" charset="0"/>
              </a:rPr>
              <a:t>0CB4</a:t>
            </a:r>
          </a:p>
          <a:p>
            <a:r>
              <a:rPr lang="nn-NO" sz="1200" dirty="0">
                <a:latin typeface="Courier New" panose="02070309020205020404" pitchFamily="49" charset="0"/>
                <a:cs typeface="Courier New" panose="02070309020205020404" pitchFamily="49" charset="0"/>
              </a:rPr>
              <a:t>0CB6</a:t>
            </a:r>
          </a:p>
          <a:p>
            <a:r>
              <a:rPr lang="nn-NO" sz="1200" dirty="0">
                <a:latin typeface="Courier New" panose="02070309020205020404" pitchFamily="49" charset="0"/>
                <a:cs typeface="Courier New" panose="02070309020205020404" pitchFamily="49" charset="0"/>
              </a:rPr>
              <a:t>0CB8</a:t>
            </a:r>
          </a:p>
          <a:p>
            <a:r>
              <a:rPr lang="nn-NO" sz="1200" dirty="0">
                <a:latin typeface="Courier New" panose="02070309020205020404" pitchFamily="49" charset="0"/>
                <a:cs typeface="Courier New" panose="02070309020205020404" pitchFamily="49" charset="0"/>
              </a:rPr>
              <a:t>0CBA</a:t>
            </a:r>
          </a:p>
          <a:p>
            <a:r>
              <a:rPr lang="nn-NO" sz="1200" dirty="0">
                <a:latin typeface="Courier New" panose="02070309020205020404" pitchFamily="49" charset="0"/>
                <a:cs typeface="Courier New" panose="02070309020205020404" pitchFamily="49" charset="0"/>
              </a:rPr>
              <a:t>0CBC</a:t>
            </a:r>
          </a:p>
        </p:txBody>
      </p:sp>
      <p:sp>
        <p:nvSpPr>
          <p:cNvPr id="36" name="Rectangle 35">
            <a:extLst>
              <a:ext uri="{FF2B5EF4-FFF2-40B4-BE49-F238E27FC236}">
                <a16:creationId xmlns:a16="http://schemas.microsoft.com/office/drawing/2014/main" id="{BCCEFFA0-A9B1-80D7-02E2-5A5E9484484A}"/>
              </a:ext>
            </a:extLst>
          </p:cNvPr>
          <p:cNvSpPr/>
          <p:nvPr/>
        </p:nvSpPr>
        <p:spPr>
          <a:xfrm>
            <a:off x="6484447" y="557307"/>
            <a:ext cx="3912455" cy="4454787"/>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D7EAE71B-A84E-2083-C959-B08FB6D54118}"/>
              </a:ext>
            </a:extLst>
          </p:cNvPr>
          <p:cNvCxnSpPr>
            <a:cxnSpLocks/>
          </p:cNvCxnSpPr>
          <p:nvPr/>
        </p:nvCxnSpPr>
        <p:spPr>
          <a:xfrm>
            <a:off x="2192215" y="799584"/>
            <a:ext cx="1586035" cy="44391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DC0E3F1-CB6C-0616-5B4D-AA5B090798E3}"/>
              </a:ext>
            </a:extLst>
          </p:cNvPr>
          <p:cNvCxnSpPr>
            <a:cxnSpLocks/>
            <a:stCxn id="8" idx="3"/>
          </p:cNvCxnSpPr>
          <p:nvPr/>
        </p:nvCxnSpPr>
        <p:spPr>
          <a:xfrm>
            <a:off x="2293620" y="1758950"/>
            <a:ext cx="2980745" cy="3025085"/>
          </a:xfrm>
          <a:prstGeom prst="straightConnector1">
            <a:avLst/>
          </a:prstGeom>
          <a:ln>
            <a:solidFill>
              <a:srgbClr val="FF0000"/>
            </a:solidFill>
            <a:prstDash val="lgDash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78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8961F-040B-90A0-9E32-043C416BBF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C9E852-64D4-80E5-CCE8-1BDC66791BF1}"/>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0792</a:t>
            </a:r>
          </a:p>
        </p:txBody>
      </p:sp>
      <p:sp>
        <p:nvSpPr>
          <p:cNvPr id="5" name="TextBox 4">
            <a:extLst>
              <a:ext uri="{FF2B5EF4-FFF2-40B4-BE49-F238E27FC236}">
                <a16:creationId xmlns:a16="http://schemas.microsoft.com/office/drawing/2014/main" id="{8FB67979-10F8-5095-75AB-86832F56FF94}"/>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4BAC4CDE-CA80-EE59-B93A-24A127BA4A2F}"/>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0A1C</a:t>
            </a:r>
          </a:p>
        </p:txBody>
      </p:sp>
      <p:sp>
        <p:nvSpPr>
          <p:cNvPr id="7" name="Rectangle 6">
            <a:extLst>
              <a:ext uri="{FF2B5EF4-FFF2-40B4-BE49-F238E27FC236}">
                <a16:creationId xmlns:a16="http://schemas.microsoft.com/office/drawing/2014/main" id="{8664411B-AE2E-4DA2-E2B0-96DE4494C7B9}"/>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8735D585-54D9-3E10-FB07-4B760C96EF06}"/>
              </a:ext>
            </a:extLst>
          </p:cNvPr>
          <p:cNvSpPr/>
          <p:nvPr/>
        </p:nvSpPr>
        <p:spPr>
          <a:xfrm>
            <a:off x="1384300" y="15875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94179FB0-2955-1E1E-B7B3-C27783F0B64B}"/>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61F82547-CACF-95A7-288E-ED42AA8B0041}"/>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2968BA98-AB45-61FD-1FE0-719DC3637EF3}"/>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8AE3FA85-8D7A-6844-BD79-C7D6AFBAA9DF}"/>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0001</a:t>
            </a:r>
          </a:p>
        </p:txBody>
      </p:sp>
      <p:sp>
        <p:nvSpPr>
          <p:cNvPr id="13" name="TextBox 12">
            <a:extLst>
              <a:ext uri="{FF2B5EF4-FFF2-40B4-BE49-F238E27FC236}">
                <a16:creationId xmlns:a16="http://schemas.microsoft.com/office/drawing/2014/main" id="{309BFAF3-59C5-8407-83ED-95388A9C0C3F}"/>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707D4F9C-08F5-A3CE-2CF4-F1FE75CA45CC}"/>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01BC</a:t>
            </a:r>
          </a:p>
        </p:txBody>
      </p:sp>
      <p:sp>
        <p:nvSpPr>
          <p:cNvPr id="15" name="Rectangle 14">
            <a:extLst>
              <a:ext uri="{FF2B5EF4-FFF2-40B4-BE49-F238E27FC236}">
                <a16:creationId xmlns:a16="http://schemas.microsoft.com/office/drawing/2014/main" id="{9CC9885E-8AB3-60F4-7E08-E95CB69EB590}"/>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--FF</a:t>
            </a:r>
          </a:p>
        </p:txBody>
      </p:sp>
      <p:sp>
        <p:nvSpPr>
          <p:cNvPr id="16" name="Rectangle 15">
            <a:extLst>
              <a:ext uri="{FF2B5EF4-FFF2-40B4-BE49-F238E27FC236}">
                <a16:creationId xmlns:a16="http://schemas.microsoft.com/office/drawing/2014/main" id="{81FDD83F-9E7D-F1F8-6542-751308CF6A14}"/>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199A35B1-1D23-01D8-97BD-8FB5357636FA}"/>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44D530BD-9231-DAE3-FBA3-043A8200239C}"/>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BE1741D1-AFC8-C2F0-C5ED-1A1BC8F56B23}"/>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15F1FE62-2951-C374-28E1-F2DA327BBA73}"/>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86F41EDC-EBF9-F55D-71FE-BF850664031F}"/>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DFC2C4EE-9028-E76C-BCB1-A3E5C4F50A25}"/>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0004</a:t>
            </a:r>
          </a:p>
        </p:txBody>
      </p:sp>
      <p:sp>
        <p:nvSpPr>
          <p:cNvPr id="23" name="Rectangle 22">
            <a:extLst>
              <a:ext uri="{FF2B5EF4-FFF2-40B4-BE49-F238E27FC236}">
                <a16:creationId xmlns:a16="http://schemas.microsoft.com/office/drawing/2014/main" id="{06DF6A86-6CD0-5A20-DCF8-9EA0BFD14E02}"/>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D425C081-7964-2EF8-28CD-BADF097110C5}"/>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37A8</a:t>
            </a:r>
          </a:p>
        </p:txBody>
      </p:sp>
      <p:sp>
        <p:nvSpPr>
          <p:cNvPr id="25" name="TextBox 24">
            <a:extLst>
              <a:ext uri="{FF2B5EF4-FFF2-40B4-BE49-F238E27FC236}">
                <a16:creationId xmlns:a16="http://schemas.microsoft.com/office/drawing/2014/main" id="{D587E5F0-1057-D05C-1949-13D5F726CB0E}"/>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715FAAC9-B212-3C98-B444-5C007234A41E}"/>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1E5DC371-2E02-0196-091C-CE00309E876C}"/>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D9318A24-3E71-CF6A-EEC5-CAC4B263353B}"/>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123EA418-FEBF-C458-3622-DB1B55BFE9EE}"/>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55EE631D-E18F-C802-84AC-96454A8D40BD}"/>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265B8906-A765-0C43-A610-A345BBD6EBD3}"/>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6AAF60D6-40A3-4A9A-5B4E-B73F9AE1A246}"/>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92861546-C3A9-6E8F-2292-4B2FF9374021}"/>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344D2F3E-5212-F37B-EAC3-A1D8AFCB0409}"/>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DC79204D-3AB4-D1F2-6F44-9D4BC86649A5}"/>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8F8605D1-4E51-819C-248B-D548282E67AA}"/>
              </a:ext>
            </a:extLst>
          </p:cNvPr>
          <p:cNvSpPr>
            <a:spLocks noGrp="1"/>
          </p:cNvSpPr>
          <p:nvPr>
            <p:ph idx="1"/>
          </p:nvPr>
        </p:nvSpPr>
        <p:spPr>
          <a:xfrm>
            <a:off x="2801814" y="351693"/>
            <a:ext cx="8768862" cy="525193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a:t>
            </a: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CALCULATE_NEXT: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078C	D531	MOVE   R5, (R3)+   </a:t>
            </a:r>
            <a:r>
              <a:rPr lang="pt-BR" sz="1400" dirty="0">
                <a:latin typeface="Courier New" panose="02070309020205020404" pitchFamily="49" charset="0"/>
                <a:cs typeface="Courier New" panose="02070309020205020404" pitchFamily="49" charset="0"/>
                <a:sym typeface="Wingdings" panose="05000000000000000000" pitchFamily="2" charset="2"/>
              </a:rPr>
              <a:t> R5 = MEM[R3], R3=R3+2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078E	045C	HTL    R4,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0790	86FF	LBI    R6, NULL_TERM_HI</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0792	C642	SE     R6, R4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0794	A00B	BRA    CALCULATE_LARGE</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0796	86FF	LBI    R6, NULL_TERM_LO</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0798	C652	SE     R6,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079A	A005	BRA    CALCULATE_LARGE</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079C	0203	CALL   MAINLOOP_INIT, R2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079E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07A0	08F6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CALCULATE_LARGE: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07A2	D601	LWI    R6, BIG_LETTERS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a:t>
            </a:r>
          </a:p>
        </p:txBody>
      </p:sp>
      <p:sp>
        <p:nvSpPr>
          <p:cNvPr id="3" name="TextBox 2">
            <a:extLst>
              <a:ext uri="{FF2B5EF4-FFF2-40B4-BE49-F238E27FC236}">
                <a16:creationId xmlns:a16="http://schemas.microsoft.com/office/drawing/2014/main" id="{2DBF7B34-FB84-3DE3-426E-604D4C6FBA91}"/>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B536ACA8-7BE8-9820-5DE2-BD122D36CCAA}"/>
              </a:ext>
            </a:extLst>
          </p:cNvPr>
          <p:cNvSpPr/>
          <p:nvPr/>
        </p:nvSpPr>
        <p:spPr>
          <a:xfrm>
            <a:off x="5538346" y="861150"/>
            <a:ext cx="4977254" cy="726350"/>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0EF45A5-1A42-22F4-5EDE-42D97A90CDD5}"/>
              </a:ext>
            </a:extLst>
          </p:cNvPr>
          <p:cNvSpPr/>
          <p:nvPr/>
        </p:nvSpPr>
        <p:spPr>
          <a:xfrm>
            <a:off x="9202616" y="2535989"/>
            <a:ext cx="2719753" cy="3970318"/>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urier New" panose="02070309020205020404" pitchFamily="49" charset="0"/>
                <a:cs typeface="Courier New" panose="02070309020205020404" pitchFamily="49" charset="0"/>
              </a:rPr>
              <a:t>01BC  (header blank 1)</a:t>
            </a:r>
          </a:p>
          <a:p>
            <a:r>
              <a:rPr lang="en-US" sz="1200" dirty="0">
                <a:solidFill>
                  <a:schemeClr val="tx1"/>
                </a:solidFill>
                <a:latin typeface="Courier New" panose="02070309020205020404" pitchFamily="49" charset="0"/>
                <a:cs typeface="Courier New" panose="02070309020205020404" pitchFamily="49" charset="0"/>
              </a:rPr>
              <a:t>01BC  (header blank 2)</a:t>
            </a:r>
          </a:p>
          <a:p>
            <a:r>
              <a:rPr lang="en-US" sz="1200" dirty="0">
                <a:solidFill>
                  <a:schemeClr val="tx1"/>
                </a:solidFill>
                <a:latin typeface="Courier New" panose="02070309020205020404" pitchFamily="49" charset="0"/>
                <a:cs typeface="Courier New" panose="02070309020205020404" pitchFamily="49" charset="0"/>
              </a:rPr>
              <a:t>01BC  (header blank 3)</a:t>
            </a:r>
          </a:p>
          <a:p>
            <a:r>
              <a:rPr lang="en-US" sz="1200" dirty="0">
                <a:solidFill>
                  <a:schemeClr val="tx1"/>
                </a:solidFill>
                <a:latin typeface="Courier New" panose="02070309020205020404" pitchFamily="49" charset="0"/>
                <a:cs typeface="Courier New" panose="02070309020205020404" pitchFamily="49" charset="0"/>
              </a:rPr>
              <a:t>01BC  (header blank 4)</a:t>
            </a:r>
          </a:p>
          <a:p>
            <a:r>
              <a:rPr lang="en-US" sz="1200" dirty="0">
                <a:solidFill>
                  <a:schemeClr val="tx1"/>
                </a:solidFill>
                <a:latin typeface="Courier New" panose="02070309020205020404" pitchFamily="49" charset="0"/>
                <a:cs typeface="Courier New" panose="02070309020205020404" pitchFamily="49" charset="0"/>
              </a:rPr>
              <a:t>01BC  (header blank 5)</a:t>
            </a:r>
          </a:p>
          <a:p>
            <a:r>
              <a:rPr lang="en-US" sz="1200" dirty="0">
                <a:solidFill>
                  <a:schemeClr val="tx1"/>
                </a:solidFill>
                <a:latin typeface="Courier New" panose="02070309020205020404" pitchFamily="49" charset="0"/>
                <a:cs typeface="Courier New" panose="02070309020205020404" pitchFamily="49" charset="0"/>
              </a:rPr>
              <a:t>01BC  (header blank 6)</a:t>
            </a:r>
          </a:p>
          <a:p>
            <a:r>
              <a:rPr lang="en-US" sz="1200" dirty="0">
                <a:solidFill>
                  <a:schemeClr val="tx1"/>
                </a:solidFill>
                <a:latin typeface="Courier New" panose="02070309020205020404" pitchFamily="49" charset="0"/>
                <a:cs typeface="Courier New" panose="02070309020205020404" pitchFamily="49" charset="0"/>
              </a:rPr>
              <a:t>01BC  (header blank 7)</a:t>
            </a:r>
          </a:p>
          <a:p>
            <a:r>
              <a:rPr lang="en-US" sz="1200" dirty="0">
                <a:solidFill>
                  <a:schemeClr val="tx1"/>
                </a:solidFill>
                <a:latin typeface="Courier New" panose="02070309020205020404" pitchFamily="49" charset="0"/>
                <a:cs typeface="Courier New" panose="02070309020205020404" pitchFamily="49" charset="0"/>
              </a:rPr>
              <a:t>01BC  (header blank 8)</a:t>
            </a:r>
          </a:p>
          <a:p>
            <a:r>
              <a:rPr lang="en-US" sz="1200" dirty="0">
                <a:solidFill>
                  <a:schemeClr val="tx1"/>
                </a:solidFill>
                <a:latin typeface="Courier New" panose="02070309020205020404" pitchFamily="49" charset="0"/>
                <a:cs typeface="Courier New" panose="02070309020205020404" pitchFamily="49" charset="0"/>
              </a:rPr>
              <a:t>00FC  252	V</a:t>
            </a:r>
          </a:p>
          <a:p>
            <a:r>
              <a:rPr lang="en-US" sz="1200" dirty="0">
                <a:solidFill>
                  <a:schemeClr val="tx1"/>
                </a:solidFill>
                <a:latin typeface="Courier New" panose="02070309020205020404" pitchFamily="49" charset="0"/>
                <a:cs typeface="Courier New" panose="02070309020205020404" pitchFamily="49" charset="0"/>
              </a:rPr>
              <a:t>0018  24	C</a:t>
            </a:r>
          </a:p>
          <a:p>
            <a:r>
              <a:rPr lang="en-US" sz="1200" dirty="0">
                <a:solidFill>
                  <a:schemeClr val="tx1"/>
                </a:solidFill>
                <a:latin typeface="Courier New" panose="02070309020205020404" pitchFamily="49" charset="0"/>
                <a:cs typeface="Courier New" panose="02070309020205020404" pitchFamily="49" charset="0"/>
              </a:rPr>
              <a:t>003C  60	F</a:t>
            </a:r>
          </a:p>
          <a:p>
            <a:r>
              <a:rPr lang="en-US" sz="1200" dirty="0">
                <a:solidFill>
                  <a:schemeClr val="tx1"/>
                </a:solidFill>
                <a:latin typeface="Courier New" panose="02070309020205020404" pitchFamily="49" charset="0"/>
                <a:cs typeface="Courier New" panose="02070309020205020404" pitchFamily="49" charset="0"/>
              </a:rPr>
              <a:t>01BC  444	" "  (blank)</a:t>
            </a:r>
          </a:p>
          <a:p>
            <a:r>
              <a:rPr lang="en-US" sz="1200" dirty="0">
                <a:solidFill>
                  <a:schemeClr val="tx1"/>
                </a:solidFill>
                <a:latin typeface="Courier New" panose="02070309020205020404" pitchFamily="49" charset="0"/>
                <a:cs typeface="Courier New" panose="02070309020205020404" pitchFamily="49" charset="0"/>
              </a:rPr>
              <a:t>0024  36	D</a:t>
            </a:r>
          </a:p>
          <a:p>
            <a:r>
              <a:rPr lang="en-US" sz="1200" dirty="0">
                <a:solidFill>
                  <a:schemeClr val="tx1"/>
                </a:solidFill>
                <a:latin typeface="Courier New" panose="02070309020205020404" pitchFamily="49" charset="0"/>
                <a:cs typeface="Courier New" panose="02070309020205020404" pitchFamily="49" charset="0"/>
              </a:rPr>
              <a:t>0000  0	A</a:t>
            </a:r>
          </a:p>
          <a:p>
            <a:r>
              <a:rPr lang="en-US" sz="1200" dirty="0">
                <a:solidFill>
                  <a:schemeClr val="tx1"/>
                </a:solidFill>
                <a:latin typeface="Courier New" panose="02070309020205020404" pitchFamily="49" charset="0"/>
                <a:cs typeface="Courier New" panose="02070309020205020404" pitchFamily="49" charset="0"/>
              </a:rPr>
              <a:t>0084  132	L</a:t>
            </a:r>
          </a:p>
          <a:p>
            <a:r>
              <a:rPr lang="en-US" sz="1200" dirty="0">
                <a:solidFill>
                  <a:schemeClr val="tx1"/>
                </a:solidFill>
                <a:latin typeface="Courier New" panose="02070309020205020404" pitchFamily="49" charset="0"/>
                <a:cs typeface="Courier New" panose="02070309020205020404" pitchFamily="49" charset="0"/>
              </a:rPr>
              <a:t>0084  132	L</a:t>
            </a:r>
          </a:p>
          <a:p>
            <a:r>
              <a:rPr lang="en-US" sz="1200" dirty="0">
                <a:solidFill>
                  <a:schemeClr val="tx1"/>
                </a:solidFill>
                <a:latin typeface="Courier New" panose="02070309020205020404" pitchFamily="49" charset="0"/>
                <a:cs typeface="Courier New" panose="02070309020205020404" pitchFamily="49" charset="0"/>
              </a:rPr>
              <a:t>0000  0	A</a:t>
            </a:r>
          </a:p>
          <a:p>
            <a:r>
              <a:rPr lang="en-US" sz="1200" dirty="0">
                <a:solidFill>
                  <a:schemeClr val="tx1"/>
                </a:solidFill>
                <a:latin typeface="Courier New" panose="02070309020205020404" pitchFamily="49" charset="0"/>
                <a:cs typeface="Courier New" panose="02070309020205020404" pitchFamily="49" charset="0"/>
              </a:rPr>
              <a:t>00D8  216	S</a:t>
            </a:r>
          </a:p>
          <a:p>
            <a:r>
              <a:rPr lang="en-US" sz="1200" dirty="0">
                <a:solidFill>
                  <a:schemeClr val="tx1"/>
                </a:solidFill>
                <a:latin typeface="Courier New" panose="02070309020205020404" pitchFamily="49" charset="0"/>
                <a:cs typeface="Courier New" panose="02070309020205020404" pitchFamily="49" charset="0"/>
              </a:rPr>
              <a:t>01BC  444	" "  (blank)</a:t>
            </a:r>
          </a:p>
          <a:p>
            <a:r>
              <a:rPr lang="en-US" sz="1200" dirty="0">
                <a:solidFill>
                  <a:schemeClr val="tx1"/>
                </a:solidFill>
                <a:latin typeface="Courier New" panose="02070309020205020404" pitchFamily="49" charset="0"/>
                <a:cs typeface="Courier New" panose="02070309020205020404" pitchFamily="49" charset="0"/>
              </a:rPr>
              <a:t>0150  336	2</a:t>
            </a:r>
          </a:p>
          <a:p>
            <a:r>
              <a:rPr lang="en-US" sz="1200" dirty="0">
                <a:solidFill>
                  <a:schemeClr val="tx1"/>
                </a:solidFill>
                <a:latin typeface="Courier New" panose="02070309020205020404" pitchFamily="49" charset="0"/>
                <a:cs typeface="Courier New" panose="02070309020205020404" pitchFamily="49" charset="0"/>
              </a:rPr>
              <a:t>…</a:t>
            </a:r>
          </a:p>
        </p:txBody>
      </p:sp>
      <p:sp>
        <p:nvSpPr>
          <p:cNvPr id="45" name="TextBox 44">
            <a:extLst>
              <a:ext uri="{FF2B5EF4-FFF2-40B4-BE49-F238E27FC236}">
                <a16:creationId xmlns:a16="http://schemas.microsoft.com/office/drawing/2014/main" id="{A1E55C0C-C921-9296-A2E7-00ECB8649F85}"/>
              </a:ext>
            </a:extLst>
          </p:cNvPr>
          <p:cNvSpPr txBox="1"/>
          <p:nvPr/>
        </p:nvSpPr>
        <p:spPr>
          <a:xfrm>
            <a:off x="8496544" y="2535989"/>
            <a:ext cx="721211" cy="3970318"/>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0E02</a:t>
            </a:r>
          </a:p>
          <a:p>
            <a:r>
              <a:rPr lang="nn-NO" sz="1200" dirty="0">
                <a:latin typeface="Courier New" panose="02070309020205020404" pitchFamily="49" charset="0"/>
                <a:cs typeface="Courier New" panose="02070309020205020404" pitchFamily="49" charset="0"/>
              </a:rPr>
              <a:t>0E04</a:t>
            </a:r>
          </a:p>
          <a:p>
            <a:r>
              <a:rPr lang="nn-NO" sz="1200" dirty="0">
                <a:latin typeface="Courier New" panose="02070309020205020404" pitchFamily="49" charset="0"/>
                <a:cs typeface="Courier New" panose="02070309020205020404" pitchFamily="49" charset="0"/>
              </a:rPr>
              <a:t>0E06</a:t>
            </a:r>
          </a:p>
          <a:p>
            <a:r>
              <a:rPr lang="nn-NO" sz="1200" dirty="0">
                <a:latin typeface="Courier New" panose="02070309020205020404" pitchFamily="49" charset="0"/>
                <a:cs typeface="Courier New" panose="02070309020205020404" pitchFamily="49" charset="0"/>
              </a:rPr>
              <a:t>0E08</a:t>
            </a:r>
          </a:p>
          <a:p>
            <a:r>
              <a:rPr lang="nn-NO" sz="1200" dirty="0">
                <a:latin typeface="Courier New" panose="02070309020205020404" pitchFamily="49" charset="0"/>
                <a:cs typeface="Courier New" panose="02070309020205020404" pitchFamily="49" charset="0"/>
              </a:rPr>
              <a:t>0E0A</a:t>
            </a:r>
          </a:p>
          <a:p>
            <a:r>
              <a:rPr lang="nn-NO" sz="1200" dirty="0">
                <a:latin typeface="Courier New" panose="02070309020205020404" pitchFamily="49" charset="0"/>
                <a:cs typeface="Courier New" panose="02070309020205020404" pitchFamily="49" charset="0"/>
              </a:rPr>
              <a:t>0E0C</a:t>
            </a:r>
          </a:p>
          <a:p>
            <a:r>
              <a:rPr lang="nn-NO" sz="1200" dirty="0">
                <a:latin typeface="Courier New" panose="02070309020205020404" pitchFamily="49" charset="0"/>
                <a:cs typeface="Courier New" panose="02070309020205020404" pitchFamily="49" charset="0"/>
              </a:rPr>
              <a:t>0E0E</a:t>
            </a:r>
          </a:p>
          <a:p>
            <a:r>
              <a:rPr lang="nn-NO" sz="1200" dirty="0">
                <a:latin typeface="Courier New" panose="02070309020205020404" pitchFamily="49" charset="0"/>
                <a:cs typeface="Courier New" panose="02070309020205020404" pitchFamily="49" charset="0"/>
              </a:rPr>
              <a:t>0E10</a:t>
            </a:r>
          </a:p>
          <a:p>
            <a:r>
              <a:rPr lang="nn-NO" sz="1200" dirty="0">
                <a:latin typeface="Courier New" panose="02070309020205020404" pitchFamily="49" charset="0"/>
                <a:cs typeface="Courier New" panose="02070309020205020404" pitchFamily="49" charset="0"/>
              </a:rPr>
              <a:t>0E12</a:t>
            </a:r>
          </a:p>
          <a:p>
            <a:r>
              <a:rPr lang="nn-NO" sz="1200" dirty="0">
                <a:latin typeface="Courier New" panose="02070309020205020404" pitchFamily="49" charset="0"/>
                <a:cs typeface="Courier New" panose="02070309020205020404" pitchFamily="49" charset="0"/>
              </a:rPr>
              <a:t>0E14</a:t>
            </a:r>
          </a:p>
          <a:p>
            <a:r>
              <a:rPr lang="nn-NO" sz="1200" dirty="0">
                <a:latin typeface="Courier New" panose="02070309020205020404" pitchFamily="49" charset="0"/>
                <a:cs typeface="Courier New" panose="02070309020205020404" pitchFamily="49" charset="0"/>
              </a:rPr>
              <a:t>0E16</a:t>
            </a:r>
          </a:p>
          <a:p>
            <a:r>
              <a:rPr lang="nn-NO" sz="1200" dirty="0">
                <a:latin typeface="Courier New" panose="02070309020205020404" pitchFamily="49" charset="0"/>
                <a:cs typeface="Courier New" panose="02070309020205020404" pitchFamily="49" charset="0"/>
              </a:rPr>
              <a:t>0E18</a:t>
            </a:r>
          </a:p>
          <a:p>
            <a:r>
              <a:rPr lang="nn-NO" sz="1200" dirty="0">
                <a:latin typeface="Courier New" panose="02070309020205020404" pitchFamily="49" charset="0"/>
                <a:cs typeface="Courier New" panose="02070309020205020404" pitchFamily="49" charset="0"/>
              </a:rPr>
              <a:t>0E1A</a:t>
            </a:r>
          </a:p>
          <a:p>
            <a:r>
              <a:rPr lang="nn-NO" sz="1200" dirty="0">
                <a:latin typeface="Courier New" panose="02070309020205020404" pitchFamily="49" charset="0"/>
                <a:cs typeface="Courier New" panose="02070309020205020404" pitchFamily="49" charset="0"/>
              </a:rPr>
              <a:t>0E1C</a:t>
            </a:r>
          </a:p>
          <a:p>
            <a:r>
              <a:rPr lang="nn-NO" sz="1200" dirty="0">
                <a:latin typeface="Courier New" panose="02070309020205020404" pitchFamily="49" charset="0"/>
                <a:cs typeface="Courier New" panose="02070309020205020404" pitchFamily="49" charset="0"/>
              </a:rPr>
              <a:t>0E1E</a:t>
            </a:r>
          </a:p>
          <a:p>
            <a:r>
              <a:rPr lang="nn-NO" sz="1200" dirty="0">
                <a:latin typeface="Courier New" panose="02070309020205020404" pitchFamily="49" charset="0"/>
                <a:cs typeface="Courier New" panose="02070309020205020404" pitchFamily="49" charset="0"/>
              </a:rPr>
              <a:t>0E20</a:t>
            </a:r>
          </a:p>
          <a:p>
            <a:r>
              <a:rPr lang="nn-NO" sz="1200" dirty="0">
                <a:latin typeface="Courier New" panose="02070309020205020404" pitchFamily="49" charset="0"/>
                <a:cs typeface="Courier New" panose="02070309020205020404" pitchFamily="49" charset="0"/>
              </a:rPr>
              <a:t>0E22</a:t>
            </a:r>
          </a:p>
          <a:p>
            <a:r>
              <a:rPr lang="nn-NO" sz="1200" dirty="0">
                <a:latin typeface="Courier New" panose="02070309020205020404" pitchFamily="49" charset="0"/>
                <a:cs typeface="Courier New" panose="02070309020205020404" pitchFamily="49" charset="0"/>
              </a:rPr>
              <a:t>0E24</a:t>
            </a:r>
          </a:p>
          <a:p>
            <a:r>
              <a:rPr lang="nn-NO" sz="1200" dirty="0">
                <a:latin typeface="Courier New" panose="02070309020205020404" pitchFamily="49" charset="0"/>
                <a:cs typeface="Courier New" panose="02070309020205020404" pitchFamily="49" charset="0"/>
              </a:rPr>
              <a:t>0E26</a:t>
            </a:r>
          </a:p>
          <a:p>
            <a:r>
              <a:rPr lang="nn-NO" sz="1200" dirty="0">
                <a:latin typeface="Courier New" panose="02070309020205020404" pitchFamily="49" charset="0"/>
                <a:cs typeface="Courier New" panose="02070309020205020404" pitchFamily="49" charset="0"/>
              </a:rPr>
              <a:t>0E28</a:t>
            </a:r>
          </a:p>
          <a:p>
            <a:endParaRPr lang="nn-NO" sz="1200" dirty="0">
              <a:latin typeface="Courier New" panose="02070309020205020404" pitchFamily="49" charset="0"/>
              <a:cs typeface="Courier New" panose="02070309020205020404" pitchFamily="49" charset="0"/>
            </a:endParaRPr>
          </a:p>
        </p:txBody>
      </p:sp>
      <p:cxnSp>
        <p:nvCxnSpPr>
          <p:cNvPr id="38" name="Straight Arrow Connector 37">
            <a:extLst>
              <a:ext uri="{FF2B5EF4-FFF2-40B4-BE49-F238E27FC236}">
                <a16:creationId xmlns:a16="http://schemas.microsoft.com/office/drawing/2014/main" id="{8C28125A-E41B-7C22-EC1B-85AF0D490981}"/>
              </a:ext>
            </a:extLst>
          </p:cNvPr>
          <p:cNvCxnSpPr>
            <a:cxnSpLocks/>
          </p:cNvCxnSpPr>
          <p:nvPr/>
        </p:nvCxnSpPr>
        <p:spPr>
          <a:xfrm>
            <a:off x="2192215" y="799584"/>
            <a:ext cx="1551110" cy="8768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3953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B4AFB-19F5-A19A-94B3-3BBD7FEDDE1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E83DD16-1FD0-4AA3-BAF0-75582DDC0112}"/>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0792</a:t>
            </a:r>
          </a:p>
        </p:txBody>
      </p:sp>
      <p:sp>
        <p:nvSpPr>
          <p:cNvPr id="5" name="TextBox 4">
            <a:extLst>
              <a:ext uri="{FF2B5EF4-FFF2-40B4-BE49-F238E27FC236}">
                <a16:creationId xmlns:a16="http://schemas.microsoft.com/office/drawing/2014/main" id="{D7EA68F5-1CBD-A07B-44C7-3E4EA47A27B0}"/>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A1F89C46-7A23-8317-BB5C-4386C09E0455}"/>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0A1C</a:t>
            </a:r>
          </a:p>
        </p:txBody>
      </p:sp>
      <p:sp>
        <p:nvSpPr>
          <p:cNvPr id="7" name="Rectangle 6">
            <a:extLst>
              <a:ext uri="{FF2B5EF4-FFF2-40B4-BE49-F238E27FC236}">
                <a16:creationId xmlns:a16="http://schemas.microsoft.com/office/drawing/2014/main" id="{409B50EE-6AEF-E069-E56C-71B27A72400A}"/>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4BAFBB0D-CB0F-72A7-2202-7EE2E050BAAE}"/>
              </a:ext>
            </a:extLst>
          </p:cNvPr>
          <p:cNvSpPr/>
          <p:nvPr/>
        </p:nvSpPr>
        <p:spPr>
          <a:xfrm>
            <a:off x="1384300" y="15875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F04EF08B-FB0E-4D82-72B6-BF3E6B009AC5}"/>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5A0E2CF7-E81D-6803-1AE3-6346BED95467}"/>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7B789A8C-7CF0-9BCD-7E0D-F060679CBAD0}"/>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088C7A5A-7001-9940-0312-6E26FB4064CC}"/>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0001</a:t>
            </a:r>
          </a:p>
        </p:txBody>
      </p:sp>
      <p:sp>
        <p:nvSpPr>
          <p:cNvPr id="13" name="TextBox 12">
            <a:extLst>
              <a:ext uri="{FF2B5EF4-FFF2-40B4-BE49-F238E27FC236}">
                <a16:creationId xmlns:a16="http://schemas.microsoft.com/office/drawing/2014/main" id="{363CB0C6-0308-82CA-D2F0-C12DCCFF5A10}"/>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FF2770D2-9729-03F6-D570-2FC838BBE358}"/>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01BC</a:t>
            </a:r>
          </a:p>
        </p:txBody>
      </p:sp>
      <p:sp>
        <p:nvSpPr>
          <p:cNvPr id="15" name="Rectangle 14">
            <a:extLst>
              <a:ext uri="{FF2B5EF4-FFF2-40B4-BE49-F238E27FC236}">
                <a16:creationId xmlns:a16="http://schemas.microsoft.com/office/drawing/2014/main" id="{BDD1F288-D176-FA15-A6DB-06D70E2906D3}"/>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--FF</a:t>
            </a:r>
          </a:p>
        </p:txBody>
      </p:sp>
      <p:sp>
        <p:nvSpPr>
          <p:cNvPr id="16" name="Rectangle 15">
            <a:extLst>
              <a:ext uri="{FF2B5EF4-FFF2-40B4-BE49-F238E27FC236}">
                <a16:creationId xmlns:a16="http://schemas.microsoft.com/office/drawing/2014/main" id="{F89DFB61-E23F-ABC6-CE58-C70B1F5CF567}"/>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43651DDD-9282-DAF6-BC9B-ADD83EAEF289}"/>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C9B33463-1258-B57F-D854-8BAF3D11BA01}"/>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7666D573-ECA1-B212-9D47-3B3C899B31DC}"/>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8DD74A0D-14E9-B6CF-6AF0-672DB97D7379}"/>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17CD8F39-3783-C34F-824E-269E2A899EDB}"/>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77857E81-F348-899E-E9B5-ACCF1D7218C8}"/>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0004</a:t>
            </a:r>
          </a:p>
        </p:txBody>
      </p:sp>
      <p:sp>
        <p:nvSpPr>
          <p:cNvPr id="23" name="Rectangle 22">
            <a:extLst>
              <a:ext uri="{FF2B5EF4-FFF2-40B4-BE49-F238E27FC236}">
                <a16:creationId xmlns:a16="http://schemas.microsoft.com/office/drawing/2014/main" id="{FD6CD482-7E3C-C69D-EF76-97B44A6E4D2A}"/>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14A40127-FC3C-F9F8-FC89-56C99CCD7D5E}"/>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37A8</a:t>
            </a:r>
          </a:p>
        </p:txBody>
      </p:sp>
      <p:sp>
        <p:nvSpPr>
          <p:cNvPr id="25" name="TextBox 24">
            <a:extLst>
              <a:ext uri="{FF2B5EF4-FFF2-40B4-BE49-F238E27FC236}">
                <a16:creationId xmlns:a16="http://schemas.microsoft.com/office/drawing/2014/main" id="{91BB7AF9-2ECB-5539-4CC3-1D8D4BD9EC5B}"/>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9635A285-231B-1C79-7AE4-B31A9C682F3C}"/>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22E278BA-FA83-01B3-556E-F4A256B5659E}"/>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0585D0AE-4772-A7D7-3099-E7F706BA516C}"/>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4A2B45E4-B247-8614-5399-732EFC0602C9}"/>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62141DA3-639A-E8BA-C7D6-9AD5A0D19F16}"/>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F9699C0D-7C44-81E3-FCC7-623F55B22016}"/>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3A932B21-3B7B-ABE8-E612-58F13ECA6A72}"/>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9CE0EE60-406C-9FDE-8BBA-F9B98BE819FB}"/>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8D03AB86-B9F2-28A5-8A4A-6211BED57AEB}"/>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2BEE9F22-8397-3EA8-72B4-9773730F6046}"/>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B4FEE37C-D010-8C5D-2043-E037BD1A7876}"/>
              </a:ext>
            </a:extLst>
          </p:cNvPr>
          <p:cNvSpPr>
            <a:spLocks noGrp="1"/>
          </p:cNvSpPr>
          <p:nvPr>
            <p:ph idx="1"/>
          </p:nvPr>
        </p:nvSpPr>
        <p:spPr>
          <a:xfrm>
            <a:off x="2801814" y="351693"/>
            <a:ext cx="8768862" cy="3992223"/>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a:t>
            </a:r>
            <a:br>
              <a:rPr lang="pt-BR" sz="1400" dirty="0">
                <a:latin typeface="Courier New" panose="02070309020205020404" pitchFamily="49" charset="0"/>
                <a:cs typeface="Courier New" panose="02070309020205020404" pitchFamily="49" charset="0"/>
              </a:rPr>
            </a:br>
            <a:r>
              <a:rPr lang="pt-BR" sz="1400" dirty="0">
                <a:latin typeface="Courier New" panose="02070309020205020404" pitchFamily="49" charset="0"/>
                <a:cs typeface="Courier New" panose="02070309020205020404" pitchFamily="49" charset="0"/>
              </a:rPr>
              <a:t>CALCULATE_NEXT: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078C	D531	MOVE   R5, (R3)+   </a:t>
            </a:r>
            <a:r>
              <a:rPr lang="pt-BR" sz="1400" dirty="0">
                <a:latin typeface="Courier New" panose="02070309020205020404" pitchFamily="49" charset="0"/>
                <a:cs typeface="Courier New" panose="02070309020205020404" pitchFamily="49" charset="0"/>
                <a:sym typeface="Wingdings" panose="05000000000000000000" pitchFamily="2" charset="2"/>
              </a:rPr>
              <a:t> R5 = MEM[R3], R3=R3+2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078E	045C	HTL    R4,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0790	86FF	LBI    R6, NULL_TERM_HI</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0792	C642	SE     R6, R4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R6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R4 (</a:t>
            </a:r>
            <a:r>
              <a:rPr lang="pt-BR" sz="1400" dirty="0" err="1">
                <a:latin typeface="Courier New" panose="02070309020205020404" pitchFamily="49" charset="0"/>
                <a:cs typeface="Courier New" panose="02070309020205020404" pitchFamily="49" charset="0"/>
                <a:sym typeface="Wingdings" panose="05000000000000000000" pitchFamily="2" charset="2"/>
              </a:rPr>
              <a:t>Equal</a:t>
            </a:r>
            <a:r>
              <a:rPr lang="pt-BR" sz="1400" dirty="0">
                <a:latin typeface="Courier New" panose="02070309020205020404" pitchFamily="49" charset="0"/>
                <a:cs typeface="Courier New" panose="02070309020205020404" pitchFamily="49" charset="0"/>
                <a:sym typeface="Wingdings" panose="05000000000000000000" pitchFamily="2" charset="2"/>
              </a:rPr>
              <a: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0794	A00B	BRA    CALCULATE_LARGE</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0796	86FF	LBI    R6, NULL_TERM_LO</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0798	C652	SE     R6,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079A	A005	BRA    CALCULATE_LARGE</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079C	0203	CALL   MAINLOOP_INIT, R2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079E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07A0	08F6	</a:t>
            </a:r>
          </a:p>
          <a:p>
            <a:pPr marL="0" indent="0">
              <a:spcBef>
                <a:spcPts val="200"/>
              </a:spcBef>
              <a:spcAft>
                <a:spcPts val="200"/>
              </a:spcAft>
              <a:buNone/>
            </a:pPr>
            <a:r>
              <a:rPr lang="pt-BR" sz="1400" b="1" dirty="0">
                <a:solidFill>
                  <a:srgbClr val="FF0000"/>
                </a:solidFill>
                <a:latin typeface="Courier New" panose="02070309020205020404" pitchFamily="49" charset="0"/>
                <a:cs typeface="Courier New" panose="02070309020205020404" pitchFamily="49" charset="0"/>
              </a:rPr>
              <a:t>CALCULATE_LARGE: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07A2	D601	LWI    R6, BIG_LETTERS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a:t>
            </a:r>
          </a:p>
        </p:txBody>
      </p:sp>
      <p:sp>
        <p:nvSpPr>
          <p:cNvPr id="3" name="TextBox 2">
            <a:extLst>
              <a:ext uri="{FF2B5EF4-FFF2-40B4-BE49-F238E27FC236}">
                <a16:creationId xmlns:a16="http://schemas.microsoft.com/office/drawing/2014/main" id="{CB29BA5B-8128-3A0E-1E93-DD170A559728}"/>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557811CD-287D-A50D-0914-48C5A13CEC27}"/>
              </a:ext>
            </a:extLst>
          </p:cNvPr>
          <p:cNvSpPr/>
          <p:nvPr/>
        </p:nvSpPr>
        <p:spPr>
          <a:xfrm>
            <a:off x="5538345" y="1599699"/>
            <a:ext cx="5446177" cy="463563"/>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C97C559B-305E-2042-BBC3-0875095E41B0}"/>
              </a:ext>
            </a:extLst>
          </p:cNvPr>
          <p:cNvCxnSpPr>
            <a:cxnSpLocks/>
          </p:cNvCxnSpPr>
          <p:nvPr/>
        </p:nvCxnSpPr>
        <p:spPr>
          <a:xfrm>
            <a:off x="2192215" y="799584"/>
            <a:ext cx="1551110" cy="8768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ight Brace 36">
            <a:extLst>
              <a:ext uri="{FF2B5EF4-FFF2-40B4-BE49-F238E27FC236}">
                <a16:creationId xmlns:a16="http://schemas.microsoft.com/office/drawing/2014/main" id="{DEE84DA6-9BDA-D597-0239-DA596FDB3670}"/>
              </a:ext>
            </a:extLst>
          </p:cNvPr>
          <p:cNvSpPr/>
          <p:nvPr/>
        </p:nvSpPr>
        <p:spPr>
          <a:xfrm>
            <a:off x="8288215" y="2075962"/>
            <a:ext cx="269631" cy="927588"/>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ED3F4F31-37A1-ED08-5715-077DA3448AEF}"/>
              </a:ext>
            </a:extLst>
          </p:cNvPr>
          <p:cNvSpPr txBox="1"/>
          <p:nvPr/>
        </p:nvSpPr>
        <p:spPr>
          <a:xfrm>
            <a:off x="8651631" y="2064239"/>
            <a:ext cx="2635658" cy="1754326"/>
          </a:xfrm>
          <a:prstGeom prst="rect">
            <a:avLst/>
          </a:prstGeom>
          <a:noFill/>
        </p:spPr>
        <p:txBody>
          <a:bodyPr wrap="none" rtlCol="0">
            <a:spAutoFit/>
          </a:bodyPr>
          <a:lstStyle/>
          <a:p>
            <a:r>
              <a:rPr lang="en-US" dirty="0"/>
              <a:t>Else: since the LO is equal,</a:t>
            </a:r>
          </a:p>
          <a:p>
            <a:r>
              <a:rPr lang="en-US" dirty="0"/>
              <a:t>then check the HI portion </a:t>
            </a:r>
          </a:p>
          <a:p>
            <a:r>
              <a:rPr lang="en-US" dirty="0"/>
              <a:t>also.  If both match, then</a:t>
            </a:r>
          </a:p>
          <a:p>
            <a:r>
              <a:rPr lang="en-US" dirty="0"/>
              <a:t>we are done calculating</a:t>
            </a:r>
          </a:p>
          <a:p>
            <a:r>
              <a:rPr lang="en-US" dirty="0"/>
              <a:t>and so, proceed to the</a:t>
            </a:r>
          </a:p>
          <a:p>
            <a:r>
              <a:rPr lang="en-US" dirty="0"/>
              <a:t>main-loop portion.</a:t>
            </a:r>
          </a:p>
        </p:txBody>
      </p:sp>
    </p:spTree>
    <p:extLst>
      <p:ext uri="{BB962C8B-B14F-4D97-AF65-F5344CB8AC3E}">
        <p14:creationId xmlns:p14="http://schemas.microsoft.com/office/powerpoint/2010/main" val="1095440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0FBB-E634-0EB5-49FA-BD164AA064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3F4E065-B688-F226-1F9E-3E62949D1FFB}"/>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7564E5A5-DF90-EB11-FFE4-DFB387A87218}"/>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98354240-5B37-DB7F-A388-C61654893D97}"/>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0A1C</a:t>
            </a:r>
          </a:p>
        </p:txBody>
      </p:sp>
      <p:sp>
        <p:nvSpPr>
          <p:cNvPr id="7" name="Rectangle 6">
            <a:extLst>
              <a:ext uri="{FF2B5EF4-FFF2-40B4-BE49-F238E27FC236}">
                <a16:creationId xmlns:a16="http://schemas.microsoft.com/office/drawing/2014/main" id="{6497C65C-720F-74BD-F792-F432A02B6C8E}"/>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61E1AA46-FDAA-9F91-B607-8779E3FF991B}"/>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BBC3DC22-0DC7-E219-002A-04ADA572CC8A}"/>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5547ACBA-9BF4-5DDE-4451-0484617C85E1}"/>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A2506FB5-E610-6010-E73F-CFCEB71A4975}"/>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5DEFBAFA-8D6E-794D-3972-AFA78A88E9E1}"/>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0001</a:t>
            </a:r>
          </a:p>
        </p:txBody>
      </p:sp>
      <p:sp>
        <p:nvSpPr>
          <p:cNvPr id="13" name="TextBox 12">
            <a:extLst>
              <a:ext uri="{FF2B5EF4-FFF2-40B4-BE49-F238E27FC236}">
                <a16:creationId xmlns:a16="http://schemas.microsoft.com/office/drawing/2014/main" id="{FD5DDE9C-45E0-29C4-394E-3C2FCB8584E5}"/>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3A19F212-C5C5-FB98-3AD6-757C2A0783D6}"/>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01BC</a:t>
            </a:r>
          </a:p>
        </p:txBody>
      </p:sp>
      <p:sp>
        <p:nvSpPr>
          <p:cNvPr id="15" name="Rectangle 14">
            <a:extLst>
              <a:ext uri="{FF2B5EF4-FFF2-40B4-BE49-F238E27FC236}">
                <a16:creationId xmlns:a16="http://schemas.microsoft.com/office/drawing/2014/main" id="{4810CD97-97CE-3901-F8D7-8F70CE455182}"/>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0A24</a:t>
            </a:r>
          </a:p>
        </p:txBody>
      </p:sp>
      <p:sp>
        <p:nvSpPr>
          <p:cNvPr id="16" name="Rectangle 15">
            <a:extLst>
              <a:ext uri="{FF2B5EF4-FFF2-40B4-BE49-F238E27FC236}">
                <a16:creationId xmlns:a16="http://schemas.microsoft.com/office/drawing/2014/main" id="{5DFBF0AF-D5DE-0211-113F-1E36F4E9A095}"/>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0C847738-1B18-66C3-FA4B-5275E7A59E48}"/>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80A99DFD-3960-B648-DFF8-994B95189627}"/>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B1E389AB-284A-EDC8-13B9-77B322AF988C}"/>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621E4307-963D-3087-DEAC-B18E55F8E869}"/>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635A6F62-97A1-64E4-5BC3-3117F17D7A96}"/>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8B0F971C-88B2-35BD-D073-A1FE76451B00}"/>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0004</a:t>
            </a:r>
          </a:p>
        </p:txBody>
      </p:sp>
      <p:sp>
        <p:nvSpPr>
          <p:cNvPr id="23" name="Rectangle 22">
            <a:extLst>
              <a:ext uri="{FF2B5EF4-FFF2-40B4-BE49-F238E27FC236}">
                <a16:creationId xmlns:a16="http://schemas.microsoft.com/office/drawing/2014/main" id="{D641CBA4-A644-0EB1-2ED6-4364CCE326E9}"/>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02C607EF-7DB0-1506-E969-344949A4090C}"/>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37A8</a:t>
            </a:r>
          </a:p>
        </p:txBody>
      </p:sp>
      <p:sp>
        <p:nvSpPr>
          <p:cNvPr id="25" name="TextBox 24">
            <a:extLst>
              <a:ext uri="{FF2B5EF4-FFF2-40B4-BE49-F238E27FC236}">
                <a16:creationId xmlns:a16="http://schemas.microsoft.com/office/drawing/2014/main" id="{45043AAD-92C8-BD5C-1E2F-55CFAA8F129E}"/>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A8C40B0F-EFD1-E6C5-1EBF-515365276B9D}"/>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34D50C0D-EFF1-D336-157C-BB1B187064D6}"/>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45940C6D-C91F-714C-2156-05CB89934993}"/>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113B5729-C329-87AE-EC9F-67F61DA5FD1E}"/>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3B17A533-08EF-1C8A-6BC5-10B8C4C545D1}"/>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4B7061DF-9E8A-236D-0FEA-34F49229EDA0}"/>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01ACB01E-7014-432C-852E-F07AB988B37C}"/>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21F9D157-34E6-1CB5-7B93-4A67342D9E74}"/>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30E1F86A-62D2-B0AE-E0BC-BBFC06D1CB06}"/>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D2BDD25D-FFE0-3657-E964-991858C60D4A}"/>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0A3307B1-F532-7A7A-9F4C-E3E1C29E77F1}"/>
              </a:ext>
            </a:extLst>
          </p:cNvPr>
          <p:cNvSpPr>
            <a:spLocks noGrp="1"/>
          </p:cNvSpPr>
          <p:nvPr>
            <p:ph idx="1"/>
          </p:nvPr>
        </p:nvSpPr>
        <p:spPr>
          <a:xfrm>
            <a:off x="2801814" y="351693"/>
            <a:ext cx="7057294" cy="525193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CALCULATE_LARGE: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07A2	D601 0A24	LWI    R6, BIG_LETTERS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AGAIN_HI: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07A6	C403		SZ     R4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07A8	A001		BRA    EXHAUST_HI</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07AA	A007		BRA    AGAIN_LO</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EXHAUST_HI: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07AC	A6FE		ADDI   R6, #$FF</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07AE	A600		ADDI   R6, #1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07B0	0441		DEC    R4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07B2	F00D		BRA    AGAIN_HI</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AGAIN_LO: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07B4	C503		SZ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07B6	A001		BRA    EXHAUST_LO</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07B8	A005		BRA    PROCESS_ROWS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EXHAUST_LO: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07BA	A600		ADDI   R6, 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07BC	0551		DEC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07BE	F00B		BRA    AGAIN_LO</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07C0	...</a:t>
            </a:r>
          </a:p>
        </p:txBody>
      </p:sp>
      <p:sp>
        <p:nvSpPr>
          <p:cNvPr id="3" name="TextBox 2">
            <a:extLst>
              <a:ext uri="{FF2B5EF4-FFF2-40B4-BE49-F238E27FC236}">
                <a16:creationId xmlns:a16="http://schemas.microsoft.com/office/drawing/2014/main" id="{8DE33E6A-DB00-EB7C-3D36-E0D703CA6B54}"/>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0" name="TextBox 39">
            <a:extLst>
              <a:ext uri="{FF2B5EF4-FFF2-40B4-BE49-F238E27FC236}">
                <a16:creationId xmlns:a16="http://schemas.microsoft.com/office/drawing/2014/main" id="{27238FD1-4ED5-0A5B-80DD-6F4E5B6D4C29}"/>
              </a:ext>
            </a:extLst>
          </p:cNvPr>
          <p:cNvSpPr txBox="1"/>
          <p:nvPr/>
        </p:nvSpPr>
        <p:spPr>
          <a:xfrm>
            <a:off x="3261409" y="5689084"/>
            <a:ext cx="5669182" cy="923330"/>
          </a:xfrm>
          <a:prstGeom prst="rect">
            <a:avLst/>
          </a:prstGeom>
          <a:solidFill>
            <a:srgbClr val="FFC000"/>
          </a:solidFill>
        </p:spPr>
        <p:txBody>
          <a:bodyPr wrap="square" rtlCol="0">
            <a:spAutoFit/>
          </a:bodyPr>
          <a:lstStyle/>
          <a:p>
            <a:pPr algn="ctr"/>
            <a:r>
              <a:rPr lang="en-US" dirty="0"/>
              <a:t>R6 = @BIG_LETTERS + (Lo R4 * 256) + Lo R5</a:t>
            </a:r>
          </a:p>
          <a:p>
            <a:pPr algn="ctr"/>
            <a:r>
              <a:rPr lang="en-US" dirty="0"/>
              <a:t>0x01BC (hex) == 444 decimal</a:t>
            </a:r>
            <a:br>
              <a:rPr lang="en-US" dirty="0"/>
            </a:br>
            <a:r>
              <a:rPr lang="en-US" dirty="0"/>
              <a:t>(same 16-bit ADD as done in </a:t>
            </a:r>
            <a:r>
              <a:rPr lang="pt-BR" b="1" dirty="0">
                <a:latin typeface="Courier New" panose="02070309020205020404" pitchFamily="49" charset="0"/>
                <a:cs typeface="Courier New" panose="02070309020205020404" pitchFamily="49" charset="0"/>
              </a:rPr>
              <a:t>IncreaseR11_by_Len)</a:t>
            </a:r>
            <a:endParaRPr lang="en-US" dirty="0"/>
          </a:p>
        </p:txBody>
      </p:sp>
      <p:sp>
        <p:nvSpPr>
          <p:cNvPr id="41" name="Rectangle 40">
            <a:extLst>
              <a:ext uri="{FF2B5EF4-FFF2-40B4-BE49-F238E27FC236}">
                <a16:creationId xmlns:a16="http://schemas.microsoft.com/office/drawing/2014/main" id="{F0B313A5-2F4D-8B76-FD11-61D7BA955492}"/>
              </a:ext>
            </a:extLst>
          </p:cNvPr>
          <p:cNvSpPr/>
          <p:nvPr/>
        </p:nvSpPr>
        <p:spPr>
          <a:xfrm>
            <a:off x="9241535" y="187975"/>
            <a:ext cx="2731009" cy="602047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BIG_LETTERS:	</a:t>
            </a:r>
          </a:p>
          <a:p>
            <a:r>
              <a:rPr lang="en-US" sz="1000" dirty="0">
                <a:solidFill>
                  <a:schemeClr val="tx1"/>
                </a:solidFill>
                <a:latin typeface="Courier New" panose="02070309020205020404" pitchFamily="49" charset="0"/>
                <a:cs typeface="Courier New" panose="02070309020205020404" pitchFamily="49" charset="0"/>
              </a:rPr>
              <a:t>  0A24	01  A	0</a:t>
            </a:r>
          </a:p>
          <a:p>
            <a:r>
              <a:rPr lang="en-US" sz="1000" dirty="0">
                <a:solidFill>
                  <a:schemeClr val="tx1"/>
                </a:solidFill>
                <a:latin typeface="Courier New" panose="02070309020205020404" pitchFamily="49" charset="0"/>
                <a:cs typeface="Courier New" panose="02070309020205020404" pitchFamily="49" charset="0"/>
              </a:rPr>
              <a:t>  0A25	00  (reserved)</a:t>
            </a:r>
          </a:p>
          <a:p>
            <a:r>
              <a:rPr lang="en-US" sz="1000" dirty="0">
                <a:solidFill>
                  <a:schemeClr val="tx1"/>
                </a:solidFill>
                <a:latin typeface="Courier New" panose="02070309020205020404" pitchFamily="49" charset="0"/>
                <a:cs typeface="Courier New" panose="02070309020205020404" pitchFamily="49" charset="0"/>
              </a:rPr>
              <a:t>  0A26	0C  00001100</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  0A27	1E  00011110</a:t>
            </a:r>
          </a:p>
          <a:p>
            <a:r>
              <a:rPr lang="en-US" sz="1000" dirty="0">
                <a:solidFill>
                  <a:schemeClr val="tx1"/>
                </a:solidFill>
                <a:latin typeface="Courier New" panose="02070309020205020404" pitchFamily="49" charset="0"/>
                <a:cs typeface="Courier New" panose="02070309020205020404" pitchFamily="49" charset="0"/>
              </a:rPr>
              <a:t>  0A28	33  00110011</a:t>
            </a:r>
          </a:p>
          <a:p>
            <a:r>
              <a:rPr lang="en-US" sz="1000" dirty="0">
                <a:solidFill>
                  <a:schemeClr val="tx1"/>
                </a:solidFill>
                <a:latin typeface="Courier New" panose="02070309020205020404" pitchFamily="49" charset="0"/>
                <a:cs typeface="Courier New" panose="02070309020205020404" pitchFamily="49" charset="0"/>
              </a:rPr>
              <a:t>  0A29	33  00110011</a:t>
            </a:r>
          </a:p>
          <a:p>
            <a:r>
              <a:rPr lang="en-US" sz="1000" dirty="0">
                <a:solidFill>
                  <a:schemeClr val="tx1"/>
                </a:solidFill>
                <a:latin typeface="Courier New" panose="02070309020205020404" pitchFamily="49" charset="0"/>
                <a:cs typeface="Courier New" panose="02070309020205020404" pitchFamily="49" charset="0"/>
              </a:rPr>
              <a:t>  0A2A	3F  00111111</a:t>
            </a:r>
          </a:p>
          <a:p>
            <a:r>
              <a:rPr lang="en-US" sz="1000" dirty="0">
                <a:solidFill>
                  <a:schemeClr val="tx1"/>
                </a:solidFill>
                <a:latin typeface="Courier New" panose="02070309020205020404" pitchFamily="49" charset="0"/>
                <a:cs typeface="Courier New" panose="02070309020205020404" pitchFamily="49" charset="0"/>
              </a:rPr>
              <a:t>  0A2B	3F  00111111</a:t>
            </a:r>
          </a:p>
          <a:p>
            <a:r>
              <a:rPr lang="en-US" sz="1000" dirty="0">
                <a:solidFill>
                  <a:schemeClr val="tx1"/>
                </a:solidFill>
                <a:latin typeface="Courier New" panose="02070309020205020404" pitchFamily="49" charset="0"/>
                <a:cs typeface="Courier New" panose="02070309020205020404" pitchFamily="49" charset="0"/>
              </a:rPr>
              <a:t>  0A2C	33  00110011</a:t>
            </a:r>
          </a:p>
          <a:p>
            <a:r>
              <a:rPr lang="en-US" sz="1000" dirty="0">
                <a:solidFill>
                  <a:schemeClr val="tx1"/>
                </a:solidFill>
                <a:latin typeface="Courier New" panose="02070309020205020404" pitchFamily="49" charset="0"/>
                <a:cs typeface="Courier New" panose="02070309020205020404" pitchFamily="49" charset="0"/>
              </a:rPr>
              <a:t>  0A2D	33  00110011</a:t>
            </a:r>
          </a:p>
          <a:p>
            <a:r>
              <a:rPr lang="en-US" sz="1000" dirty="0">
                <a:solidFill>
                  <a:schemeClr val="tx1"/>
                </a:solidFill>
                <a:latin typeface="Courier New" panose="02070309020205020404" pitchFamily="49" charset="0"/>
                <a:cs typeface="Courier New" panose="02070309020205020404" pitchFamily="49" charset="0"/>
              </a:rPr>
              <a:t>  0A2E	33  00110011</a:t>
            </a:r>
          </a:p>
          <a:p>
            <a:r>
              <a:rPr lang="en-US" sz="1000" dirty="0">
                <a:solidFill>
                  <a:schemeClr val="tx1"/>
                </a:solidFill>
                <a:latin typeface="Courier New" panose="02070309020205020404" pitchFamily="49" charset="0"/>
                <a:cs typeface="Courier New" panose="02070309020205020404" pitchFamily="49" charset="0"/>
              </a:rPr>
              <a:t>  0A2F	33  00110011</a:t>
            </a:r>
          </a:p>
          <a:p>
            <a:r>
              <a:rPr lang="en-US" sz="1000" dirty="0">
                <a:solidFill>
                  <a:schemeClr val="tx1"/>
                </a:solidFill>
                <a:latin typeface="Courier New" panose="02070309020205020404" pitchFamily="49" charset="0"/>
                <a:cs typeface="Courier New" panose="02070309020205020404" pitchFamily="49" charset="0"/>
              </a:rPr>
              <a:t>  0A30	02  B	12</a:t>
            </a:r>
          </a:p>
          <a:p>
            <a:r>
              <a:rPr lang="en-US" sz="1000" dirty="0">
                <a:solidFill>
                  <a:schemeClr val="tx1"/>
                </a:solidFill>
                <a:latin typeface="Courier New" panose="02070309020205020404" pitchFamily="49" charset="0"/>
                <a:cs typeface="Courier New" panose="02070309020205020404" pitchFamily="49" charset="0"/>
              </a:rPr>
              <a:t>  0A31	00  (reserved)</a:t>
            </a:r>
          </a:p>
          <a:p>
            <a:r>
              <a:rPr lang="en-US" sz="1000" dirty="0">
                <a:solidFill>
                  <a:schemeClr val="tx1"/>
                </a:solidFill>
                <a:latin typeface="Courier New" panose="02070309020205020404" pitchFamily="49" charset="0"/>
                <a:cs typeface="Courier New" panose="02070309020205020404" pitchFamily="49" charset="0"/>
              </a:rPr>
              <a:t>  0A32	3E  00111110</a:t>
            </a:r>
          </a:p>
          <a:p>
            <a:r>
              <a:rPr lang="en-US" sz="1000" dirty="0">
                <a:solidFill>
                  <a:schemeClr val="tx1"/>
                </a:solidFill>
                <a:latin typeface="Courier New" panose="02070309020205020404" pitchFamily="49" charset="0"/>
                <a:cs typeface="Courier New" panose="02070309020205020404" pitchFamily="49" charset="0"/>
              </a:rPr>
              <a:t>  0A33	3E  00111110</a:t>
            </a:r>
          </a:p>
          <a:p>
            <a:r>
              <a:rPr lang="en-US" sz="1000" dirty="0">
                <a:solidFill>
                  <a:schemeClr val="tx1"/>
                </a:solidFill>
                <a:latin typeface="Courier New" panose="02070309020205020404" pitchFamily="49" charset="0"/>
                <a:cs typeface="Courier New" panose="02070309020205020404" pitchFamily="49" charset="0"/>
              </a:rPr>
              <a:t>  0A34	33  00110011</a:t>
            </a:r>
          </a:p>
          <a:p>
            <a:r>
              <a:rPr lang="en-US" sz="1000" dirty="0">
                <a:solidFill>
                  <a:schemeClr val="tx1"/>
                </a:solidFill>
                <a:latin typeface="Courier New" panose="02070309020205020404" pitchFamily="49" charset="0"/>
                <a:cs typeface="Courier New" panose="02070309020205020404" pitchFamily="49" charset="0"/>
              </a:rPr>
              <a:t>  0A35	33  00110011</a:t>
            </a:r>
          </a:p>
          <a:p>
            <a:r>
              <a:rPr lang="en-US" sz="1000" dirty="0">
                <a:solidFill>
                  <a:schemeClr val="tx1"/>
                </a:solidFill>
                <a:latin typeface="Courier New" panose="02070309020205020404" pitchFamily="49" charset="0"/>
                <a:cs typeface="Courier New" panose="02070309020205020404" pitchFamily="49" charset="0"/>
              </a:rPr>
              <a:t>  0A36	3E  00111110</a:t>
            </a:r>
          </a:p>
          <a:p>
            <a:r>
              <a:rPr lang="en-US" sz="1000" dirty="0">
                <a:solidFill>
                  <a:schemeClr val="tx1"/>
                </a:solidFill>
                <a:latin typeface="Courier New" panose="02070309020205020404" pitchFamily="49" charset="0"/>
                <a:cs typeface="Courier New" panose="02070309020205020404" pitchFamily="49" charset="0"/>
              </a:rPr>
              <a:t>  0A37	3E  00111110</a:t>
            </a:r>
          </a:p>
          <a:p>
            <a:r>
              <a:rPr lang="en-US" sz="1000" dirty="0">
                <a:solidFill>
                  <a:schemeClr val="tx1"/>
                </a:solidFill>
                <a:latin typeface="Courier New" panose="02070309020205020404" pitchFamily="49" charset="0"/>
                <a:cs typeface="Courier New" panose="02070309020205020404" pitchFamily="49" charset="0"/>
              </a:rPr>
              <a:t>  0A38	33  00110011</a:t>
            </a:r>
          </a:p>
          <a:p>
            <a:r>
              <a:rPr lang="en-US" sz="1000" dirty="0">
                <a:solidFill>
                  <a:schemeClr val="tx1"/>
                </a:solidFill>
                <a:latin typeface="Courier New" panose="02070309020205020404" pitchFamily="49" charset="0"/>
                <a:cs typeface="Courier New" panose="02070309020205020404" pitchFamily="49" charset="0"/>
              </a:rPr>
              <a:t>  0A39	33  00110011</a:t>
            </a:r>
          </a:p>
          <a:p>
            <a:r>
              <a:rPr lang="en-US" sz="1000" dirty="0">
                <a:solidFill>
                  <a:schemeClr val="tx1"/>
                </a:solidFill>
                <a:latin typeface="Courier New" panose="02070309020205020404" pitchFamily="49" charset="0"/>
                <a:cs typeface="Courier New" panose="02070309020205020404" pitchFamily="49" charset="0"/>
              </a:rPr>
              <a:t>  0A3A	3E  00111110</a:t>
            </a:r>
          </a:p>
          <a:p>
            <a:r>
              <a:rPr lang="en-US" sz="1000" dirty="0">
                <a:solidFill>
                  <a:schemeClr val="tx1"/>
                </a:solidFill>
                <a:latin typeface="Courier New" panose="02070309020205020404" pitchFamily="49" charset="0"/>
                <a:cs typeface="Courier New" panose="02070309020205020404" pitchFamily="49" charset="0"/>
              </a:rPr>
              <a:t>  0A3B	3E  00111110</a:t>
            </a:r>
          </a:p>
          <a:p>
            <a:r>
              <a:rPr lang="en-US" sz="1000" dirty="0">
                <a:solidFill>
                  <a:schemeClr val="tx1"/>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0BE0	00  " "(blank) 444</a:t>
            </a:r>
          </a:p>
          <a:p>
            <a:r>
              <a:rPr lang="en-US" sz="1000" dirty="0">
                <a:solidFill>
                  <a:schemeClr val="tx1"/>
                </a:solidFill>
                <a:latin typeface="Courier New" panose="02070309020205020404" pitchFamily="49" charset="0"/>
                <a:cs typeface="Courier New" panose="02070309020205020404" pitchFamily="49" charset="0"/>
              </a:rPr>
              <a:t>  0BE1	00  (reserved)</a:t>
            </a:r>
          </a:p>
          <a:p>
            <a:r>
              <a:rPr lang="en-US" sz="1000" dirty="0">
                <a:solidFill>
                  <a:schemeClr val="tx1"/>
                </a:solidFill>
                <a:latin typeface="Courier New" panose="02070309020205020404" pitchFamily="49" charset="0"/>
                <a:cs typeface="Courier New" panose="02070309020205020404" pitchFamily="49" charset="0"/>
              </a:rPr>
              <a:t>  0BE2	00  00000000</a:t>
            </a:r>
          </a:p>
          <a:p>
            <a:r>
              <a:rPr lang="en-US" sz="1000" dirty="0">
                <a:solidFill>
                  <a:schemeClr val="tx1"/>
                </a:solidFill>
                <a:latin typeface="Courier New" panose="02070309020205020404" pitchFamily="49" charset="0"/>
                <a:cs typeface="Courier New" panose="02070309020205020404" pitchFamily="49" charset="0"/>
              </a:rPr>
              <a:t>  0BE3	00  00000000</a:t>
            </a:r>
          </a:p>
          <a:p>
            <a:r>
              <a:rPr lang="en-US" sz="1000" dirty="0">
                <a:solidFill>
                  <a:schemeClr val="tx1"/>
                </a:solidFill>
                <a:latin typeface="Courier New" panose="02070309020205020404" pitchFamily="49" charset="0"/>
                <a:cs typeface="Courier New" panose="02070309020205020404" pitchFamily="49" charset="0"/>
              </a:rPr>
              <a:t>  0BE4	00  00000000</a:t>
            </a:r>
          </a:p>
          <a:p>
            <a:r>
              <a:rPr lang="en-US" sz="1000" dirty="0">
                <a:solidFill>
                  <a:schemeClr val="tx1"/>
                </a:solidFill>
                <a:latin typeface="Courier New" panose="02070309020205020404" pitchFamily="49" charset="0"/>
                <a:cs typeface="Courier New" panose="02070309020205020404" pitchFamily="49" charset="0"/>
              </a:rPr>
              <a:t>  0BE5	00  00000000</a:t>
            </a:r>
          </a:p>
          <a:p>
            <a:r>
              <a:rPr lang="en-US" sz="1000" dirty="0">
                <a:solidFill>
                  <a:schemeClr val="tx1"/>
                </a:solidFill>
                <a:latin typeface="Courier New" panose="02070309020205020404" pitchFamily="49" charset="0"/>
                <a:cs typeface="Courier New" panose="02070309020205020404" pitchFamily="49" charset="0"/>
              </a:rPr>
              <a:t>  0BE6	00  00000000</a:t>
            </a:r>
          </a:p>
          <a:p>
            <a:r>
              <a:rPr lang="en-US" sz="1000" dirty="0">
                <a:solidFill>
                  <a:schemeClr val="tx1"/>
                </a:solidFill>
                <a:latin typeface="Courier New" panose="02070309020205020404" pitchFamily="49" charset="0"/>
                <a:cs typeface="Courier New" panose="02070309020205020404" pitchFamily="49" charset="0"/>
              </a:rPr>
              <a:t>  0BE7	00  00000000</a:t>
            </a:r>
          </a:p>
          <a:p>
            <a:r>
              <a:rPr lang="en-US" sz="1000" dirty="0">
                <a:solidFill>
                  <a:schemeClr val="tx1"/>
                </a:solidFill>
                <a:latin typeface="Courier New" panose="02070309020205020404" pitchFamily="49" charset="0"/>
                <a:cs typeface="Courier New" panose="02070309020205020404" pitchFamily="49" charset="0"/>
              </a:rPr>
              <a:t>  0BE8	00  00000000</a:t>
            </a:r>
          </a:p>
          <a:p>
            <a:r>
              <a:rPr lang="en-US" sz="1000" dirty="0">
                <a:solidFill>
                  <a:schemeClr val="tx1"/>
                </a:solidFill>
                <a:latin typeface="Courier New" panose="02070309020205020404" pitchFamily="49" charset="0"/>
                <a:cs typeface="Courier New" panose="02070309020205020404" pitchFamily="49" charset="0"/>
              </a:rPr>
              <a:t>  0BE9	00  00000000</a:t>
            </a:r>
          </a:p>
          <a:p>
            <a:r>
              <a:rPr lang="en-US" sz="1000" dirty="0">
                <a:solidFill>
                  <a:schemeClr val="tx1"/>
                </a:solidFill>
                <a:latin typeface="Courier New" panose="02070309020205020404" pitchFamily="49" charset="0"/>
                <a:cs typeface="Courier New" panose="02070309020205020404" pitchFamily="49" charset="0"/>
              </a:rPr>
              <a:t>  0BEA	00  00000000</a:t>
            </a:r>
          </a:p>
          <a:p>
            <a:r>
              <a:rPr lang="en-US" sz="1000" dirty="0">
                <a:solidFill>
                  <a:schemeClr val="tx1"/>
                </a:solidFill>
                <a:latin typeface="Courier New" panose="02070309020205020404" pitchFamily="49" charset="0"/>
                <a:cs typeface="Courier New" panose="02070309020205020404" pitchFamily="49" charset="0"/>
              </a:rPr>
              <a:t>  0BEB	00  00000000</a:t>
            </a:r>
          </a:p>
        </p:txBody>
      </p:sp>
      <p:sp>
        <p:nvSpPr>
          <p:cNvPr id="43" name="Right Brace 42">
            <a:extLst>
              <a:ext uri="{FF2B5EF4-FFF2-40B4-BE49-F238E27FC236}">
                <a16:creationId xmlns:a16="http://schemas.microsoft.com/office/drawing/2014/main" id="{10ED2151-090B-6FAF-F486-6BB71EA5328D}"/>
              </a:ext>
            </a:extLst>
          </p:cNvPr>
          <p:cNvSpPr/>
          <p:nvPr/>
        </p:nvSpPr>
        <p:spPr>
          <a:xfrm>
            <a:off x="8651629" y="1125415"/>
            <a:ext cx="281003" cy="4009293"/>
          </a:xfrm>
          <a:prstGeom prst="rightBrace">
            <a:avLst>
              <a:gd name="adj1" fmla="val 51268"/>
              <a:gd name="adj2" fmla="val 50000"/>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Rectangle 43">
            <a:extLst>
              <a:ext uri="{FF2B5EF4-FFF2-40B4-BE49-F238E27FC236}">
                <a16:creationId xmlns:a16="http://schemas.microsoft.com/office/drawing/2014/main" id="{D47A5BC9-628D-D914-8187-9AE34317B933}"/>
              </a:ext>
            </a:extLst>
          </p:cNvPr>
          <p:cNvSpPr/>
          <p:nvPr/>
        </p:nvSpPr>
        <p:spPr>
          <a:xfrm>
            <a:off x="8410052" y="4084037"/>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0582B7F-4A42-B90F-A6B8-477AC511DC01}"/>
              </a:ext>
            </a:extLst>
          </p:cNvPr>
          <p:cNvSpPr/>
          <p:nvPr/>
        </p:nvSpPr>
        <p:spPr>
          <a:xfrm>
            <a:off x="4464587" y="5055089"/>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79">
            <a:extLst>
              <a:ext uri="{FF2B5EF4-FFF2-40B4-BE49-F238E27FC236}">
                <a16:creationId xmlns:a16="http://schemas.microsoft.com/office/drawing/2014/main" id="{1576D38D-F4FF-43DC-F9E6-B40C20BBF886}"/>
              </a:ext>
            </a:extLst>
          </p:cNvPr>
          <p:cNvCxnSpPr>
            <a:cxnSpLocks/>
            <a:stCxn id="44" idx="2"/>
            <a:endCxn id="45" idx="3"/>
          </p:cNvCxnSpPr>
          <p:nvPr/>
        </p:nvCxnSpPr>
        <p:spPr>
          <a:xfrm rot="5400000">
            <a:off x="6114696" y="2757289"/>
            <a:ext cx="891433" cy="3863404"/>
          </a:xfrm>
          <a:prstGeom prst="bentConnector2">
            <a:avLst/>
          </a:prstGeom>
          <a:ln w="25400">
            <a:prstDash val="lgDash"/>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E13C3C5-10C5-2AFF-B3F4-32BCABC3DA8B}"/>
              </a:ext>
            </a:extLst>
          </p:cNvPr>
          <p:cNvCxnSpPr/>
          <p:nvPr/>
        </p:nvCxnSpPr>
        <p:spPr>
          <a:xfrm>
            <a:off x="11512062" y="522138"/>
            <a:ext cx="0" cy="369769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4107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8E06-ED1B-FA5B-5A4F-79FFCB8E0D4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5F52F1-FED1-91A3-8CA9-9FCE760CFB0A}"/>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07C0</a:t>
            </a:r>
          </a:p>
        </p:txBody>
      </p:sp>
      <p:sp>
        <p:nvSpPr>
          <p:cNvPr id="5" name="TextBox 4">
            <a:extLst>
              <a:ext uri="{FF2B5EF4-FFF2-40B4-BE49-F238E27FC236}">
                <a16:creationId xmlns:a16="http://schemas.microsoft.com/office/drawing/2014/main" id="{C5753C9C-A652-EC67-941C-795C781C5D91}"/>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0302CE57-EA3A-604F-C938-ECC9DED02DCE}"/>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07B8</a:t>
            </a:r>
          </a:p>
        </p:txBody>
      </p:sp>
      <p:sp>
        <p:nvSpPr>
          <p:cNvPr id="7" name="Rectangle 6">
            <a:extLst>
              <a:ext uri="{FF2B5EF4-FFF2-40B4-BE49-F238E27FC236}">
                <a16:creationId xmlns:a16="http://schemas.microsoft.com/office/drawing/2014/main" id="{5976C4F6-D68E-08FE-8CC6-23B6BAEE4E22}"/>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B76DCE09-F6BE-75F5-8DAF-160E4F97EC0B}"/>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828233D5-3856-7D5F-EEEC-C5E9F2424220}"/>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F2E42BB5-6A7E-EF19-CA74-1EDA12D411A4}"/>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D378FC63-02DD-E90D-804D-B9CD83AD785D}"/>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A8F4987A-4E58-F553-CDC0-2D25F2B7DB8C}"/>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0000</a:t>
            </a:r>
          </a:p>
        </p:txBody>
      </p:sp>
      <p:sp>
        <p:nvSpPr>
          <p:cNvPr id="13" name="TextBox 12">
            <a:extLst>
              <a:ext uri="{FF2B5EF4-FFF2-40B4-BE49-F238E27FC236}">
                <a16:creationId xmlns:a16="http://schemas.microsoft.com/office/drawing/2014/main" id="{86137E0E-E0BE-66FA-EBDE-A23FDCF3703B}"/>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CE9C5B14-5D03-FFF3-14DA-182951199C98}"/>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0100</a:t>
            </a:r>
          </a:p>
        </p:txBody>
      </p:sp>
      <p:sp>
        <p:nvSpPr>
          <p:cNvPr id="15" name="Rectangle 14">
            <a:extLst>
              <a:ext uri="{FF2B5EF4-FFF2-40B4-BE49-F238E27FC236}">
                <a16:creationId xmlns:a16="http://schemas.microsoft.com/office/drawing/2014/main" id="{2D936848-72AA-1ECB-3BA5-475761D9DAFA}"/>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0BE2</a:t>
            </a:r>
          </a:p>
        </p:txBody>
      </p:sp>
      <p:sp>
        <p:nvSpPr>
          <p:cNvPr id="16" name="Rectangle 15">
            <a:extLst>
              <a:ext uri="{FF2B5EF4-FFF2-40B4-BE49-F238E27FC236}">
                <a16:creationId xmlns:a16="http://schemas.microsoft.com/office/drawing/2014/main" id="{B9037A38-602D-CA4D-1C4B-BAAAFB9431AB}"/>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urier New" panose="02070309020205020404" pitchFamily="49" charset="0"/>
                <a:cs typeface="Courier New" panose="02070309020205020404" pitchFamily="49" charset="0"/>
              </a:rPr>
              <a:t>00</a:t>
            </a:r>
            <a:r>
              <a:rPr lang="en-US" dirty="0">
                <a:solidFill>
                  <a:schemeClr val="tx1"/>
                </a:solidFill>
                <a:latin typeface="Courier New" panose="02070309020205020404" pitchFamily="49" charset="0"/>
                <a:cs typeface="Courier New" panose="02070309020205020404" pitchFamily="49" charset="0"/>
              </a:rPr>
              <a:t>00</a:t>
            </a:r>
          </a:p>
        </p:txBody>
      </p:sp>
      <p:sp>
        <p:nvSpPr>
          <p:cNvPr id="17" name="TextBox 16">
            <a:extLst>
              <a:ext uri="{FF2B5EF4-FFF2-40B4-BE49-F238E27FC236}">
                <a16:creationId xmlns:a16="http://schemas.microsoft.com/office/drawing/2014/main" id="{68EC6175-C244-7725-6AB2-BFA70119351C}"/>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DE9B1205-C3F2-225E-3092-40124D134E79}"/>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E112054B-E249-BC0E-6D21-63702416DA2F}"/>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08AB2FDD-E015-82EF-9547-EC0054B97A5A}"/>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21" name="TextBox 20">
            <a:extLst>
              <a:ext uri="{FF2B5EF4-FFF2-40B4-BE49-F238E27FC236}">
                <a16:creationId xmlns:a16="http://schemas.microsoft.com/office/drawing/2014/main" id="{6B5D7439-C695-3C51-B440-DBEB83F028B2}"/>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4379BC24-5528-C5B2-21CF-FF2B412B9196}"/>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dirty="0">
                <a:solidFill>
                  <a:srgbClr val="FF0000"/>
                </a:solidFill>
                <a:latin typeface="Courier New" panose="02070309020205020404" pitchFamily="49" charset="0"/>
                <a:cs typeface="Courier New" panose="02070309020205020404" pitchFamily="49" charset="0"/>
              </a:rPr>
              <a:t>05</a:t>
            </a:r>
          </a:p>
        </p:txBody>
      </p:sp>
      <p:sp>
        <p:nvSpPr>
          <p:cNvPr id="23" name="Rectangle 22">
            <a:extLst>
              <a:ext uri="{FF2B5EF4-FFF2-40B4-BE49-F238E27FC236}">
                <a16:creationId xmlns:a16="http://schemas.microsoft.com/office/drawing/2014/main" id="{1D02A5A6-8092-8569-C0E2-DEC70706DA3D}"/>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52A88DC0-8940-9FE9-A985-736101C88A1D}"/>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37A8</a:t>
            </a:r>
          </a:p>
        </p:txBody>
      </p:sp>
      <p:sp>
        <p:nvSpPr>
          <p:cNvPr id="25" name="TextBox 24">
            <a:extLst>
              <a:ext uri="{FF2B5EF4-FFF2-40B4-BE49-F238E27FC236}">
                <a16:creationId xmlns:a16="http://schemas.microsoft.com/office/drawing/2014/main" id="{812BC329-1769-1A39-73B3-1841C160A0F1}"/>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42830F9C-C187-EE59-981F-B7471B9F4F2E}"/>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15E69C12-03FC-B2D3-0442-CA5AA43A5111}"/>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68184065-1B4F-F17A-F46C-891B6651A63D}"/>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urier New" panose="02070309020205020404" pitchFamily="49" charset="0"/>
                <a:cs typeface="Courier New" panose="02070309020205020404" pitchFamily="49" charset="0"/>
              </a:rPr>
              <a:t>0C96</a:t>
            </a:r>
          </a:p>
        </p:txBody>
      </p:sp>
      <p:sp>
        <p:nvSpPr>
          <p:cNvPr id="29" name="TextBox 28">
            <a:extLst>
              <a:ext uri="{FF2B5EF4-FFF2-40B4-BE49-F238E27FC236}">
                <a16:creationId xmlns:a16="http://schemas.microsoft.com/office/drawing/2014/main" id="{3975715A-EB09-07F2-59D7-C3FE43FD5904}"/>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05718E20-CDAF-A5B5-860C-79DA0717D6FA}"/>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576A7552-9C2B-D01D-66A9-990DD9D8AC68}"/>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2" name="Rectangle 31">
            <a:extLst>
              <a:ext uri="{FF2B5EF4-FFF2-40B4-BE49-F238E27FC236}">
                <a16:creationId xmlns:a16="http://schemas.microsoft.com/office/drawing/2014/main" id="{61518721-A6C5-D09C-84BF-3426E60033D5}"/>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84BD9CD1-D7C5-29D3-A5F3-78797D254726}"/>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A8E24848-1E0D-14C1-D682-06333F60E642}"/>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F3767E61-DE05-ED69-F94B-1E5A9B542554}"/>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6F31947F-0386-712D-BBBD-0D6D33DE33FE}"/>
              </a:ext>
            </a:extLst>
          </p:cNvPr>
          <p:cNvSpPr>
            <a:spLocks noGrp="1"/>
          </p:cNvSpPr>
          <p:nvPr>
            <p:ph idx="1"/>
          </p:nvPr>
        </p:nvSpPr>
        <p:spPr>
          <a:xfrm>
            <a:off x="2801814" y="351693"/>
            <a:ext cx="7057294" cy="525193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07C0	D761	  MOVE   R7, (R6)+  </a:t>
            </a:r>
            <a:r>
              <a:rPr lang="pt-BR" sz="1400" dirty="0">
                <a:latin typeface="Courier New" panose="02070309020205020404" pitchFamily="49" charset="0"/>
                <a:cs typeface="Courier New" panose="02070309020205020404" pitchFamily="49" charset="0"/>
                <a:sym typeface="Wingdings" panose="05000000000000000000" pitchFamily="2" charset="2"/>
              </a:rPr>
              <a:t> R7 = MEM[R6], R6=R6+2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07C2	077C	  HTL    R7, R7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R7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R7</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07C4	DC01 0C96  LWI    R12, WORKING_ADDRESS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07C8	8905	  LBI    R9, #$05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 05</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PROCESS_ROWS_NEXT: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07CA	DBC8	  MOVE   R11, (R12)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07CC	D861	  MOVE   R8, (R6)+</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07CE	048C	  HTL    R4, R8</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07D0	8E80	  LBI    R14, #128</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07D2	C4ED	  SNBS   R4, R14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07D4	A005	  BRA    SET_COL1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07D6	8500	  LBI    R5, BG_SYMBOL</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07D8	055D	  LTH    R5,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07DA	A001	  BRA    DO_COL2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SET_COL1: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07DC	057D	  LTH    R5, R7</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DO_COL2: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07DE	048C	  HTL    R4, R8</a:t>
            </a:r>
          </a:p>
        </p:txBody>
      </p:sp>
      <p:sp>
        <p:nvSpPr>
          <p:cNvPr id="3" name="TextBox 2">
            <a:extLst>
              <a:ext uri="{FF2B5EF4-FFF2-40B4-BE49-F238E27FC236}">
                <a16:creationId xmlns:a16="http://schemas.microsoft.com/office/drawing/2014/main" id="{1EC62806-B54A-936A-46ED-AF4D1147113E}"/>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1" name="Rectangle 40">
            <a:extLst>
              <a:ext uri="{FF2B5EF4-FFF2-40B4-BE49-F238E27FC236}">
                <a16:creationId xmlns:a16="http://schemas.microsoft.com/office/drawing/2014/main" id="{D2AA0B06-3583-0E0B-014A-098E2AEAF6B5}"/>
              </a:ext>
            </a:extLst>
          </p:cNvPr>
          <p:cNvSpPr/>
          <p:nvPr/>
        </p:nvSpPr>
        <p:spPr>
          <a:xfrm>
            <a:off x="9241535" y="1930399"/>
            <a:ext cx="2731009" cy="427804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BIG_LETTERS:	</a:t>
            </a:r>
          </a:p>
          <a:p>
            <a:r>
              <a:rPr lang="en-US" sz="1000" dirty="0">
                <a:solidFill>
                  <a:schemeClr val="tx1"/>
                </a:solidFill>
                <a:latin typeface="Courier New" panose="02070309020205020404" pitchFamily="49" charset="0"/>
                <a:cs typeface="Courier New" panose="02070309020205020404" pitchFamily="49" charset="0"/>
              </a:rPr>
              <a:t>  0A24	01  A	0</a:t>
            </a:r>
          </a:p>
          <a:p>
            <a:r>
              <a:rPr lang="en-US" sz="1000" dirty="0">
                <a:solidFill>
                  <a:schemeClr val="tx1"/>
                </a:solidFill>
                <a:latin typeface="Courier New" panose="02070309020205020404" pitchFamily="49" charset="0"/>
                <a:cs typeface="Courier New" panose="02070309020205020404" pitchFamily="49" charset="0"/>
              </a:rPr>
              <a:t>  0A25	00  (reserved)</a:t>
            </a:r>
          </a:p>
          <a:p>
            <a:r>
              <a:rPr lang="en-US" sz="1000" dirty="0">
                <a:solidFill>
                  <a:schemeClr val="tx1"/>
                </a:solidFill>
                <a:latin typeface="Courier New" panose="02070309020205020404" pitchFamily="49" charset="0"/>
                <a:cs typeface="Courier New" panose="02070309020205020404" pitchFamily="49" charset="0"/>
              </a:rPr>
              <a:t>  0A26	0C  00001100</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  0A27	1E  00011110</a:t>
            </a:r>
          </a:p>
          <a:p>
            <a:r>
              <a:rPr lang="en-US" sz="1000" dirty="0">
                <a:solidFill>
                  <a:schemeClr val="tx1"/>
                </a:solidFill>
                <a:latin typeface="Courier New" panose="02070309020205020404" pitchFamily="49" charset="0"/>
                <a:cs typeface="Courier New" panose="02070309020205020404" pitchFamily="49" charset="0"/>
              </a:rPr>
              <a:t>  0A28	33  00110011</a:t>
            </a:r>
          </a:p>
          <a:p>
            <a:r>
              <a:rPr lang="en-US" sz="1000" dirty="0">
                <a:solidFill>
                  <a:schemeClr val="tx1"/>
                </a:solidFill>
                <a:latin typeface="Courier New" panose="02070309020205020404" pitchFamily="49" charset="0"/>
                <a:cs typeface="Courier New" panose="02070309020205020404" pitchFamily="49" charset="0"/>
              </a:rPr>
              <a:t>  0A29	33  00110011</a:t>
            </a:r>
          </a:p>
          <a:p>
            <a:r>
              <a:rPr lang="en-US" sz="1000" dirty="0">
                <a:solidFill>
                  <a:schemeClr val="tx1"/>
                </a:solidFill>
                <a:latin typeface="Courier New" panose="02070309020205020404" pitchFamily="49" charset="0"/>
                <a:cs typeface="Courier New" panose="02070309020205020404" pitchFamily="49" charset="0"/>
              </a:rPr>
              <a:t>  0A2A	3F  00111111</a:t>
            </a:r>
          </a:p>
          <a:p>
            <a:r>
              <a:rPr lang="en-US" sz="1000" dirty="0">
                <a:solidFill>
                  <a:schemeClr val="tx1"/>
                </a:solidFill>
                <a:latin typeface="Courier New" panose="02070309020205020404" pitchFamily="49" charset="0"/>
                <a:cs typeface="Courier New" panose="02070309020205020404" pitchFamily="49" charset="0"/>
              </a:rPr>
              <a:t>  0A2B	3F  00111111</a:t>
            </a:r>
          </a:p>
          <a:p>
            <a:r>
              <a:rPr lang="en-US" sz="1000" dirty="0">
                <a:solidFill>
                  <a:schemeClr val="tx1"/>
                </a:solidFill>
                <a:latin typeface="Courier New" panose="02070309020205020404" pitchFamily="49" charset="0"/>
                <a:cs typeface="Courier New" panose="02070309020205020404" pitchFamily="49" charset="0"/>
              </a:rPr>
              <a:t>  0A2C	33  00110011</a:t>
            </a:r>
          </a:p>
          <a:p>
            <a:r>
              <a:rPr lang="en-US" sz="1000" dirty="0">
                <a:solidFill>
                  <a:schemeClr val="tx1"/>
                </a:solidFill>
                <a:latin typeface="Courier New" panose="02070309020205020404" pitchFamily="49" charset="0"/>
                <a:cs typeface="Courier New" panose="02070309020205020404" pitchFamily="49" charset="0"/>
              </a:rPr>
              <a:t>  0A2D	33  00110011</a:t>
            </a:r>
          </a:p>
          <a:p>
            <a:r>
              <a:rPr lang="en-US" sz="1000" dirty="0">
                <a:solidFill>
                  <a:schemeClr val="tx1"/>
                </a:solidFill>
                <a:latin typeface="Courier New" panose="02070309020205020404" pitchFamily="49" charset="0"/>
                <a:cs typeface="Courier New" panose="02070309020205020404" pitchFamily="49" charset="0"/>
              </a:rPr>
              <a:t>  0A2E	33  00110011</a:t>
            </a:r>
          </a:p>
          <a:p>
            <a:r>
              <a:rPr lang="en-US" sz="1000" dirty="0">
                <a:solidFill>
                  <a:schemeClr val="tx1"/>
                </a:solidFill>
                <a:latin typeface="Courier New" panose="02070309020205020404" pitchFamily="49" charset="0"/>
                <a:cs typeface="Courier New" panose="02070309020205020404" pitchFamily="49" charset="0"/>
              </a:rPr>
              <a:t>  0A2F	33  00110011</a:t>
            </a:r>
          </a:p>
          <a:p>
            <a:r>
              <a:rPr lang="en-US" sz="1000" dirty="0">
                <a:solidFill>
                  <a:schemeClr val="tx1"/>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0BE0	00  " "(blank) 444</a:t>
            </a:r>
          </a:p>
          <a:p>
            <a:r>
              <a:rPr lang="en-US" sz="1000" dirty="0">
                <a:solidFill>
                  <a:schemeClr val="tx1"/>
                </a:solidFill>
                <a:latin typeface="Courier New" panose="02070309020205020404" pitchFamily="49" charset="0"/>
                <a:cs typeface="Courier New" panose="02070309020205020404" pitchFamily="49" charset="0"/>
              </a:rPr>
              <a:t>  0BE1	00  (reserved)</a:t>
            </a:r>
          </a:p>
          <a:p>
            <a:r>
              <a:rPr lang="en-US" sz="1000" dirty="0">
                <a:solidFill>
                  <a:schemeClr val="tx1"/>
                </a:solidFill>
                <a:latin typeface="Courier New" panose="02070309020205020404" pitchFamily="49" charset="0"/>
                <a:cs typeface="Courier New" panose="02070309020205020404" pitchFamily="49" charset="0"/>
              </a:rPr>
              <a:t>  0BE2	00  00000000</a:t>
            </a:r>
          </a:p>
          <a:p>
            <a:r>
              <a:rPr lang="en-US" sz="1000" dirty="0">
                <a:solidFill>
                  <a:schemeClr val="tx1"/>
                </a:solidFill>
                <a:latin typeface="Courier New" panose="02070309020205020404" pitchFamily="49" charset="0"/>
                <a:cs typeface="Courier New" panose="02070309020205020404" pitchFamily="49" charset="0"/>
              </a:rPr>
              <a:t>  0BE3	00  00000000</a:t>
            </a:r>
          </a:p>
          <a:p>
            <a:r>
              <a:rPr lang="en-US" sz="1000" dirty="0">
                <a:solidFill>
                  <a:schemeClr val="tx1"/>
                </a:solidFill>
                <a:latin typeface="Courier New" panose="02070309020205020404" pitchFamily="49" charset="0"/>
                <a:cs typeface="Courier New" panose="02070309020205020404" pitchFamily="49" charset="0"/>
              </a:rPr>
              <a:t>  0BE4	00  00000000</a:t>
            </a:r>
          </a:p>
          <a:p>
            <a:r>
              <a:rPr lang="en-US" sz="1000" dirty="0">
                <a:solidFill>
                  <a:schemeClr val="tx1"/>
                </a:solidFill>
                <a:latin typeface="Courier New" panose="02070309020205020404" pitchFamily="49" charset="0"/>
                <a:cs typeface="Courier New" panose="02070309020205020404" pitchFamily="49" charset="0"/>
              </a:rPr>
              <a:t>  0BE5	00  00000000</a:t>
            </a:r>
          </a:p>
          <a:p>
            <a:r>
              <a:rPr lang="en-US" sz="1000" dirty="0">
                <a:solidFill>
                  <a:schemeClr val="tx1"/>
                </a:solidFill>
                <a:latin typeface="Courier New" panose="02070309020205020404" pitchFamily="49" charset="0"/>
                <a:cs typeface="Courier New" panose="02070309020205020404" pitchFamily="49" charset="0"/>
              </a:rPr>
              <a:t>  0BE6	00  00000000</a:t>
            </a:r>
          </a:p>
          <a:p>
            <a:r>
              <a:rPr lang="en-US" sz="1000" dirty="0">
                <a:solidFill>
                  <a:schemeClr val="tx1"/>
                </a:solidFill>
                <a:latin typeface="Courier New" panose="02070309020205020404" pitchFamily="49" charset="0"/>
                <a:cs typeface="Courier New" panose="02070309020205020404" pitchFamily="49" charset="0"/>
              </a:rPr>
              <a:t>  0BE7	00  00000000</a:t>
            </a:r>
          </a:p>
          <a:p>
            <a:r>
              <a:rPr lang="en-US" sz="1000" dirty="0">
                <a:solidFill>
                  <a:schemeClr val="tx1"/>
                </a:solidFill>
                <a:latin typeface="Courier New" panose="02070309020205020404" pitchFamily="49" charset="0"/>
                <a:cs typeface="Courier New" panose="02070309020205020404" pitchFamily="49" charset="0"/>
              </a:rPr>
              <a:t>  0BE8	00  00000000</a:t>
            </a:r>
          </a:p>
          <a:p>
            <a:r>
              <a:rPr lang="en-US" sz="1000" dirty="0">
                <a:solidFill>
                  <a:schemeClr val="tx1"/>
                </a:solidFill>
                <a:latin typeface="Courier New" panose="02070309020205020404" pitchFamily="49" charset="0"/>
                <a:cs typeface="Courier New" panose="02070309020205020404" pitchFamily="49" charset="0"/>
              </a:rPr>
              <a:t>  0BE9	00  00000000</a:t>
            </a:r>
          </a:p>
          <a:p>
            <a:r>
              <a:rPr lang="en-US" sz="1000" dirty="0">
                <a:solidFill>
                  <a:schemeClr val="tx1"/>
                </a:solidFill>
                <a:latin typeface="Courier New" panose="02070309020205020404" pitchFamily="49" charset="0"/>
                <a:cs typeface="Courier New" panose="02070309020205020404" pitchFamily="49" charset="0"/>
              </a:rPr>
              <a:t>  0BEA	00  00000000</a:t>
            </a:r>
          </a:p>
          <a:p>
            <a:r>
              <a:rPr lang="en-US" sz="1000" dirty="0">
                <a:solidFill>
                  <a:schemeClr val="tx1"/>
                </a:solidFill>
                <a:latin typeface="Courier New" panose="02070309020205020404" pitchFamily="49" charset="0"/>
                <a:cs typeface="Courier New" panose="02070309020205020404" pitchFamily="49" charset="0"/>
              </a:rPr>
              <a:t>  0BEB	00  00000000</a:t>
            </a:r>
          </a:p>
        </p:txBody>
      </p:sp>
      <p:cxnSp>
        <p:nvCxnSpPr>
          <p:cNvPr id="54" name="Straight Arrow Connector 53">
            <a:extLst>
              <a:ext uri="{FF2B5EF4-FFF2-40B4-BE49-F238E27FC236}">
                <a16:creationId xmlns:a16="http://schemas.microsoft.com/office/drawing/2014/main" id="{A03E6CC3-2619-A498-A56D-C7B4F2BB4DCB}"/>
              </a:ext>
            </a:extLst>
          </p:cNvPr>
          <p:cNvCxnSpPr>
            <a:cxnSpLocks/>
            <a:stCxn id="58" idx="0"/>
          </p:cNvCxnSpPr>
          <p:nvPr/>
        </p:nvCxnSpPr>
        <p:spPr>
          <a:xfrm flipV="1">
            <a:off x="8028074" y="1570892"/>
            <a:ext cx="37403" cy="445136"/>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D51AC7B8-C004-3367-5311-48D096C88EC9}"/>
              </a:ext>
            </a:extLst>
          </p:cNvPr>
          <p:cNvSpPr/>
          <p:nvPr/>
        </p:nvSpPr>
        <p:spPr>
          <a:xfrm>
            <a:off x="4900247" y="649555"/>
            <a:ext cx="4818184" cy="991676"/>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Brace 37">
            <a:extLst>
              <a:ext uri="{FF2B5EF4-FFF2-40B4-BE49-F238E27FC236}">
                <a16:creationId xmlns:a16="http://schemas.microsoft.com/office/drawing/2014/main" id="{41C0425B-0CC8-ABEA-D807-D9876A071C52}"/>
              </a:ext>
            </a:extLst>
          </p:cNvPr>
          <p:cNvSpPr/>
          <p:nvPr/>
        </p:nvSpPr>
        <p:spPr>
          <a:xfrm rot="10800000">
            <a:off x="10066254" y="4210922"/>
            <a:ext cx="154067" cy="304879"/>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9C0B852D-7A1D-071D-E761-F19C0B303DF2}"/>
              </a:ext>
            </a:extLst>
          </p:cNvPr>
          <p:cNvCxnSpPr>
            <a:cxnSpLocks/>
          </p:cNvCxnSpPr>
          <p:nvPr/>
        </p:nvCxnSpPr>
        <p:spPr>
          <a:xfrm>
            <a:off x="2173165" y="2763679"/>
            <a:ext cx="7289923" cy="1822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027D50D2-6488-3A03-5C55-CD31042FA844}"/>
              </a:ext>
            </a:extLst>
          </p:cNvPr>
          <p:cNvSpPr/>
          <p:nvPr/>
        </p:nvSpPr>
        <p:spPr>
          <a:xfrm>
            <a:off x="8195403" y="469853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9" name="TextBox 48">
            <a:extLst>
              <a:ext uri="{FF2B5EF4-FFF2-40B4-BE49-F238E27FC236}">
                <a16:creationId xmlns:a16="http://schemas.microsoft.com/office/drawing/2014/main" id="{4DD50378-7DB9-5510-8DAC-3A39BF20DFDC}"/>
              </a:ext>
            </a:extLst>
          </p:cNvPr>
          <p:cNvSpPr txBox="1"/>
          <p:nvPr/>
        </p:nvSpPr>
        <p:spPr>
          <a:xfrm>
            <a:off x="7475749" y="469853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cxnSp>
        <p:nvCxnSpPr>
          <p:cNvPr id="50" name="Straight Arrow Connector 49">
            <a:extLst>
              <a:ext uri="{FF2B5EF4-FFF2-40B4-BE49-F238E27FC236}">
                <a16:creationId xmlns:a16="http://schemas.microsoft.com/office/drawing/2014/main" id="{FBEB963F-0644-15B4-8EDF-167413E6D07A}"/>
              </a:ext>
            </a:extLst>
          </p:cNvPr>
          <p:cNvCxnSpPr>
            <a:cxnSpLocks/>
          </p:cNvCxnSpPr>
          <p:nvPr/>
        </p:nvCxnSpPr>
        <p:spPr>
          <a:xfrm>
            <a:off x="2215662" y="4794738"/>
            <a:ext cx="5357446" cy="351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ED3282E-2838-DB90-4B94-8950C0AC4FA4}"/>
              </a:ext>
            </a:extLst>
          </p:cNvPr>
          <p:cNvCxnSpPr>
            <a:cxnSpLocks/>
          </p:cNvCxnSpPr>
          <p:nvPr/>
        </p:nvCxnSpPr>
        <p:spPr>
          <a:xfrm>
            <a:off x="2215662" y="3094892"/>
            <a:ext cx="7247426" cy="1186596"/>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851084C-8565-F7E8-47D0-8FBAF5B082BA}"/>
              </a:ext>
            </a:extLst>
          </p:cNvPr>
          <p:cNvSpPr txBox="1"/>
          <p:nvPr/>
        </p:nvSpPr>
        <p:spPr>
          <a:xfrm>
            <a:off x="6861504" y="2016028"/>
            <a:ext cx="2333139" cy="830997"/>
          </a:xfrm>
          <a:prstGeom prst="rect">
            <a:avLst/>
          </a:prstGeom>
          <a:solidFill>
            <a:srgbClr val="FFC000"/>
          </a:solidFill>
        </p:spPr>
        <p:txBody>
          <a:bodyPr wrap="square" rtlCol="0">
            <a:spAutoFit/>
          </a:bodyPr>
          <a:lstStyle/>
          <a:p>
            <a:pPr algn="ctr"/>
            <a:r>
              <a:rPr lang="en-US" sz="1600" dirty="0"/>
              <a:t>5x counter of “double rows” will mean that 10 total rows get processed.</a:t>
            </a:r>
          </a:p>
        </p:txBody>
      </p:sp>
      <p:sp>
        <p:nvSpPr>
          <p:cNvPr id="63" name="TextBox 62">
            <a:extLst>
              <a:ext uri="{FF2B5EF4-FFF2-40B4-BE49-F238E27FC236}">
                <a16:creationId xmlns:a16="http://schemas.microsoft.com/office/drawing/2014/main" id="{049FA2ED-20F8-11B1-5C74-FBB0BB8315D4}"/>
              </a:ext>
            </a:extLst>
          </p:cNvPr>
          <p:cNvSpPr txBox="1"/>
          <p:nvPr/>
        </p:nvSpPr>
        <p:spPr>
          <a:xfrm>
            <a:off x="6861504" y="2931992"/>
            <a:ext cx="2333139" cy="338554"/>
          </a:xfrm>
          <a:prstGeom prst="rect">
            <a:avLst/>
          </a:prstGeom>
          <a:solidFill>
            <a:srgbClr val="FFC000"/>
          </a:solidFill>
        </p:spPr>
        <p:txBody>
          <a:bodyPr wrap="square" rtlCol="0">
            <a:spAutoFit/>
          </a:bodyPr>
          <a:lstStyle/>
          <a:p>
            <a:pPr algn="ctr"/>
            <a:r>
              <a:rPr lang="en-US" sz="1600" dirty="0"/>
              <a:t>0xBE0 – 0xA24 = 0x1BC</a:t>
            </a:r>
          </a:p>
        </p:txBody>
      </p:sp>
      <p:sp>
        <p:nvSpPr>
          <p:cNvPr id="66" name="Right Brace 65">
            <a:extLst>
              <a:ext uri="{FF2B5EF4-FFF2-40B4-BE49-F238E27FC236}">
                <a16:creationId xmlns:a16="http://schemas.microsoft.com/office/drawing/2014/main" id="{8FC28F99-2477-C39F-4F7D-A9BDEB27B315}"/>
              </a:ext>
            </a:extLst>
          </p:cNvPr>
          <p:cNvSpPr/>
          <p:nvPr/>
        </p:nvSpPr>
        <p:spPr>
          <a:xfrm>
            <a:off x="11224494" y="4553387"/>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ight Brace 66">
            <a:extLst>
              <a:ext uri="{FF2B5EF4-FFF2-40B4-BE49-F238E27FC236}">
                <a16:creationId xmlns:a16="http://schemas.microsoft.com/office/drawing/2014/main" id="{A303ED4E-A546-8477-6CFE-7BBF944ECA7E}"/>
              </a:ext>
            </a:extLst>
          </p:cNvPr>
          <p:cNvSpPr/>
          <p:nvPr/>
        </p:nvSpPr>
        <p:spPr>
          <a:xfrm>
            <a:off x="11224494" y="4859163"/>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Right Brace 67">
            <a:extLst>
              <a:ext uri="{FF2B5EF4-FFF2-40B4-BE49-F238E27FC236}">
                <a16:creationId xmlns:a16="http://schemas.microsoft.com/office/drawing/2014/main" id="{780FAE58-C844-098D-8767-46555FBC8662}"/>
              </a:ext>
            </a:extLst>
          </p:cNvPr>
          <p:cNvSpPr/>
          <p:nvPr/>
        </p:nvSpPr>
        <p:spPr>
          <a:xfrm>
            <a:off x="11246719" y="5165476"/>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Right Brace 68">
            <a:extLst>
              <a:ext uri="{FF2B5EF4-FFF2-40B4-BE49-F238E27FC236}">
                <a16:creationId xmlns:a16="http://schemas.microsoft.com/office/drawing/2014/main" id="{EA7A8F47-7F26-52D0-213B-B48E52CD98C1}"/>
              </a:ext>
            </a:extLst>
          </p:cNvPr>
          <p:cNvSpPr/>
          <p:nvPr/>
        </p:nvSpPr>
        <p:spPr>
          <a:xfrm>
            <a:off x="11246719" y="54741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Right Brace 69">
            <a:extLst>
              <a:ext uri="{FF2B5EF4-FFF2-40B4-BE49-F238E27FC236}">
                <a16:creationId xmlns:a16="http://schemas.microsoft.com/office/drawing/2014/main" id="{3927D260-A943-5DC9-2395-5EF2D00B7C19}"/>
              </a:ext>
            </a:extLst>
          </p:cNvPr>
          <p:cNvSpPr/>
          <p:nvPr/>
        </p:nvSpPr>
        <p:spPr>
          <a:xfrm>
            <a:off x="11246719" y="57775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a:extLst>
              <a:ext uri="{FF2B5EF4-FFF2-40B4-BE49-F238E27FC236}">
                <a16:creationId xmlns:a16="http://schemas.microsoft.com/office/drawing/2014/main" id="{45C345BE-3B46-C598-B9AD-FE2527E040F0}"/>
              </a:ext>
            </a:extLst>
          </p:cNvPr>
          <p:cNvSpPr txBox="1"/>
          <p:nvPr/>
        </p:nvSpPr>
        <p:spPr>
          <a:xfrm>
            <a:off x="11293196" y="4484967"/>
            <a:ext cx="417102" cy="369332"/>
          </a:xfrm>
          <a:prstGeom prst="rect">
            <a:avLst/>
          </a:prstGeom>
          <a:noFill/>
        </p:spPr>
        <p:txBody>
          <a:bodyPr wrap="none" rtlCol="0">
            <a:spAutoFit/>
          </a:bodyPr>
          <a:lstStyle/>
          <a:p>
            <a:r>
              <a:rPr lang="en-US" dirty="0"/>
              <a:t>#1</a:t>
            </a:r>
          </a:p>
        </p:txBody>
      </p:sp>
      <p:sp>
        <p:nvSpPr>
          <p:cNvPr id="72" name="TextBox 71">
            <a:extLst>
              <a:ext uri="{FF2B5EF4-FFF2-40B4-BE49-F238E27FC236}">
                <a16:creationId xmlns:a16="http://schemas.microsoft.com/office/drawing/2014/main" id="{E032F4DF-72FA-258E-5662-9D3AFED4C29B}"/>
              </a:ext>
            </a:extLst>
          </p:cNvPr>
          <p:cNvSpPr txBox="1"/>
          <p:nvPr/>
        </p:nvSpPr>
        <p:spPr>
          <a:xfrm>
            <a:off x="11293196" y="4792119"/>
            <a:ext cx="417102" cy="369332"/>
          </a:xfrm>
          <a:prstGeom prst="rect">
            <a:avLst/>
          </a:prstGeom>
          <a:noFill/>
        </p:spPr>
        <p:txBody>
          <a:bodyPr wrap="none" rtlCol="0">
            <a:spAutoFit/>
          </a:bodyPr>
          <a:lstStyle/>
          <a:p>
            <a:r>
              <a:rPr lang="en-US" dirty="0"/>
              <a:t>#2</a:t>
            </a:r>
          </a:p>
        </p:txBody>
      </p:sp>
      <p:sp>
        <p:nvSpPr>
          <p:cNvPr id="73" name="TextBox 72">
            <a:extLst>
              <a:ext uri="{FF2B5EF4-FFF2-40B4-BE49-F238E27FC236}">
                <a16:creationId xmlns:a16="http://schemas.microsoft.com/office/drawing/2014/main" id="{74C7CCCC-2F9F-3EE0-C4AD-D743F017B432}"/>
              </a:ext>
            </a:extLst>
          </p:cNvPr>
          <p:cNvSpPr txBox="1"/>
          <p:nvPr/>
        </p:nvSpPr>
        <p:spPr>
          <a:xfrm>
            <a:off x="11293196" y="5099271"/>
            <a:ext cx="417102" cy="369332"/>
          </a:xfrm>
          <a:prstGeom prst="rect">
            <a:avLst/>
          </a:prstGeom>
          <a:noFill/>
        </p:spPr>
        <p:txBody>
          <a:bodyPr wrap="none" rtlCol="0">
            <a:spAutoFit/>
          </a:bodyPr>
          <a:lstStyle/>
          <a:p>
            <a:r>
              <a:rPr lang="en-US" dirty="0"/>
              <a:t>#3</a:t>
            </a:r>
          </a:p>
        </p:txBody>
      </p:sp>
      <p:sp>
        <p:nvSpPr>
          <p:cNvPr id="74" name="TextBox 73">
            <a:extLst>
              <a:ext uri="{FF2B5EF4-FFF2-40B4-BE49-F238E27FC236}">
                <a16:creationId xmlns:a16="http://schemas.microsoft.com/office/drawing/2014/main" id="{180B00CE-6F11-5662-648D-6F52D1FD5993}"/>
              </a:ext>
            </a:extLst>
          </p:cNvPr>
          <p:cNvSpPr txBox="1"/>
          <p:nvPr/>
        </p:nvSpPr>
        <p:spPr>
          <a:xfrm>
            <a:off x="11293196" y="5406423"/>
            <a:ext cx="417102"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CA6EF683-028A-2F82-CC44-B12CC4AC0550}"/>
              </a:ext>
            </a:extLst>
          </p:cNvPr>
          <p:cNvSpPr txBox="1"/>
          <p:nvPr/>
        </p:nvSpPr>
        <p:spPr>
          <a:xfrm>
            <a:off x="11293196" y="5713574"/>
            <a:ext cx="417102" cy="369332"/>
          </a:xfrm>
          <a:prstGeom prst="rect">
            <a:avLst/>
          </a:prstGeom>
          <a:noFill/>
        </p:spPr>
        <p:txBody>
          <a:bodyPr wrap="none" rtlCol="0">
            <a:spAutoFit/>
          </a:bodyPr>
          <a:lstStyle/>
          <a:p>
            <a:r>
              <a:rPr lang="en-US" dirty="0"/>
              <a:t>#5</a:t>
            </a:r>
          </a:p>
        </p:txBody>
      </p:sp>
      <p:sp>
        <p:nvSpPr>
          <p:cNvPr id="76" name="TextBox 75">
            <a:extLst>
              <a:ext uri="{FF2B5EF4-FFF2-40B4-BE49-F238E27FC236}">
                <a16:creationId xmlns:a16="http://schemas.microsoft.com/office/drawing/2014/main" id="{4DDBF7C2-AD53-5C05-F52C-E8EA01C8E68B}"/>
              </a:ext>
            </a:extLst>
          </p:cNvPr>
          <p:cNvSpPr txBox="1"/>
          <p:nvPr/>
        </p:nvSpPr>
        <p:spPr>
          <a:xfrm>
            <a:off x="6804824" y="4475073"/>
            <a:ext cx="1415772" cy="246221"/>
          </a:xfrm>
          <a:prstGeom prst="rect">
            <a:avLst/>
          </a:prstGeom>
          <a:noFill/>
        </p:spPr>
        <p:txBody>
          <a:bodyPr wrap="none" rtlCol="0">
            <a:spAutoFit/>
          </a:bodyPr>
          <a:lstStyle/>
          <a:p>
            <a:r>
              <a:rPr lang="en-US" sz="1000" dirty="0">
                <a:latin typeface="Courier New" panose="02070309020205020404" pitchFamily="49" charset="0"/>
                <a:cs typeface="Courier New" panose="02070309020205020404" pitchFamily="49" charset="0"/>
              </a:rPr>
              <a:t>WORKING_ADDRESS:</a:t>
            </a:r>
          </a:p>
        </p:txBody>
      </p:sp>
    </p:spTree>
    <p:extLst>
      <p:ext uri="{BB962C8B-B14F-4D97-AF65-F5344CB8AC3E}">
        <p14:creationId xmlns:p14="http://schemas.microsoft.com/office/powerpoint/2010/main" val="3399031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5B288-5188-A253-BC61-A70D61AFC7B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54C338-7785-9A4F-520E-31F387A0C214}"/>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2C20663E-F14E-14D4-067A-738AB3621F6E}"/>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C054317C-B545-EB85-2A25-585CE9FDC22B}"/>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07B8</a:t>
            </a:r>
          </a:p>
        </p:txBody>
      </p:sp>
      <p:sp>
        <p:nvSpPr>
          <p:cNvPr id="7" name="Rectangle 6">
            <a:extLst>
              <a:ext uri="{FF2B5EF4-FFF2-40B4-BE49-F238E27FC236}">
                <a16:creationId xmlns:a16="http://schemas.microsoft.com/office/drawing/2014/main" id="{87C833C7-F8A6-A354-6C6D-40296FB3654D}"/>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FC106A56-9902-D695-AF72-466198717B04}"/>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F20FBF21-79BA-7624-74DC-679A1A41D42B}"/>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3D867544-51AA-9C6C-4D8C-FAA359DCF8C8}"/>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AFDA7012-5812-316E-3C59-353D62440344}"/>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DAB38FF2-D2E9-F802-C234-1B6F6967E437}"/>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b="1" dirty="0">
                <a:solidFill>
                  <a:srgbClr val="FF0000"/>
                </a:solidFill>
                <a:latin typeface="Courier New" panose="02070309020205020404" pitchFamily="49" charset="0"/>
                <a:cs typeface="Courier New" panose="02070309020205020404" pitchFamily="49" charset="0"/>
              </a:rPr>
              <a:t>00</a:t>
            </a:r>
          </a:p>
        </p:txBody>
      </p:sp>
      <p:sp>
        <p:nvSpPr>
          <p:cNvPr id="13" name="TextBox 12">
            <a:extLst>
              <a:ext uri="{FF2B5EF4-FFF2-40B4-BE49-F238E27FC236}">
                <a16:creationId xmlns:a16="http://schemas.microsoft.com/office/drawing/2014/main" id="{273FFE73-E3F6-D100-5537-5F3C7B803D7B}"/>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A6239BC4-1EE8-E41D-E534-72681400E548}"/>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b="1" dirty="0">
                <a:solidFill>
                  <a:srgbClr val="FF0000"/>
                </a:solidFill>
                <a:latin typeface="Courier New" panose="02070309020205020404" pitchFamily="49" charset="0"/>
                <a:cs typeface="Courier New" panose="02070309020205020404" pitchFamily="49" charset="0"/>
              </a:rPr>
              <a:t>00</a:t>
            </a:r>
          </a:p>
        </p:txBody>
      </p:sp>
      <p:sp>
        <p:nvSpPr>
          <p:cNvPr id="15" name="Rectangle 14">
            <a:extLst>
              <a:ext uri="{FF2B5EF4-FFF2-40B4-BE49-F238E27FC236}">
                <a16:creationId xmlns:a16="http://schemas.microsoft.com/office/drawing/2014/main" id="{C15BA21F-6D9E-27AD-1568-AB37AC9CEE4C}"/>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0BE4</a:t>
            </a:r>
          </a:p>
        </p:txBody>
      </p:sp>
      <p:sp>
        <p:nvSpPr>
          <p:cNvPr id="16" name="Rectangle 15">
            <a:extLst>
              <a:ext uri="{FF2B5EF4-FFF2-40B4-BE49-F238E27FC236}">
                <a16:creationId xmlns:a16="http://schemas.microsoft.com/office/drawing/2014/main" id="{AEE7EA15-961C-4DD9-F74A-28689B319419}"/>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86DDACC1-FA84-AA5D-2608-6BE8BBFCC1A4}"/>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11E70D2B-16C1-E587-6D35-DF9E5B5CF0A0}"/>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DB88D384-8701-E587-F14D-E24DF61C9150}"/>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635CA47A-76D8-92CA-E7D5-C9BA52D2061B}"/>
              </a:ext>
            </a:extLst>
          </p:cNvPr>
          <p:cNvSpPr/>
          <p:nvPr/>
        </p:nvSpPr>
        <p:spPr>
          <a:xfrm>
            <a:off x="1384300" y="33152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0000</a:t>
            </a:r>
          </a:p>
        </p:txBody>
      </p:sp>
      <p:sp>
        <p:nvSpPr>
          <p:cNvPr id="21" name="TextBox 20">
            <a:extLst>
              <a:ext uri="{FF2B5EF4-FFF2-40B4-BE49-F238E27FC236}">
                <a16:creationId xmlns:a16="http://schemas.microsoft.com/office/drawing/2014/main" id="{6E5395E2-222E-1AC1-D075-C10B54E2672C}"/>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EC78D065-F813-B061-5AE4-A80EC8C9FBBA}"/>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0005</a:t>
            </a:r>
          </a:p>
        </p:txBody>
      </p:sp>
      <p:sp>
        <p:nvSpPr>
          <p:cNvPr id="23" name="Rectangle 22">
            <a:extLst>
              <a:ext uri="{FF2B5EF4-FFF2-40B4-BE49-F238E27FC236}">
                <a16:creationId xmlns:a16="http://schemas.microsoft.com/office/drawing/2014/main" id="{A72EBEA1-7A1A-CC01-B219-269E2BB4707C}"/>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DD885C22-EE9F-17C8-9B89-F294D95DF307}"/>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1000</a:t>
            </a:r>
          </a:p>
        </p:txBody>
      </p:sp>
      <p:sp>
        <p:nvSpPr>
          <p:cNvPr id="25" name="TextBox 24">
            <a:extLst>
              <a:ext uri="{FF2B5EF4-FFF2-40B4-BE49-F238E27FC236}">
                <a16:creationId xmlns:a16="http://schemas.microsoft.com/office/drawing/2014/main" id="{5AFC9F24-16FC-4BEF-CE32-5B9D3745CADB}"/>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3C89C85B-C997-7402-47CD-2C41B6D3384F}"/>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BDE171E3-D886-91D6-363C-EE67099B33B0}"/>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8FBEB23B-17A3-6A33-5773-9A011FCA9CA6}"/>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0C96</a:t>
            </a:r>
          </a:p>
        </p:txBody>
      </p:sp>
      <p:sp>
        <p:nvSpPr>
          <p:cNvPr id="29" name="TextBox 28">
            <a:extLst>
              <a:ext uri="{FF2B5EF4-FFF2-40B4-BE49-F238E27FC236}">
                <a16:creationId xmlns:a16="http://schemas.microsoft.com/office/drawing/2014/main" id="{DF803DBF-6E20-CFEB-3AD3-50CFD0E92187}"/>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09520810-2004-B0CE-9E93-DCAFD0F246CB}"/>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2E1A7F79-60E4-FCA1-8E39-0AE72E639CBC}"/>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a:t>
            </a:r>
            <a:r>
              <a:rPr lang="en-US" b="1" dirty="0">
                <a:solidFill>
                  <a:srgbClr val="FF0000"/>
                </a:solidFill>
                <a:latin typeface="Courier New" panose="02070309020205020404" pitchFamily="49" charset="0"/>
                <a:cs typeface="Courier New" panose="02070309020205020404" pitchFamily="49" charset="0"/>
              </a:rPr>
              <a:t>80</a:t>
            </a:r>
          </a:p>
        </p:txBody>
      </p:sp>
      <p:sp>
        <p:nvSpPr>
          <p:cNvPr id="32" name="Rectangle 31">
            <a:extLst>
              <a:ext uri="{FF2B5EF4-FFF2-40B4-BE49-F238E27FC236}">
                <a16:creationId xmlns:a16="http://schemas.microsoft.com/office/drawing/2014/main" id="{44EE45A9-21E1-BC76-7C1D-0C5AE4062BB0}"/>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9C9F7A79-EAE6-0CEA-2788-A5FBCB9E93F2}"/>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60EC54AB-5FFA-221B-1A07-2D03C34087AE}"/>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5BD465B8-80DD-A2EC-D287-FC31F81B73C0}"/>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37DD03DC-F61C-667F-1B4C-ED627FB77277}"/>
              </a:ext>
            </a:extLst>
          </p:cNvPr>
          <p:cNvSpPr>
            <a:spLocks noGrp="1"/>
          </p:cNvSpPr>
          <p:nvPr>
            <p:ph idx="1"/>
          </p:nvPr>
        </p:nvSpPr>
        <p:spPr>
          <a:xfrm>
            <a:off x="2801814" y="351693"/>
            <a:ext cx="7057294" cy="525193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07C0	D761	  MOVE   R7, (R6)+  </a:t>
            </a:r>
            <a:r>
              <a:rPr lang="pt-BR" sz="1400" dirty="0">
                <a:latin typeface="Courier New" panose="02070309020205020404" pitchFamily="49" charset="0"/>
                <a:cs typeface="Courier New" panose="02070309020205020404" pitchFamily="49" charset="0"/>
                <a:sym typeface="Wingdings" panose="05000000000000000000" pitchFamily="2" charset="2"/>
              </a:rPr>
              <a:t> R7 = MEM[R6], R6=R6+2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07C2	077C	  HTL    R7, R7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R7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R7</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07C4	DC01 0C96  LWI    R12, WORKING_ADDRESS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07C8	8905	  LBI    R9, #$05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 05</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PROCESS_ROWS_NEXT: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07CA	DBC8	  MOVE   R11, (R12)  </a:t>
            </a:r>
            <a:r>
              <a:rPr lang="pt-BR" sz="1400" dirty="0">
                <a:latin typeface="Courier New" panose="02070309020205020404" pitchFamily="49" charset="0"/>
                <a:cs typeface="Courier New" panose="02070309020205020404" pitchFamily="49" charset="0"/>
                <a:sym typeface="Wingdings" panose="05000000000000000000" pitchFamily="2" charset="2"/>
              </a:rPr>
              <a:t> R11 = MEM[R12]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07CC	D861	  MOVE   R8, (R6)+   </a:t>
            </a:r>
            <a:r>
              <a:rPr lang="pt-BR" sz="1400" dirty="0">
                <a:latin typeface="Courier New" panose="02070309020205020404" pitchFamily="49" charset="0"/>
                <a:cs typeface="Courier New" panose="02070309020205020404" pitchFamily="49" charset="0"/>
                <a:sym typeface="Wingdings" panose="05000000000000000000" pitchFamily="2" charset="2"/>
              </a:rPr>
              <a:t> R8=R6, R6=R6+2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07CE	048C	  HTL    R4, R8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R4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R8</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07D0	8E80	  LBI    R14, #128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R14 = 1000 0000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07D2	C4ED	  SNBS   R4, R14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Not</a:t>
            </a:r>
            <a:r>
              <a:rPr lang="pt-BR" sz="1400" dirty="0">
                <a:latin typeface="Courier New" panose="02070309020205020404" pitchFamily="49" charset="0"/>
                <a:cs typeface="Courier New" panose="02070309020205020404" pitchFamily="49" charset="0"/>
                <a:sym typeface="Wingdings" panose="05000000000000000000" pitchFamily="2" charset="2"/>
              </a:rPr>
              <a:t> Bit Set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07D4	A005	  BRA    SET_COL1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07D6	8500	  LBI    R5, BG_SYMBOL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R5 = 00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07D8	055D	  LTH    R5, R5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R5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R5</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07DA	A001	  BRA    DO_COL2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SET_COL1: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07DC	057D	  LTH    R5, R7</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DO_COL2: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07DE	... </a:t>
            </a:r>
          </a:p>
        </p:txBody>
      </p:sp>
      <p:sp>
        <p:nvSpPr>
          <p:cNvPr id="3" name="TextBox 2">
            <a:extLst>
              <a:ext uri="{FF2B5EF4-FFF2-40B4-BE49-F238E27FC236}">
                <a16:creationId xmlns:a16="http://schemas.microsoft.com/office/drawing/2014/main" id="{6D1AFE25-3345-B11E-E4CF-307D065E19FC}"/>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1" name="Rectangle 40">
            <a:extLst>
              <a:ext uri="{FF2B5EF4-FFF2-40B4-BE49-F238E27FC236}">
                <a16:creationId xmlns:a16="http://schemas.microsoft.com/office/drawing/2014/main" id="{CE7568C4-8393-B131-4069-3113B5039CF8}"/>
              </a:ext>
            </a:extLst>
          </p:cNvPr>
          <p:cNvSpPr/>
          <p:nvPr/>
        </p:nvSpPr>
        <p:spPr>
          <a:xfrm>
            <a:off x="9241535" y="1930399"/>
            <a:ext cx="2731009" cy="427804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BIG_LETTERS:	</a:t>
            </a:r>
          </a:p>
          <a:p>
            <a:r>
              <a:rPr lang="en-US" sz="1000" dirty="0">
                <a:solidFill>
                  <a:schemeClr val="tx1"/>
                </a:solidFill>
                <a:latin typeface="Courier New" panose="02070309020205020404" pitchFamily="49" charset="0"/>
                <a:cs typeface="Courier New" panose="02070309020205020404" pitchFamily="49" charset="0"/>
              </a:rPr>
              <a:t>  0A24	01  A	0</a:t>
            </a:r>
          </a:p>
          <a:p>
            <a:r>
              <a:rPr lang="en-US" sz="1000" dirty="0">
                <a:solidFill>
                  <a:schemeClr val="tx1"/>
                </a:solidFill>
                <a:latin typeface="Courier New" panose="02070309020205020404" pitchFamily="49" charset="0"/>
                <a:cs typeface="Courier New" panose="02070309020205020404" pitchFamily="49" charset="0"/>
              </a:rPr>
              <a:t>  0A25	00  (reserved)</a:t>
            </a:r>
          </a:p>
          <a:p>
            <a:r>
              <a:rPr lang="en-US" sz="1000" dirty="0">
                <a:solidFill>
                  <a:schemeClr val="tx1"/>
                </a:solidFill>
                <a:latin typeface="Courier New" panose="02070309020205020404" pitchFamily="49" charset="0"/>
                <a:cs typeface="Courier New" panose="02070309020205020404" pitchFamily="49" charset="0"/>
              </a:rPr>
              <a:t>  0A26	0C  00001100</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  0A27	1E  00011110</a:t>
            </a:r>
          </a:p>
          <a:p>
            <a:r>
              <a:rPr lang="en-US" sz="1000" dirty="0">
                <a:solidFill>
                  <a:schemeClr val="tx1"/>
                </a:solidFill>
                <a:latin typeface="Courier New" panose="02070309020205020404" pitchFamily="49" charset="0"/>
                <a:cs typeface="Courier New" panose="02070309020205020404" pitchFamily="49" charset="0"/>
              </a:rPr>
              <a:t>  0A28	33  00110011</a:t>
            </a:r>
          </a:p>
          <a:p>
            <a:r>
              <a:rPr lang="en-US" sz="1000" dirty="0">
                <a:solidFill>
                  <a:schemeClr val="tx1"/>
                </a:solidFill>
                <a:latin typeface="Courier New" panose="02070309020205020404" pitchFamily="49" charset="0"/>
                <a:cs typeface="Courier New" panose="02070309020205020404" pitchFamily="49" charset="0"/>
              </a:rPr>
              <a:t>  0A29	33  00110011</a:t>
            </a:r>
          </a:p>
          <a:p>
            <a:r>
              <a:rPr lang="en-US" sz="1000" dirty="0">
                <a:solidFill>
                  <a:schemeClr val="tx1"/>
                </a:solidFill>
                <a:latin typeface="Courier New" panose="02070309020205020404" pitchFamily="49" charset="0"/>
                <a:cs typeface="Courier New" panose="02070309020205020404" pitchFamily="49" charset="0"/>
              </a:rPr>
              <a:t>  0A2A	3F  00111111</a:t>
            </a:r>
          </a:p>
          <a:p>
            <a:r>
              <a:rPr lang="en-US" sz="1000" dirty="0">
                <a:solidFill>
                  <a:schemeClr val="tx1"/>
                </a:solidFill>
                <a:latin typeface="Courier New" panose="02070309020205020404" pitchFamily="49" charset="0"/>
                <a:cs typeface="Courier New" panose="02070309020205020404" pitchFamily="49" charset="0"/>
              </a:rPr>
              <a:t>  0A2B	3F  00111111</a:t>
            </a:r>
          </a:p>
          <a:p>
            <a:r>
              <a:rPr lang="en-US" sz="1000" dirty="0">
                <a:solidFill>
                  <a:schemeClr val="tx1"/>
                </a:solidFill>
                <a:latin typeface="Courier New" panose="02070309020205020404" pitchFamily="49" charset="0"/>
                <a:cs typeface="Courier New" panose="02070309020205020404" pitchFamily="49" charset="0"/>
              </a:rPr>
              <a:t>  0A2C	33  00110011</a:t>
            </a:r>
          </a:p>
          <a:p>
            <a:r>
              <a:rPr lang="en-US" sz="1000" dirty="0">
                <a:solidFill>
                  <a:schemeClr val="tx1"/>
                </a:solidFill>
                <a:latin typeface="Courier New" panose="02070309020205020404" pitchFamily="49" charset="0"/>
                <a:cs typeface="Courier New" panose="02070309020205020404" pitchFamily="49" charset="0"/>
              </a:rPr>
              <a:t>  0A2D	33  00110011</a:t>
            </a:r>
          </a:p>
          <a:p>
            <a:r>
              <a:rPr lang="en-US" sz="1000" dirty="0">
                <a:solidFill>
                  <a:schemeClr val="tx1"/>
                </a:solidFill>
                <a:latin typeface="Courier New" panose="02070309020205020404" pitchFamily="49" charset="0"/>
                <a:cs typeface="Courier New" panose="02070309020205020404" pitchFamily="49" charset="0"/>
              </a:rPr>
              <a:t>  0A2E	33  00110011</a:t>
            </a:r>
          </a:p>
          <a:p>
            <a:r>
              <a:rPr lang="en-US" sz="1000" dirty="0">
                <a:solidFill>
                  <a:schemeClr val="tx1"/>
                </a:solidFill>
                <a:latin typeface="Courier New" panose="02070309020205020404" pitchFamily="49" charset="0"/>
                <a:cs typeface="Courier New" panose="02070309020205020404" pitchFamily="49" charset="0"/>
              </a:rPr>
              <a:t>  0A2F	33  00110011</a:t>
            </a:r>
          </a:p>
          <a:p>
            <a:r>
              <a:rPr lang="en-US" sz="1000" dirty="0">
                <a:solidFill>
                  <a:schemeClr val="tx1"/>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0BE0	00  " "(blank) 444</a:t>
            </a:r>
          </a:p>
          <a:p>
            <a:r>
              <a:rPr lang="en-US" sz="1000" dirty="0">
                <a:solidFill>
                  <a:schemeClr val="tx1"/>
                </a:solidFill>
                <a:latin typeface="Courier New" panose="02070309020205020404" pitchFamily="49" charset="0"/>
                <a:cs typeface="Courier New" panose="02070309020205020404" pitchFamily="49" charset="0"/>
              </a:rPr>
              <a:t>  0BE1	00  (reserved)</a:t>
            </a:r>
          </a:p>
          <a:p>
            <a:r>
              <a:rPr lang="en-US" sz="1000" dirty="0">
                <a:solidFill>
                  <a:schemeClr val="tx1"/>
                </a:solidFill>
                <a:latin typeface="Courier New" panose="02070309020205020404" pitchFamily="49" charset="0"/>
                <a:cs typeface="Courier New" panose="02070309020205020404" pitchFamily="49" charset="0"/>
              </a:rPr>
              <a:t>  0BE2	00  00000000</a:t>
            </a:r>
          </a:p>
          <a:p>
            <a:r>
              <a:rPr lang="en-US" sz="1000" dirty="0">
                <a:solidFill>
                  <a:schemeClr val="tx1"/>
                </a:solidFill>
                <a:latin typeface="Courier New" panose="02070309020205020404" pitchFamily="49" charset="0"/>
                <a:cs typeface="Courier New" panose="02070309020205020404" pitchFamily="49" charset="0"/>
              </a:rPr>
              <a:t>  0BE3	00  00000000</a:t>
            </a:r>
          </a:p>
          <a:p>
            <a:r>
              <a:rPr lang="en-US" sz="1000" dirty="0">
                <a:solidFill>
                  <a:schemeClr val="tx1"/>
                </a:solidFill>
                <a:latin typeface="Courier New" panose="02070309020205020404" pitchFamily="49" charset="0"/>
                <a:cs typeface="Courier New" panose="02070309020205020404" pitchFamily="49" charset="0"/>
              </a:rPr>
              <a:t>  0BE4	00  00000000</a:t>
            </a:r>
          </a:p>
          <a:p>
            <a:r>
              <a:rPr lang="en-US" sz="1000" dirty="0">
                <a:solidFill>
                  <a:schemeClr val="tx1"/>
                </a:solidFill>
                <a:latin typeface="Courier New" panose="02070309020205020404" pitchFamily="49" charset="0"/>
                <a:cs typeface="Courier New" panose="02070309020205020404" pitchFamily="49" charset="0"/>
              </a:rPr>
              <a:t>  0BE5	00  00000000</a:t>
            </a:r>
          </a:p>
          <a:p>
            <a:r>
              <a:rPr lang="en-US" sz="1000" dirty="0">
                <a:solidFill>
                  <a:schemeClr val="tx1"/>
                </a:solidFill>
                <a:latin typeface="Courier New" panose="02070309020205020404" pitchFamily="49" charset="0"/>
                <a:cs typeface="Courier New" panose="02070309020205020404" pitchFamily="49" charset="0"/>
              </a:rPr>
              <a:t>  0BE6	00  00000000</a:t>
            </a:r>
          </a:p>
          <a:p>
            <a:r>
              <a:rPr lang="en-US" sz="1000" dirty="0">
                <a:solidFill>
                  <a:schemeClr val="tx1"/>
                </a:solidFill>
                <a:latin typeface="Courier New" panose="02070309020205020404" pitchFamily="49" charset="0"/>
                <a:cs typeface="Courier New" panose="02070309020205020404" pitchFamily="49" charset="0"/>
              </a:rPr>
              <a:t>  0BE7	00  00000000</a:t>
            </a:r>
          </a:p>
          <a:p>
            <a:r>
              <a:rPr lang="en-US" sz="1000" dirty="0">
                <a:solidFill>
                  <a:schemeClr val="tx1"/>
                </a:solidFill>
                <a:latin typeface="Courier New" panose="02070309020205020404" pitchFamily="49" charset="0"/>
                <a:cs typeface="Courier New" panose="02070309020205020404" pitchFamily="49" charset="0"/>
              </a:rPr>
              <a:t>  0BE8	00  00000000</a:t>
            </a:r>
          </a:p>
          <a:p>
            <a:r>
              <a:rPr lang="en-US" sz="1000" dirty="0">
                <a:solidFill>
                  <a:schemeClr val="tx1"/>
                </a:solidFill>
                <a:latin typeface="Courier New" panose="02070309020205020404" pitchFamily="49" charset="0"/>
                <a:cs typeface="Courier New" panose="02070309020205020404" pitchFamily="49" charset="0"/>
              </a:rPr>
              <a:t>  0BE9	00  00000000</a:t>
            </a:r>
          </a:p>
          <a:p>
            <a:r>
              <a:rPr lang="en-US" sz="1000" dirty="0">
                <a:solidFill>
                  <a:schemeClr val="tx1"/>
                </a:solidFill>
                <a:latin typeface="Courier New" panose="02070309020205020404" pitchFamily="49" charset="0"/>
                <a:cs typeface="Courier New" panose="02070309020205020404" pitchFamily="49" charset="0"/>
              </a:rPr>
              <a:t>  0BEA	00  00000000</a:t>
            </a:r>
          </a:p>
          <a:p>
            <a:r>
              <a:rPr lang="en-US" sz="1000" dirty="0">
                <a:solidFill>
                  <a:schemeClr val="tx1"/>
                </a:solidFill>
                <a:latin typeface="Courier New" panose="02070309020205020404" pitchFamily="49" charset="0"/>
                <a:cs typeface="Courier New" panose="02070309020205020404" pitchFamily="49" charset="0"/>
              </a:rPr>
              <a:t>  0BEB	00  00000000</a:t>
            </a:r>
          </a:p>
        </p:txBody>
      </p:sp>
      <p:sp>
        <p:nvSpPr>
          <p:cNvPr id="37" name="Rectangle 36">
            <a:extLst>
              <a:ext uri="{FF2B5EF4-FFF2-40B4-BE49-F238E27FC236}">
                <a16:creationId xmlns:a16="http://schemas.microsoft.com/office/drawing/2014/main" id="{4DDE8965-FF3A-18D7-6557-5E16EB0B2C7A}"/>
              </a:ext>
            </a:extLst>
          </p:cNvPr>
          <p:cNvSpPr/>
          <p:nvPr/>
        </p:nvSpPr>
        <p:spPr>
          <a:xfrm>
            <a:off x="4901083" y="1815059"/>
            <a:ext cx="4336701" cy="2276294"/>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Brace 37">
            <a:extLst>
              <a:ext uri="{FF2B5EF4-FFF2-40B4-BE49-F238E27FC236}">
                <a16:creationId xmlns:a16="http://schemas.microsoft.com/office/drawing/2014/main" id="{09F8863C-CD89-677C-A950-63939C2BF555}"/>
              </a:ext>
            </a:extLst>
          </p:cNvPr>
          <p:cNvSpPr/>
          <p:nvPr/>
        </p:nvSpPr>
        <p:spPr>
          <a:xfrm rot="10800000">
            <a:off x="10066254" y="4525247"/>
            <a:ext cx="154067" cy="304879"/>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ectangle 47">
            <a:extLst>
              <a:ext uri="{FF2B5EF4-FFF2-40B4-BE49-F238E27FC236}">
                <a16:creationId xmlns:a16="http://schemas.microsoft.com/office/drawing/2014/main" id="{767407EE-59DD-9475-49E4-E9133A3EFC13}"/>
              </a:ext>
            </a:extLst>
          </p:cNvPr>
          <p:cNvSpPr/>
          <p:nvPr/>
        </p:nvSpPr>
        <p:spPr>
          <a:xfrm>
            <a:off x="8195403" y="469853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9" name="TextBox 48">
            <a:extLst>
              <a:ext uri="{FF2B5EF4-FFF2-40B4-BE49-F238E27FC236}">
                <a16:creationId xmlns:a16="http://schemas.microsoft.com/office/drawing/2014/main" id="{EDB628B2-C6E7-B5B3-9A09-D066ADE8DA75}"/>
              </a:ext>
            </a:extLst>
          </p:cNvPr>
          <p:cNvSpPr txBox="1"/>
          <p:nvPr/>
        </p:nvSpPr>
        <p:spPr>
          <a:xfrm>
            <a:off x="7475749" y="469853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cxnSp>
        <p:nvCxnSpPr>
          <p:cNvPr id="50" name="Straight Arrow Connector 49">
            <a:extLst>
              <a:ext uri="{FF2B5EF4-FFF2-40B4-BE49-F238E27FC236}">
                <a16:creationId xmlns:a16="http://schemas.microsoft.com/office/drawing/2014/main" id="{9E6139D3-0F23-66BF-3B5A-16F6BAF2712E}"/>
              </a:ext>
            </a:extLst>
          </p:cNvPr>
          <p:cNvCxnSpPr>
            <a:cxnSpLocks/>
          </p:cNvCxnSpPr>
          <p:nvPr/>
        </p:nvCxnSpPr>
        <p:spPr>
          <a:xfrm>
            <a:off x="2146300" y="4525247"/>
            <a:ext cx="6140450" cy="2658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Right Brace 65">
            <a:extLst>
              <a:ext uri="{FF2B5EF4-FFF2-40B4-BE49-F238E27FC236}">
                <a16:creationId xmlns:a16="http://schemas.microsoft.com/office/drawing/2014/main" id="{5ED4C094-0020-4F6B-86CF-79B3FF042EAE}"/>
              </a:ext>
            </a:extLst>
          </p:cNvPr>
          <p:cNvSpPr/>
          <p:nvPr/>
        </p:nvSpPr>
        <p:spPr>
          <a:xfrm>
            <a:off x="11224494" y="4553387"/>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ight Brace 66">
            <a:extLst>
              <a:ext uri="{FF2B5EF4-FFF2-40B4-BE49-F238E27FC236}">
                <a16:creationId xmlns:a16="http://schemas.microsoft.com/office/drawing/2014/main" id="{6D752548-71BD-73E8-9DF3-303520424238}"/>
              </a:ext>
            </a:extLst>
          </p:cNvPr>
          <p:cNvSpPr/>
          <p:nvPr/>
        </p:nvSpPr>
        <p:spPr>
          <a:xfrm>
            <a:off x="11224494" y="4859163"/>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Right Brace 67">
            <a:extLst>
              <a:ext uri="{FF2B5EF4-FFF2-40B4-BE49-F238E27FC236}">
                <a16:creationId xmlns:a16="http://schemas.microsoft.com/office/drawing/2014/main" id="{A01A87DE-0455-1B7E-303E-2A76599A1B43}"/>
              </a:ext>
            </a:extLst>
          </p:cNvPr>
          <p:cNvSpPr/>
          <p:nvPr/>
        </p:nvSpPr>
        <p:spPr>
          <a:xfrm>
            <a:off x="11246719" y="5165476"/>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Right Brace 68">
            <a:extLst>
              <a:ext uri="{FF2B5EF4-FFF2-40B4-BE49-F238E27FC236}">
                <a16:creationId xmlns:a16="http://schemas.microsoft.com/office/drawing/2014/main" id="{66FDDDD2-4E7D-43BF-8133-6A10441FA470}"/>
              </a:ext>
            </a:extLst>
          </p:cNvPr>
          <p:cNvSpPr/>
          <p:nvPr/>
        </p:nvSpPr>
        <p:spPr>
          <a:xfrm>
            <a:off x="11246719" y="54741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Right Brace 69">
            <a:extLst>
              <a:ext uri="{FF2B5EF4-FFF2-40B4-BE49-F238E27FC236}">
                <a16:creationId xmlns:a16="http://schemas.microsoft.com/office/drawing/2014/main" id="{1C334602-FAF9-5134-8295-76BF02B643E8}"/>
              </a:ext>
            </a:extLst>
          </p:cNvPr>
          <p:cNvSpPr/>
          <p:nvPr/>
        </p:nvSpPr>
        <p:spPr>
          <a:xfrm>
            <a:off x="11246719" y="57775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a:extLst>
              <a:ext uri="{FF2B5EF4-FFF2-40B4-BE49-F238E27FC236}">
                <a16:creationId xmlns:a16="http://schemas.microsoft.com/office/drawing/2014/main" id="{68AA4C6E-1370-A5EC-5B86-CD71B6AD0C4C}"/>
              </a:ext>
            </a:extLst>
          </p:cNvPr>
          <p:cNvSpPr txBox="1"/>
          <p:nvPr/>
        </p:nvSpPr>
        <p:spPr>
          <a:xfrm>
            <a:off x="11293196" y="4484967"/>
            <a:ext cx="417102" cy="369332"/>
          </a:xfrm>
          <a:prstGeom prst="rect">
            <a:avLst/>
          </a:prstGeom>
          <a:noFill/>
        </p:spPr>
        <p:txBody>
          <a:bodyPr wrap="none" rtlCol="0">
            <a:spAutoFit/>
          </a:bodyPr>
          <a:lstStyle/>
          <a:p>
            <a:r>
              <a:rPr lang="en-US" dirty="0"/>
              <a:t>#1</a:t>
            </a:r>
          </a:p>
        </p:txBody>
      </p:sp>
      <p:sp>
        <p:nvSpPr>
          <p:cNvPr id="72" name="TextBox 71">
            <a:extLst>
              <a:ext uri="{FF2B5EF4-FFF2-40B4-BE49-F238E27FC236}">
                <a16:creationId xmlns:a16="http://schemas.microsoft.com/office/drawing/2014/main" id="{68E1184F-32F6-BBF8-CC21-C0A4CB58EA40}"/>
              </a:ext>
            </a:extLst>
          </p:cNvPr>
          <p:cNvSpPr txBox="1"/>
          <p:nvPr/>
        </p:nvSpPr>
        <p:spPr>
          <a:xfrm>
            <a:off x="11293196" y="4792119"/>
            <a:ext cx="417102" cy="369332"/>
          </a:xfrm>
          <a:prstGeom prst="rect">
            <a:avLst/>
          </a:prstGeom>
          <a:noFill/>
        </p:spPr>
        <p:txBody>
          <a:bodyPr wrap="none" rtlCol="0">
            <a:spAutoFit/>
          </a:bodyPr>
          <a:lstStyle/>
          <a:p>
            <a:r>
              <a:rPr lang="en-US" dirty="0"/>
              <a:t>#2</a:t>
            </a:r>
          </a:p>
        </p:txBody>
      </p:sp>
      <p:sp>
        <p:nvSpPr>
          <p:cNvPr id="73" name="TextBox 72">
            <a:extLst>
              <a:ext uri="{FF2B5EF4-FFF2-40B4-BE49-F238E27FC236}">
                <a16:creationId xmlns:a16="http://schemas.microsoft.com/office/drawing/2014/main" id="{CAFDE954-196F-4E04-CF90-0627DBC91E8A}"/>
              </a:ext>
            </a:extLst>
          </p:cNvPr>
          <p:cNvSpPr txBox="1"/>
          <p:nvPr/>
        </p:nvSpPr>
        <p:spPr>
          <a:xfrm>
            <a:off x="11293196" y="5099271"/>
            <a:ext cx="417102" cy="369332"/>
          </a:xfrm>
          <a:prstGeom prst="rect">
            <a:avLst/>
          </a:prstGeom>
          <a:noFill/>
        </p:spPr>
        <p:txBody>
          <a:bodyPr wrap="none" rtlCol="0">
            <a:spAutoFit/>
          </a:bodyPr>
          <a:lstStyle/>
          <a:p>
            <a:r>
              <a:rPr lang="en-US" dirty="0"/>
              <a:t>#3</a:t>
            </a:r>
          </a:p>
        </p:txBody>
      </p:sp>
      <p:sp>
        <p:nvSpPr>
          <p:cNvPr id="74" name="TextBox 73">
            <a:extLst>
              <a:ext uri="{FF2B5EF4-FFF2-40B4-BE49-F238E27FC236}">
                <a16:creationId xmlns:a16="http://schemas.microsoft.com/office/drawing/2014/main" id="{7F86E202-1B1A-A65F-43A0-C95E0D1253F9}"/>
              </a:ext>
            </a:extLst>
          </p:cNvPr>
          <p:cNvSpPr txBox="1"/>
          <p:nvPr/>
        </p:nvSpPr>
        <p:spPr>
          <a:xfrm>
            <a:off x="11293196" y="5406423"/>
            <a:ext cx="417102"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BB99CEED-E7CC-E7E5-131E-C30F0672361B}"/>
              </a:ext>
            </a:extLst>
          </p:cNvPr>
          <p:cNvSpPr txBox="1"/>
          <p:nvPr/>
        </p:nvSpPr>
        <p:spPr>
          <a:xfrm>
            <a:off x="11293196" y="5713574"/>
            <a:ext cx="417102" cy="369332"/>
          </a:xfrm>
          <a:prstGeom prst="rect">
            <a:avLst/>
          </a:prstGeom>
          <a:noFill/>
        </p:spPr>
        <p:txBody>
          <a:bodyPr wrap="none" rtlCol="0">
            <a:spAutoFit/>
          </a:bodyPr>
          <a:lstStyle/>
          <a:p>
            <a:r>
              <a:rPr lang="en-US" dirty="0"/>
              <a:t>#5</a:t>
            </a:r>
          </a:p>
        </p:txBody>
      </p:sp>
      <p:sp>
        <p:nvSpPr>
          <p:cNvPr id="76" name="TextBox 75">
            <a:extLst>
              <a:ext uri="{FF2B5EF4-FFF2-40B4-BE49-F238E27FC236}">
                <a16:creationId xmlns:a16="http://schemas.microsoft.com/office/drawing/2014/main" id="{9B4BEB54-1BB1-8A8E-30BD-199521C1717A}"/>
              </a:ext>
            </a:extLst>
          </p:cNvPr>
          <p:cNvSpPr txBox="1"/>
          <p:nvPr/>
        </p:nvSpPr>
        <p:spPr>
          <a:xfrm>
            <a:off x="6804824" y="4475073"/>
            <a:ext cx="1415772" cy="246221"/>
          </a:xfrm>
          <a:prstGeom prst="rect">
            <a:avLst/>
          </a:prstGeom>
          <a:noFill/>
        </p:spPr>
        <p:txBody>
          <a:bodyPr wrap="none" rtlCol="0">
            <a:spAutoFit/>
          </a:bodyPr>
          <a:lstStyle/>
          <a:p>
            <a:r>
              <a:rPr lang="en-US" sz="1000" dirty="0">
                <a:latin typeface="Courier New" panose="02070309020205020404" pitchFamily="49" charset="0"/>
                <a:cs typeface="Courier New" panose="02070309020205020404" pitchFamily="49" charset="0"/>
              </a:rPr>
              <a:t>WORKING_ADDRESS:</a:t>
            </a:r>
          </a:p>
        </p:txBody>
      </p:sp>
      <p:cxnSp>
        <p:nvCxnSpPr>
          <p:cNvPr id="36" name="Straight Arrow Connector 35">
            <a:extLst>
              <a:ext uri="{FF2B5EF4-FFF2-40B4-BE49-F238E27FC236}">
                <a16:creationId xmlns:a16="http://schemas.microsoft.com/office/drawing/2014/main" id="{16D63074-9667-9CF2-438D-F40AFD8F1FDB}"/>
              </a:ext>
            </a:extLst>
          </p:cNvPr>
          <p:cNvCxnSpPr>
            <a:cxnSpLocks/>
          </p:cNvCxnSpPr>
          <p:nvPr/>
        </p:nvCxnSpPr>
        <p:spPr>
          <a:xfrm flipV="1">
            <a:off x="1706880" y="2159461"/>
            <a:ext cx="264799" cy="1200959"/>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38BEF271-0735-8884-3C46-8337D27223B0}"/>
              </a:ext>
            </a:extLst>
          </p:cNvPr>
          <p:cNvSpPr/>
          <p:nvPr/>
        </p:nvSpPr>
        <p:spPr>
          <a:xfrm>
            <a:off x="4242442" y="4845682"/>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62C2659-923E-2B1C-A8CE-81A816407C83}"/>
              </a:ext>
            </a:extLst>
          </p:cNvPr>
          <p:cNvSpPr/>
          <p:nvPr/>
        </p:nvSpPr>
        <p:spPr>
          <a:xfrm>
            <a:off x="6582086" y="3889131"/>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79">
            <a:extLst>
              <a:ext uri="{FF2B5EF4-FFF2-40B4-BE49-F238E27FC236}">
                <a16:creationId xmlns:a16="http://schemas.microsoft.com/office/drawing/2014/main" id="{78259334-8C2F-CEB1-68C0-EAD39FCDC71F}"/>
              </a:ext>
            </a:extLst>
          </p:cNvPr>
          <p:cNvCxnSpPr>
            <a:cxnSpLocks/>
            <a:stCxn id="45" idx="2"/>
            <a:endCxn id="44" idx="3"/>
          </p:cNvCxnSpPr>
          <p:nvPr/>
        </p:nvCxnSpPr>
        <p:spPr>
          <a:xfrm rot="5400000">
            <a:off x="5096891" y="3358044"/>
            <a:ext cx="876932" cy="2257583"/>
          </a:xfrm>
          <a:prstGeom prst="bentConnector2">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29DB38B-298A-CCB4-90E0-6B5F5D0A6D3C}"/>
              </a:ext>
            </a:extLst>
          </p:cNvPr>
          <p:cNvCxnSpPr>
            <a:cxnSpLocks/>
          </p:cNvCxnSpPr>
          <p:nvPr/>
        </p:nvCxnSpPr>
        <p:spPr>
          <a:xfrm>
            <a:off x="2146300" y="3505200"/>
            <a:ext cx="7921625" cy="114300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3C5C3AFC-C972-8A3C-0776-F7C757E484A8}"/>
              </a:ext>
            </a:extLst>
          </p:cNvPr>
          <p:cNvCxnSpPr>
            <a:cxnSpLocks/>
          </p:cNvCxnSpPr>
          <p:nvPr/>
        </p:nvCxnSpPr>
        <p:spPr>
          <a:xfrm>
            <a:off x="2173165" y="2763679"/>
            <a:ext cx="7280398" cy="21226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8B597ADA-924A-969A-EF99-1EEB03725BAB}"/>
              </a:ext>
            </a:extLst>
          </p:cNvPr>
          <p:cNvSpPr txBox="1"/>
          <p:nvPr/>
        </p:nvSpPr>
        <p:spPr>
          <a:xfrm>
            <a:off x="4477491" y="5111850"/>
            <a:ext cx="2463116" cy="646331"/>
          </a:xfrm>
          <a:prstGeom prst="rect">
            <a:avLst/>
          </a:prstGeom>
          <a:solidFill>
            <a:srgbClr val="FFC000"/>
          </a:solidFill>
        </p:spPr>
        <p:txBody>
          <a:bodyPr wrap="square" rtlCol="0">
            <a:spAutoFit/>
          </a:bodyPr>
          <a:lstStyle/>
          <a:p>
            <a:pPr algn="ctr"/>
            <a:r>
              <a:rPr lang="en-US" dirty="0"/>
              <a:t>Processed Column 1, now process Column 2.</a:t>
            </a:r>
          </a:p>
        </p:txBody>
      </p:sp>
    </p:spTree>
    <p:extLst>
      <p:ext uri="{BB962C8B-B14F-4D97-AF65-F5344CB8AC3E}">
        <p14:creationId xmlns:p14="http://schemas.microsoft.com/office/powerpoint/2010/main" val="468268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13CAC-F33F-2AF1-83E4-20DF98E945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2B50AD9-B494-4126-D1D1-69E3E3EE3685}"/>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C85BCBDF-4F9D-A5B3-C097-01B4EAF4DA7C}"/>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C69F13C9-206F-3D1D-4A0A-92B291A89A40}"/>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07B8</a:t>
            </a:r>
          </a:p>
        </p:txBody>
      </p:sp>
      <p:sp>
        <p:nvSpPr>
          <p:cNvPr id="7" name="Rectangle 6">
            <a:extLst>
              <a:ext uri="{FF2B5EF4-FFF2-40B4-BE49-F238E27FC236}">
                <a16:creationId xmlns:a16="http://schemas.microsoft.com/office/drawing/2014/main" id="{CC274270-0949-1D94-0525-37E01E945D46}"/>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2463518D-5FE1-C422-18E3-CDC7B9862C5E}"/>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B7EF6B4F-4D0B-1719-8CBE-E7CCB3F9706F}"/>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23B32C6D-B52E-B6F3-3F0E-DFBFD46DC2A7}"/>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52151456-6552-43B6-64B0-56968CAAACBA}"/>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A64E4024-7103-A4C2-2E7E-5C3F0CDB5875}"/>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b="1" dirty="0">
                <a:solidFill>
                  <a:srgbClr val="FF0000"/>
                </a:solidFill>
                <a:latin typeface="Courier New" panose="02070309020205020404" pitchFamily="49" charset="0"/>
                <a:cs typeface="Courier New" panose="02070309020205020404" pitchFamily="49" charset="0"/>
              </a:rPr>
              <a:t>C3</a:t>
            </a:r>
          </a:p>
        </p:txBody>
      </p:sp>
      <p:sp>
        <p:nvSpPr>
          <p:cNvPr id="13" name="TextBox 12">
            <a:extLst>
              <a:ext uri="{FF2B5EF4-FFF2-40B4-BE49-F238E27FC236}">
                <a16:creationId xmlns:a16="http://schemas.microsoft.com/office/drawing/2014/main" id="{2E64815C-778E-C4B5-A275-4547753D2B68}"/>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9128C1F4-F541-110C-E878-132428C17CD5}"/>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urier New" panose="02070309020205020404" pitchFamily="49" charset="0"/>
                <a:cs typeface="Courier New" panose="02070309020205020404" pitchFamily="49" charset="0"/>
              </a:rPr>
              <a:t>26</a:t>
            </a:r>
            <a:r>
              <a:rPr lang="en-US" dirty="0">
                <a:solidFill>
                  <a:schemeClr val="tx1"/>
                </a:solidFill>
                <a:latin typeface="Courier New" panose="02070309020205020404" pitchFamily="49" charset="0"/>
                <a:cs typeface="Courier New" panose="02070309020205020404" pitchFamily="49" charset="0"/>
              </a:rPr>
              <a:t>xx</a:t>
            </a:r>
          </a:p>
        </p:txBody>
      </p:sp>
      <p:sp>
        <p:nvSpPr>
          <p:cNvPr id="15" name="Rectangle 14">
            <a:extLst>
              <a:ext uri="{FF2B5EF4-FFF2-40B4-BE49-F238E27FC236}">
                <a16:creationId xmlns:a16="http://schemas.microsoft.com/office/drawing/2014/main" id="{C15EFB22-1172-BF62-7AC8-89B122497327}"/>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0BE4</a:t>
            </a:r>
          </a:p>
        </p:txBody>
      </p:sp>
      <p:sp>
        <p:nvSpPr>
          <p:cNvPr id="16" name="Rectangle 15">
            <a:extLst>
              <a:ext uri="{FF2B5EF4-FFF2-40B4-BE49-F238E27FC236}">
                <a16:creationId xmlns:a16="http://schemas.microsoft.com/office/drawing/2014/main" id="{7437419F-DE68-01BB-F1DC-813DA60B0B72}"/>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urier New" panose="02070309020205020404" pitchFamily="49" charset="0"/>
                <a:cs typeface="Courier New" panose="02070309020205020404" pitchFamily="49" charset="0"/>
              </a:rPr>
              <a:t>2626</a:t>
            </a:r>
          </a:p>
        </p:txBody>
      </p:sp>
      <p:sp>
        <p:nvSpPr>
          <p:cNvPr id="17" name="TextBox 16">
            <a:extLst>
              <a:ext uri="{FF2B5EF4-FFF2-40B4-BE49-F238E27FC236}">
                <a16:creationId xmlns:a16="http://schemas.microsoft.com/office/drawing/2014/main" id="{49274A99-72F9-7EF9-10E3-09E945136688}"/>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79C16657-C54E-1DE6-368C-22088632D0F4}"/>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6C0BE66A-DAD4-697B-7EB2-DC8D7B63D688}"/>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74E2568B-00AE-A865-03DE-BBFF3C3A6958}"/>
              </a:ext>
            </a:extLst>
          </p:cNvPr>
          <p:cNvSpPr/>
          <p:nvPr/>
        </p:nvSpPr>
        <p:spPr>
          <a:xfrm>
            <a:off x="1384300" y="33152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C3E1</a:t>
            </a:r>
          </a:p>
        </p:txBody>
      </p:sp>
      <p:sp>
        <p:nvSpPr>
          <p:cNvPr id="21" name="TextBox 20">
            <a:extLst>
              <a:ext uri="{FF2B5EF4-FFF2-40B4-BE49-F238E27FC236}">
                <a16:creationId xmlns:a16="http://schemas.microsoft.com/office/drawing/2014/main" id="{9643A857-8B30-8E4B-1FFC-0031F8BDF0EB}"/>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9502E1FD-D43B-2ED8-C8AC-00F9F0510BBE}"/>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0005</a:t>
            </a:r>
          </a:p>
        </p:txBody>
      </p:sp>
      <p:sp>
        <p:nvSpPr>
          <p:cNvPr id="23" name="Rectangle 22">
            <a:extLst>
              <a:ext uri="{FF2B5EF4-FFF2-40B4-BE49-F238E27FC236}">
                <a16:creationId xmlns:a16="http://schemas.microsoft.com/office/drawing/2014/main" id="{8591CC3E-6F40-32DE-2F0A-4F8E4206ADCE}"/>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E9073AF4-F1EA-A9EB-36D8-A7D64A90115D}"/>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1000</a:t>
            </a:r>
          </a:p>
        </p:txBody>
      </p:sp>
      <p:sp>
        <p:nvSpPr>
          <p:cNvPr id="25" name="TextBox 24">
            <a:extLst>
              <a:ext uri="{FF2B5EF4-FFF2-40B4-BE49-F238E27FC236}">
                <a16:creationId xmlns:a16="http://schemas.microsoft.com/office/drawing/2014/main" id="{AC1606A8-D9F1-05F5-C2DB-3C73F40EB980}"/>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266DE551-61B4-E260-2AD4-8E2296FD6DE9}"/>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C9D29A45-A91B-AC0E-7F76-50505FBE5159}"/>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66A9643E-A9EA-E436-32A3-E2C1FF2DB080}"/>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0C96</a:t>
            </a:r>
          </a:p>
        </p:txBody>
      </p:sp>
      <p:sp>
        <p:nvSpPr>
          <p:cNvPr id="29" name="TextBox 28">
            <a:extLst>
              <a:ext uri="{FF2B5EF4-FFF2-40B4-BE49-F238E27FC236}">
                <a16:creationId xmlns:a16="http://schemas.microsoft.com/office/drawing/2014/main" id="{EADA921C-26A6-CFDE-79A8-B7246254D6A9}"/>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3BCE91E5-8931-BCA7-6E2C-C47DC327D9D6}"/>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03FF694F-27EC-72A7-99FF-3EDBA0099A87}"/>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a:t>
            </a:r>
            <a:r>
              <a:rPr lang="en-US" b="1" dirty="0">
                <a:solidFill>
                  <a:srgbClr val="FF0000"/>
                </a:solidFill>
                <a:latin typeface="Courier New" panose="02070309020205020404" pitchFamily="49" charset="0"/>
                <a:cs typeface="Courier New" panose="02070309020205020404" pitchFamily="49" charset="0"/>
              </a:rPr>
              <a:t>80</a:t>
            </a:r>
          </a:p>
        </p:txBody>
      </p:sp>
      <p:sp>
        <p:nvSpPr>
          <p:cNvPr id="32" name="Rectangle 31">
            <a:extLst>
              <a:ext uri="{FF2B5EF4-FFF2-40B4-BE49-F238E27FC236}">
                <a16:creationId xmlns:a16="http://schemas.microsoft.com/office/drawing/2014/main" id="{AD945F21-D769-CD11-9D2C-B426D031BCEC}"/>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2BDC6EEC-9F02-DD0D-A5DA-0D421D8BC12D}"/>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D054021D-1493-9415-2548-8748C2A5CC3E}"/>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3242F77E-5A2B-09BC-1303-7F2603F99903}"/>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24ECCB8F-BAEF-FCCD-AB40-1B93940C7E89}"/>
              </a:ext>
            </a:extLst>
          </p:cNvPr>
          <p:cNvSpPr>
            <a:spLocks noGrp="1"/>
          </p:cNvSpPr>
          <p:nvPr>
            <p:ph idx="1"/>
          </p:nvPr>
        </p:nvSpPr>
        <p:spPr>
          <a:xfrm>
            <a:off x="2801814" y="351693"/>
            <a:ext cx="7057294" cy="525193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07C0	D761	  MOVE   R7, (R6)+  </a:t>
            </a:r>
            <a:r>
              <a:rPr lang="pt-BR" sz="1400" dirty="0">
                <a:latin typeface="Courier New" panose="02070309020205020404" pitchFamily="49" charset="0"/>
                <a:cs typeface="Courier New" panose="02070309020205020404" pitchFamily="49" charset="0"/>
                <a:sym typeface="Wingdings" panose="05000000000000000000" pitchFamily="2" charset="2"/>
              </a:rPr>
              <a:t> R7 = MEM[R6], R6=R6+2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07C2	077C	  HTL    R7, R7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R7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R7</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07C4	DC01 0C96  LWI    R12, WORKING_ADDRESS</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07C8	8905	  LBI    R9, #$05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 05</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PROCESS_ROWS_NEXT: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07CA	DBC8	  MOVE   R11, (R12)  </a:t>
            </a:r>
            <a:r>
              <a:rPr lang="pt-BR" sz="1400" dirty="0">
                <a:latin typeface="Courier New" panose="02070309020205020404" pitchFamily="49" charset="0"/>
                <a:cs typeface="Courier New" panose="02070309020205020404" pitchFamily="49" charset="0"/>
                <a:sym typeface="Wingdings" panose="05000000000000000000" pitchFamily="2" charset="2"/>
              </a:rPr>
              <a:t> R11 = MEM[R12]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07CC	D861	  MOVE   R8, (R6)+   </a:t>
            </a:r>
            <a:r>
              <a:rPr lang="pt-BR" sz="1400" dirty="0">
                <a:latin typeface="Courier New" panose="02070309020205020404" pitchFamily="49" charset="0"/>
                <a:cs typeface="Courier New" panose="02070309020205020404" pitchFamily="49" charset="0"/>
                <a:sym typeface="Wingdings" panose="05000000000000000000" pitchFamily="2" charset="2"/>
              </a:rPr>
              <a:t> R8=R6, R6=R6+2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07CE	048C	  HTL    R4, R8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R4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R8</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07D0	8E80	  LBI    R14, #128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R14 = 1000 0000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07D2	C4ED	  SNBS   R4, R14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Not</a:t>
            </a:r>
            <a:r>
              <a:rPr lang="pt-BR" sz="1400" dirty="0">
                <a:latin typeface="Courier New" panose="02070309020205020404" pitchFamily="49" charset="0"/>
                <a:cs typeface="Courier New" panose="02070309020205020404" pitchFamily="49" charset="0"/>
                <a:sym typeface="Wingdings" panose="05000000000000000000" pitchFamily="2" charset="2"/>
              </a:rPr>
              <a:t> Bit Set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07D4	A005	  BRA    SET_COL1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07D6	8500	  LBI    R5, BG_SYMBOL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R5 = 00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07D8	055D	  LTH    R5, R5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R5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R5</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07DA	A001	  BRA    DO_COL2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SET_COL1: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07DC	057D	  LTH    R5, R7</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DO_COL2: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07DE	... </a:t>
            </a:r>
          </a:p>
        </p:txBody>
      </p:sp>
      <p:sp>
        <p:nvSpPr>
          <p:cNvPr id="3" name="TextBox 2">
            <a:extLst>
              <a:ext uri="{FF2B5EF4-FFF2-40B4-BE49-F238E27FC236}">
                <a16:creationId xmlns:a16="http://schemas.microsoft.com/office/drawing/2014/main" id="{9A8AF12B-E977-96AE-9A51-489A6584250C}"/>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1" name="Rectangle 40">
            <a:extLst>
              <a:ext uri="{FF2B5EF4-FFF2-40B4-BE49-F238E27FC236}">
                <a16:creationId xmlns:a16="http://schemas.microsoft.com/office/drawing/2014/main" id="{ECDC5CC1-2C87-0D5A-8110-A3E5552663D2}"/>
              </a:ext>
            </a:extLst>
          </p:cNvPr>
          <p:cNvSpPr/>
          <p:nvPr/>
        </p:nvSpPr>
        <p:spPr>
          <a:xfrm>
            <a:off x="9241535" y="1930399"/>
            <a:ext cx="2731009" cy="427804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BIG_LETTERS:	</a:t>
            </a:r>
          </a:p>
          <a:p>
            <a:r>
              <a:rPr lang="en-US" sz="1000" dirty="0">
                <a:solidFill>
                  <a:schemeClr val="tx1"/>
                </a:solidFill>
                <a:latin typeface="Courier New" panose="02070309020205020404" pitchFamily="49" charset="0"/>
                <a:cs typeface="Courier New" panose="02070309020205020404" pitchFamily="49" charset="0"/>
              </a:rPr>
              <a:t>  0A24	01  A	0</a:t>
            </a:r>
          </a:p>
          <a:p>
            <a:r>
              <a:rPr lang="en-US" sz="1000" dirty="0">
                <a:solidFill>
                  <a:schemeClr val="tx1"/>
                </a:solidFill>
                <a:latin typeface="Courier New" panose="02070309020205020404" pitchFamily="49" charset="0"/>
                <a:cs typeface="Courier New" panose="02070309020205020404" pitchFamily="49" charset="0"/>
              </a:rPr>
              <a:t>  0A25	00  (reserved)</a:t>
            </a:r>
          </a:p>
          <a:p>
            <a:r>
              <a:rPr lang="en-US" sz="1000" dirty="0">
                <a:solidFill>
                  <a:schemeClr val="tx1"/>
                </a:solidFill>
                <a:latin typeface="Courier New" panose="02070309020205020404" pitchFamily="49" charset="0"/>
                <a:cs typeface="Courier New" panose="02070309020205020404" pitchFamily="49" charset="0"/>
              </a:rPr>
              <a:t>  0A26	0C  00001100</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  0A27	1E  00011110</a:t>
            </a:r>
          </a:p>
          <a:p>
            <a:r>
              <a:rPr lang="en-US" sz="1000" dirty="0">
                <a:solidFill>
                  <a:schemeClr val="tx1"/>
                </a:solidFill>
                <a:latin typeface="Courier New" panose="02070309020205020404" pitchFamily="49" charset="0"/>
                <a:cs typeface="Courier New" panose="02070309020205020404" pitchFamily="49" charset="0"/>
              </a:rPr>
              <a:t>  0A28	33  00110011</a:t>
            </a:r>
          </a:p>
          <a:p>
            <a:r>
              <a:rPr lang="en-US" sz="1000" dirty="0">
                <a:solidFill>
                  <a:schemeClr val="tx1"/>
                </a:solidFill>
                <a:latin typeface="Courier New" panose="02070309020205020404" pitchFamily="49" charset="0"/>
                <a:cs typeface="Courier New" panose="02070309020205020404" pitchFamily="49" charset="0"/>
              </a:rPr>
              <a:t>  0A29	33  00110011</a:t>
            </a:r>
          </a:p>
          <a:p>
            <a:r>
              <a:rPr lang="en-US" sz="1000" dirty="0">
                <a:solidFill>
                  <a:schemeClr val="tx1"/>
                </a:solidFill>
                <a:latin typeface="Courier New" panose="02070309020205020404" pitchFamily="49" charset="0"/>
                <a:cs typeface="Courier New" panose="02070309020205020404" pitchFamily="49" charset="0"/>
              </a:rPr>
              <a:t>  0A2A	3F  00111111</a:t>
            </a:r>
          </a:p>
          <a:p>
            <a:r>
              <a:rPr lang="en-US" sz="1000" dirty="0">
                <a:solidFill>
                  <a:schemeClr val="tx1"/>
                </a:solidFill>
                <a:latin typeface="Courier New" panose="02070309020205020404" pitchFamily="49" charset="0"/>
                <a:cs typeface="Courier New" panose="02070309020205020404" pitchFamily="49" charset="0"/>
              </a:rPr>
              <a:t>  0A2B	3F  00111111</a:t>
            </a:r>
          </a:p>
          <a:p>
            <a:r>
              <a:rPr lang="en-US" sz="1000" dirty="0">
                <a:solidFill>
                  <a:schemeClr val="tx1"/>
                </a:solidFill>
                <a:latin typeface="Courier New" panose="02070309020205020404" pitchFamily="49" charset="0"/>
                <a:cs typeface="Courier New" panose="02070309020205020404" pitchFamily="49" charset="0"/>
              </a:rPr>
              <a:t>  0A2C	33  00110011</a:t>
            </a:r>
          </a:p>
          <a:p>
            <a:r>
              <a:rPr lang="en-US" sz="1000" dirty="0">
                <a:solidFill>
                  <a:schemeClr val="tx1"/>
                </a:solidFill>
                <a:latin typeface="Courier New" panose="02070309020205020404" pitchFamily="49" charset="0"/>
                <a:cs typeface="Courier New" panose="02070309020205020404" pitchFamily="49" charset="0"/>
              </a:rPr>
              <a:t>  0A2D	33  00110011</a:t>
            </a:r>
          </a:p>
          <a:p>
            <a:r>
              <a:rPr lang="en-US" sz="1000" dirty="0">
                <a:solidFill>
                  <a:schemeClr val="tx1"/>
                </a:solidFill>
                <a:latin typeface="Courier New" panose="02070309020205020404" pitchFamily="49" charset="0"/>
                <a:cs typeface="Courier New" panose="02070309020205020404" pitchFamily="49" charset="0"/>
              </a:rPr>
              <a:t>  0A2E	33  00110011</a:t>
            </a:r>
          </a:p>
          <a:p>
            <a:r>
              <a:rPr lang="en-US" sz="1000" dirty="0">
                <a:solidFill>
                  <a:schemeClr val="tx1"/>
                </a:solidFill>
                <a:latin typeface="Courier New" panose="02070309020205020404" pitchFamily="49" charset="0"/>
                <a:cs typeface="Courier New" panose="02070309020205020404" pitchFamily="49" charset="0"/>
              </a:rPr>
              <a:t>  0A2F	33  00110011</a:t>
            </a:r>
          </a:p>
          <a:p>
            <a:r>
              <a:rPr lang="en-US" sz="1000" dirty="0">
                <a:solidFill>
                  <a:schemeClr val="tx1"/>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0BE0	</a:t>
            </a:r>
            <a:r>
              <a:rPr lang="en-US" sz="1000" b="1" dirty="0">
                <a:solidFill>
                  <a:srgbClr val="FF0000"/>
                </a:solidFill>
                <a:latin typeface="Courier New" panose="02070309020205020404" pitchFamily="49" charset="0"/>
                <a:cs typeface="Courier New" panose="02070309020205020404" pitchFamily="49" charset="0"/>
              </a:rPr>
              <a:t>26</a:t>
            </a:r>
            <a:r>
              <a:rPr lang="en-US" sz="1000" dirty="0">
                <a:solidFill>
                  <a:schemeClr val="tx1"/>
                </a:solidFill>
                <a:latin typeface="Courier New" panose="02070309020205020404" pitchFamily="49" charset="0"/>
                <a:cs typeface="Courier New" panose="02070309020205020404" pitchFamily="49" charset="0"/>
              </a:rPr>
              <a:t>  </a:t>
            </a:r>
            <a:r>
              <a:rPr lang="en-US" sz="1000" strike="sngStrike" dirty="0">
                <a:solidFill>
                  <a:schemeClr val="tx1"/>
                </a:solidFill>
                <a:latin typeface="Courier New" panose="02070309020205020404" pitchFamily="49" charset="0"/>
                <a:cs typeface="Courier New" panose="02070309020205020404" pitchFamily="49" charset="0"/>
              </a:rPr>
              <a:t>" "(blank)</a:t>
            </a:r>
            <a:r>
              <a:rPr lang="en-US" sz="1000" dirty="0">
                <a:solidFill>
                  <a:schemeClr val="tx1"/>
                </a:solidFill>
                <a:latin typeface="Courier New" panose="02070309020205020404" pitchFamily="49" charset="0"/>
                <a:cs typeface="Courier New" panose="02070309020205020404" pitchFamily="49" charset="0"/>
              </a:rPr>
              <a:t> 444</a:t>
            </a:r>
          </a:p>
          <a:p>
            <a:r>
              <a:rPr lang="en-US" sz="1000" dirty="0">
                <a:solidFill>
                  <a:schemeClr val="tx1"/>
                </a:solidFill>
                <a:latin typeface="Courier New" panose="02070309020205020404" pitchFamily="49" charset="0"/>
                <a:cs typeface="Courier New" panose="02070309020205020404" pitchFamily="49" charset="0"/>
              </a:rPr>
              <a:t>  0BE1	00  (reserved)</a:t>
            </a:r>
          </a:p>
          <a:p>
            <a:r>
              <a:rPr lang="en-US" sz="1000" dirty="0">
                <a:solidFill>
                  <a:schemeClr val="tx1"/>
                </a:solidFill>
                <a:latin typeface="Courier New" panose="02070309020205020404" pitchFamily="49" charset="0"/>
                <a:cs typeface="Courier New" panose="02070309020205020404" pitchFamily="49" charset="0"/>
              </a:rPr>
              <a:t>  0BE2	</a:t>
            </a:r>
            <a:r>
              <a:rPr lang="en-US" sz="1000" dirty="0">
                <a:solidFill>
                  <a:srgbClr val="FF0000"/>
                </a:solidFill>
                <a:latin typeface="Courier New" panose="02070309020205020404" pitchFamily="49" charset="0"/>
                <a:cs typeface="Courier New" panose="02070309020205020404" pitchFamily="49" charset="0"/>
              </a:rPr>
              <a:t>C3</a:t>
            </a:r>
            <a:r>
              <a:rPr lang="en-US" sz="1000" dirty="0">
                <a:solidFill>
                  <a:schemeClr val="tx1"/>
                </a:solidFill>
                <a:latin typeface="Courier New" panose="02070309020205020404" pitchFamily="49" charset="0"/>
                <a:cs typeface="Courier New" panose="02070309020205020404" pitchFamily="49" charset="0"/>
              </a:rPr>
              <a:t>  </a:t>
            </a:r>
            <a:r>
              <a:rPr lang="en-US" sz="1000" dirty="0">
                <a:solidFill>
                  <a:srgbClr val="FF0000"/>
                </a:solidFill>
                <a:latin typeface="Courier New" panose="02070309020205020404" pitchFamily="49" charset="0"/>
                <a:cs typeface="Courier New" panose="02070309020205020404" pitchFamily="49" charset="0"/>
              </a:rPr>
              <a:t>11000011</a:t>
            </a:r>
          </a:p>
          <a:p>
            <a:r>
              <a:rPr lang="en-US" sz="1000" dirty="0">
                <a:solidFill>
                  <a:schemeClr val="tx1"/>
                </a:solidFill>
                <a:latin typeface="Courier New" panose="02070309020205020404" pitchFamily="49" charset="0"/>
                <a:cs typeface="Courier New" panose="02070309020205020404" pitchFamily="49" charset="0"/>
              </a:rPr>
              <a:t>  0BE3	</a:t>
            </a:r>
            <a:r>
              <a:rPr lang="en-US" sz="1000" dirty="0">
                <a:solidFill>
                  <a:srgbClr val="FF0000"/>
                </a:solidFill>
                <a:latin typeface="Courier New" panose="02070309020205020404" pitchFamily="49" charset="0"/>
                <a:cs typeface="Courier New" panose="02070309020205020404" pitchFamily="49" charset="0"/>
              </a:rPr>
              <a:t>E1</a:t>
            </a:r>
            <a:r>
              <a:rPr lang="en-US" sz="1000" dirty="0">
                <a:solidFill>
                  <a:schemeClr val="tx1"/>
                </a:solidFill>
                <a:latin typeface="Courier New" panose="02070309020205020404" pitchFamily="49" charset="0"/>
                <a:cs typeface="Courier New" panose="02070309020205020404" pitchFamily="49" charset="0"/>
              </a:rPr>
              <a:t>  </a:t>
            </a:r>
            <a:r>
              <a:rPr lang="en-US" sz="1000" dirty="0">
                <a:solidFill>
                  <a:srgbClr val="FF0000"/>
                </a:solidFill>
                <a:latin typeface="Courier New" panose="02070309020205020404" pitchFamily="49" charset="0"/>
                <a:cs typeface="Courier New" panose="02070309020205020404" pitchFamily="49" charset="0"/>
              </a:rPr>
              <a:t>11100001</a:t>
            </a:r>
          </a:p>
          <a:p>
            <a:r>
              <a:rPr lang="en-US" sz="1000" dirty="0">
                <a:solidFill>
                  <a:schemeClr val="tx1"/>
                </a:solidFill>
                <a:latin typeface="Courier New" panose="02070309020205020404" pitchFamily="49" charset="0"/>
                <a:cs typeface="Courier New" panose="02070309020205020404" pitchFamily="49" charset="0"/>
              </a:rPr>
              <a:t>  0BE4	00  00000000</a:t>
            </a:r>
          </a:p>
          <a:p>
            <a:r>
              <a:rPr lang="en-US" sz="1000" dirty="0">
                <a:solidFill>
                  <a:schemeClr val="tx1"/>
                </a:solidFill>
                <a:latin typeface="Courier New" panose="02070309020205020404" pitchFamily="49" charset="0"/>
                <a:cs typeface="Courier New" panose="02070309020205020404" pitchFamily="49" charset="0"/>
              </a:rPr>
              <a:t>  0BE5	00  00000000</a:t>
            </a:r>
          </a:p>
          <a:p>
            <a:r>
              <a:rPr lang="en-US" sz="1000" dirty="0">
                <a:solidFill>
                  <a:schemeClr val="tx1"/>
                </a:solidFill>
                <a:latin typeface="Courier New" panose="02070309020205020404" pitchFamily="49" charset="0"/>
                <a:cs typeface="Courier New" panose="02070309020205020404" pitchFamily="49" charset="0"/>
              </a:rPr>
              <a:t>  0BE6	00  00000000</a:t>
            </a:r>
          </a:p>
          <a:p>
            <a:r>
              <a:rPr lang="en-US" sz="1000" dirty="0">
                <a:solidFill>
                  <a:schemeClr val="tx1"/>
                </a:solidFill>
                <a:latin typeface="Courier New" panose="02070309020205020404" pitchFamily="49" charset="0"/>
                <a:cs typeface="Courier New" panose="02070309020205020404" pitchFamily="49" charset="0"/>
              </a:rPr>
              <a:t>  0BE7	00  00000000</a:t>
            </a:r>
          </a:p>
          <a:p>
            <a:r>
              <a:rPr lang="en-US" sz="1000" dirty="0">
                <a:solidFill>
                  <a:schemeClr val="tx1"/>
                </a:solidFill>
                <a:latin typeface="Courier New" panose="02070309020205020404" pitchFamily="49" charset="0"/>
                <a:cs typeface="Courier New" panose="02070309020205020404" pitchFamily="49" charset="0"/>
              </a:rPr>
              <a:t>  0BE8	00  00000000</a:t>
            </a:r>
          </a:p>
          <a:p>
            <a:r>
              <a:rPr lang="en-US" sz="1000" dirty="0">
                <a:solidFill>
                  <a:schemeClr val="tx1"/>
                </a:solidFill>
                <a:latin typeface="Courier New" panose="02070309020205020404" pitchFamily="49" charset="0"/>
                <a:cs typeface="Courier New" panose="02070309020205020404" pitchFamily="49" charset="0"/>
              </a:rPr>
              <a:t>  0BE9	00  00000000</a:t>
            </a:r>
          </a:p>
          <a:p>
            <a:r>
              <a:rPr lang="en-US" sz="1000" dirty="0">
                <a:solidFill>
                  <a:schemeClr val="tx1"/>
                </a:solidFill>
                <a:latin typeface="Courier New" panose="02070309020205020404" pitchFamily="49" charset="0"/>
                <a:cs typeface="Courier New" panose="02070309020205020404" pitchFamily="49" charset="0"/>
              </a:rPr>
              <a:t>  0BEA	00  00000000</a:t>
            </a:r>
          </a:p>
          <a:p>
            <a:r>
              <a:rPr lang="en-US" sz="1000" dirty="0">
                <a:solidFill>
                  <a:schemeClr val="tx1"/>
                </a:solidFill>
                <a:latin typeface="Courier New" panose="02070309020205020404" pitchFamily="49" charset="0"/>
                <a:cs typeface="Courier New" panose="02070309020205020404" pitchFamily="49" charset="0"/>
              </a:rPr>
              <a:t>  0BEB	00  00000000</a:t>
            </a:r>
          </a:p>
        </p:txBody>
      </p:sp>
      <p:sp>
        <p:nvSpPr>
          <p:cNvPr id="37" name="Rectangle 36">
            <a:extLst>
              <a:ext uri="{FF2B5EF4-FFF2-40B4-BE49-F238E27FC236}">
                <a16:creationId xmlns:a16="http://schemas.microsoft.com/office/drawing/2014/main" id="{4C324F04-7FAD-9ECE-96D6-F07803571D21}"/>
              </a:ext>
            </a:extLst>
          </p:cNvPr>
          <p:cNvSpPr/>
          <p:nvPr/>
        </p:nvSpPr>
        <p:spPr>
          <a:xfrm>
            <a:off x="4901084" y="1815059"/>
            <a:ext cx="4348424" cy="1303280"/>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Brace 37">
            <a:extLst>
              <a:ext uri="{FF2B5EF4-FFF2-40B4-BE49-F238E27FC236}">
                <a16:creationId xmlns:a16="http://schemas.microsoft.com/office/drawing/2014/main" id="{6BACF14C-4428-C526-0255-E1D924881C2E}"/>
              </a:ext>
            </a:extLst>
          </p:cNvPr>
          <p:cNvSpPr/>
          <p:nvPr/>
        </p:nvSpPr>
        <p:spPr>
          <a:xfrm rot="10800000">
            <a:off x="10066254" y="4525247"/>
            <a:ext cx="154067" cy="304879"/>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ectangle 47">
            <a:extLst>
              <a:ext uri="{FF2B5EF4-FFF2-40B4-BE49-F238E27FC236}">
                <a16:creationId xmlns:a16="http://schemas.microsoft.com/office/drawing/2014/main" id="{8642738E-0E43-EAAC-0FF6-045A360B60AB}"/>
              </a:ext>
            </a:extLst>
          </p:cNvPr>
          <p:cNvSpPr/>
          <p:nvPr/>
        </p:nvSpPr>
        <p:spPr>
          <a:xfrm>
            <a:off x="8195403" y="469853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9" name="TextBox 48">
            <a:extLst>
              <a:ext uri="{FF2B5EF4-FFF2-40B4-BE49-F238E27FC236}">
                <a16:creationId xmlns:a16="http://schemas.microsoft.com/office/drawing/2014/main" id="{FC46F7CE-332B-82A3-130A-9747418A569F}"/>
              </a:ext>
            </a:extLst>
          </p:cNvPr>
          <p:cNvSpPr txBox="1"/>
          <p:nvPr/>
        </p:nvSpPr>
        <p:spPr>
          <a:xfrm>
            <a:off x="7475749" y="469853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cxnSp>
        <p:nvCxnSpPr>
          <p:cNvPr id="50" name="Straight Arrow Connector 49">
            <a:extLst>
              <a:ext uri="{FF2B5EF4-FFF2-40B4-BE49-F238E27FC236}">
                <a16:creationId xmlns:a16="http://schemas.microsoft.com/office/drawing/2014/main" id="{6DDA52DA-9309-6F23-98B4-0894466C3541}"/>
              </a:ext>
            </a:extLst>
          </p:cNvPr>
          <p:cNvCxnSpPr>
            <a:cxnSpLocks/>
          </p:cNvCxnSpPr>
          <p:nvPr/>
        </p:nvCxnSpPr>
        <p:spPr>
          <a:xfrm>
            <a:off x="2146300" y="4525247"/>
            <a:ext cx="6140450" cy="2658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Right Brace 65">
            <a:extLst>
              <a:ext uri="{FF2B5EF4-FFF2-40B4-BE49-F238E27FC236}">
                <a16:creationId xmlns:a16="http://schemas.microsoft.com/office/drawing/2014/main" id="{2A8274BB-387E-CB2D-23A2-E71CF61D0FF4}"/>
              </a:ext>
            </a:extLst>
          </p:cNvPr>
          <p:cNvSpPr/>
          <p:nvPr/>
        </p:nvSpPr>
        <p:spPr>
          <a:xfrm>
            <a:off x="11224494" y="4553387"/>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ight Brace 66">
            <a:extLst>
              <a:ext uri="{FF2B5EF4-FFF2-40B4-BE49-F238E27FC236}">
                <a16:creationId xmlns:a16="http://schemas.microsoft.com/office/drawing/2014/main" id="{22C46D3C-6898-A48B-1BED-1C025484C023}"/>
              </a:ext>
            </a:extLst>
          </p:cNvPr>
          <p:cNvSpPr/>
          <p:nvPr/>
        </p:nvSpPr>
        <p:spPr>
          <a:xfrm>
            <a:off x="11224494" y="4859163"/>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Right Brace 67">
            <a:extLst>
              <a:ext uri="{FF2B5EF4-FFF2-40B4-BE49-F238E27FC236}">
                <a16:creationId xmlns:a16="http://schemas.microsoft.com/office/drawing/2014/main" id="{F59D7CE1-2A69-C820-8498-EB1E48BE8C75}"/>
              </a:ext>
            </a:extLst>
          </p:cNvPr>
          <p:cNvSpPr/>
          <p:nvPr/>
        </p:nvSpPr>
        <p:spPr>
          <a:xfrm>
            <a:off x="11246719" y="5165476"/>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Right Brace 68">
            <a:extLst>
              <a:ext uri="{FF2B5EF4-FFF2-40B4-BE49-F238E27FC236}">
                <a16:creationId xmlns:a16="http://schemas.microsoft.com/office/drawing/2014/main" id="{762FC432-173E-5603-EEC7-76EC0AC3B310}"/>
              </a:ext>
            </a:extLst>
          </p:cNvPr>
          <p:cNvSpPr/>
          <p:nvPr/>
        </p:nvSpPr>
        <p:spPr>
          <a:xfrm>
            <a:off x="11246719" y="54741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Right Brace 69">
            <a:extLst>
              <a:ext uri="{FF2B5EF4-FFF2-40B4-BE49-F238E27FC236}">
                <a16:creationId xmlns:a16="http://schemas.microsoft.com/office/drawing/2014/main" id="{1A665806-D812-F525-095B-679ABCFF9556}"/>
              </a:ext>
            </a:extLst>
          </p:cNvPr>
          <p:cNvSpPr/>
          <p:nvPr/>
        </p:nvSpPr>
        <p:spPr>
          <a:xfrm>
            <a:off x="11246719" y="57775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a:extLst>
              <a:ext uri="{FF2B5EF4-FFF2-40B4-BE49-F238E27FC236}">
                <a16:creationId xmlns:a16="http://schemas.microsoft.com/office/drawing/2014/main" id="{777B4D74-E0CD-DA31-B820-CB32579297D3}"/>
              </a:ext>
            </a:extLst>
          </p:cNvPr>
          <p:cNvSpPr txBox="1"/>
          <p:nvPr/>
        </p:nvSpPr>
        <p:spPr>
          <a:xfrm>
            <a:off x="11293196" y="4484967"/>
            <a:ext cx="417102" cy="369332"/>
          </a:xfrm>
          <a:prstGeom prst="rect">
            <a:avLst/>
          </a:prstGeom>
          <a:noFill/>
        </p:spPr>
        <p:txBody>
          <a:bodyPr wrap="none" rtlCol="0">
            <a:spAutoFit/>
          </a:bodyPr>
          <a:lstStyle/>
          <a:p>
            <a:r>
              <a:rPr lang="en-US" dirty="0"/>
              <a:t>#1</a:t>
            </a:r>
          </a:p>
        </p:txBody>
      </p:sp>
      <p:sp>
        <p:nvSpPr>
          <p:cNvPr id="72" name="TextBox 71">
            <a:extLst>
              <a:ext uri="{FF2B5EF4-FFF2-40B4-BE49-F238E27FC236}">
                <a16:creationId xmlns:a16="http://schemas.microsoft.com/office/drawing/2014/main" id="{842A6DD8-FD5D-793D-EB60-400BB9A67D13}"/>
              </a:ext>
            </a:extLst>
          </p:cNvPr>
          <p:cNvSpPr txBox="1"/>
          <p:nvPr/>
        </p:nvSpPr>
        <p:spPr>
          <a:xfrm>
            <a:off x="11293196" y="4792119"/>
            <a:ext cx="417102" cy="369332"/>
          </a:xfrm>
          <a:prstGeom prst="rect">
            <a:avLst/>
          </a:prstGeom>
          <a:noFill/>
        </p:spPr>
        <p:txBody>
          <a:bodyPr wrap="none" rtlCol="0">
            <a:spAutoFit/>
          </a:bodyPr>
          <a:lstStyle/>
          <a:p>
            <a:r>
              <a:rPr lang="en-US" dirty="0"/>
              <a:t>#2</a:t>
            </a:r>
          </a:p>
        </p:txBody>
      </p:sp>
      <p:sp>
        <p:nvSpPr>
          <p:cNvPr id="73" name="TextBox 72">
            <a:extLst>
              <a:ext uri="{FF2B5EF4-FFF2-40B4-BE49-F238E27FC236}">
                <a16:creationId xmlns:a16="http://schemas.microsoft.com/office/drawing/2014/main" id="{05F1D9E2-AAB0-E7CF-C400-8F08DFBD0341}"/>
              </a:ext>
            </a:extLst>
          </p:cNvPr>
          <p:cNvSpPr txBox="1"/>
          <p:nvPr/>
        </p:nvSpPr>
        <p:spPr>
          <a:xfrm>
            <a:off x="11293196" y="5099271"/>
            <a:ext cx="417102" cy="369332"/>
          </a:xfrm>
          <a:prstGeom prst="rect">
            <a:avLst/>
          </a:prstGeom>
          <a:noFill/>
        </p:spPr>
        <p:txBody>
          <a:bodyPr wrap="none" rtlCol="0">
            <a:spAutoFit/>
          </a:bodyPr>
          <a:lstStyle/>
          <a:p>
            <a:r>
              <a:rPr lang="en-US" dirty="0"/>
              <a:t>#3</a:t>
            </a:r>
          </a:p>
        </p:txBody>
      </p:sp>
      <p:sp>
        <p:nvSpPr>
          <p:cNvPr id="74" name="TextBox 73">
            <a:extLst>
              <a:ext uri="{FF2B5EF4-FFF2-40B4-BE49-F238E27FC236}">
                <a16:creationId xmlns:a16="http://schemas.microsoft.com/office/drawing/2014/main" id="{15B283FC-1AAC-A0A3-DAFB-BC17A38E244A}"/>
              </a:ext>
            </a:extLst>
          </p:cNvPr>
          <p:cNvSpPr txBox="1"/>
          <p:nvPr/>
        </p:nvSpPr>
        <p:spPr>
          <a:xfrm>
            <a:off x="11293196" y="5406423"/>
            <a:ext cx="417102"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E306A282-4C92-EDA0-497B-66F77CAADF55}"/>
              </a:ext>
            </a:extLst>
          </p:cNvPr>
          <p:cNvSpPr txBox="1"/>
          <p:nvPr/>
        </p:nvSpPr>
        <p:spPr>
          <a:xfrm>
            <a:off x="11293196" y="5713574"/>
            <a:ext cx="417102" cy="369332"/>
          </a:xfrm>
          <a:prstGeom prst="rect">
            <a:avLst/>
          </a:prstGeom>
          <a:noFill/>
        </p:spPr>
        <p:txBody>
          <a:bodyPr wrap="none" rtlCol="0">
            <a:spAutoFit/>
          </a:bodyPr>
          <a:lstStyle/>
          <a:p>
            <a:r>
              <a:rPr lang="en-US" dirty="0"/>
              <a:t>#5</a:t>
            </a:r>
          </a:p>
        </p:txBody>
      </p:sp>
      <p:sp>
        <p:nvSpPr>
          <p:cNvPr id="76" name="TextBox 75">
            <a:extLst>
              <a:ext uri="{FF2B5EF4-FFF2-40B4-BE49-F238E27FC236}">
                <a16:creationId xmlns:a16="http://schemas.microsoft.com/office/drawing/2014/main" id="{7E3D56EC-5554-45D2-E352-399C8AFEC470}"/>
              </a:ext>
            </a:extLst>
          </p:cNvPr>
          <p:cNvSpPr txBox="1"/>
          <p:nvPr/>
        </p:nvSpPr>
        <p:spPr>
          <a:xfrm>
            <a:off x="6804824" y="4475073"/>
            <a:ext cx="1415772" cy="246221"/>
          </a:xfrm>
          <a:prstGeom prst="rect">
            <a:avLst/>
          </a:prstGeom>
          <a:noFill/>
        </p:spPr>
        <p:txBody>
          <a:bodyPr wrap="none" rtlCol="0">
            <a:spAutoFit/>
          </a:bodyPr>
          <a:lstStyle/>
          <a:p>
            <a:r>
              <a:rPr lang="en-US" sz="1000" dirty="0">
                <a:latin typeface="Courier New" panose="02070309020205020404" pitchFamily="49" charset="0"/>
                <a:cs typeface="Courier New" panose="02070309020205020404" pitchFamily="49" charset="0"/>
              </a:rPr>
              <a:t>WORKING_ADDRESS:</a:t>
            </a:r>
          </a:p>
        </p:txBody>
      </p:sp>
      <p:cxnSp>
        <p:nvCxnSpPr>
          <p:cNvPr id="36" name="Straight Arrow Connector 35">
            <a:extLst>
              <a:ext uri="{FF2B5EF4-FFF2-40B4-BE49-F238E27FC236}">
                <a16:creationId xmlns:a16="http://schemas.microsoft.com/office/drawing/2014/main" id="{5A605869-F828-9027-D029-C8FB1D6D484A}"/>
              </a:ext>
            </a:extLst>
          </p:cNvPr>
          <p:cNvCxnSpPr>
            <a:cxnSpLocks/>
          </p:cNvCxnSpPr>
          <p:nvPr/>
        </p:nvCxnSpPr>
        <p:spPr>
          <a:xfrm flipV="1">
            <a:off x="1706880" y="2159461"/>
            <a:ext cx="264799" cy="1200959"/>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D68B7919-F28A-7FFD-BD3C-598DBA274FB0}"/>
              </a:ext>
            </a:extLst>
          </p:cNvPr>
          <p:cNvSpPr/>
          <p:nvPr/>
        </p:nvSpPr>
        <p:spPr>
          <a:xfrm>
            <a:off x="4242442" y="4845682"/>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E8A3C3E-303C-02B4-8691-13167B9B67E8}"/>
              </a:ext>
            </a:extLst>
          </p:cNvPr>
          <p:cNvSpPr/>
          <p:nvPr/>
        </p:nvSpPr>
        <p:spPr>
          <a:xfrm>
            <a:off x="6582086" y="3889131"/>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79">
            <a:extLst>
              <a:ext uri="{FF2B5EF4-FFF2-40B4-BE49-F238E27FC236}">
                <a16:creationId xmlns:a16="http://schemas.microsoft.com/office/drawing/2014/main" id="{C4031199-BABD-C590-2DC5-641F8DC54523}"/>
              </a:ext>
            </a:extLst>
          </p:cNvPr>
          <p:cNvCxnSpPr>
            <a:cxnSpLocks/>
            <a:stCxn id="45" idx="2"/>
            <a:endCxn id="44" idx="3"/>
          </p:cNvCxnSpPr>
          <p:nvPr/>
        </p:nvCxnSpPr>
        <p:spPr>
          <a:xfrm rot="5400000">
            <a:off x="5096891" y="3358044"/>
            <a:ext cx="876932" cy="2257583"/>
          </a:xfrm>
          <a:prstGeom prst="bentConnector2">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981FDC52-9E5B-DB61-EDFD-BA23CBB1EF49}"/>
              </a:ext>
            </a:extLst>
          </p:cNvPr>
          <p:cNvCxnSpPr>
            <a:cxnSpLocks/>
          </p:cNvCxnSpPr>
          <p:nvPr/>
        </p:nvCxnSpPr>
        <p:spPr>
          <a:xfrm>
            <a:off x="2146300" y="3505200"/>
            <a:ext cx="7921625" cy="114300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A09337BA-4D5B-6E34-4260-8AF998CF0CD3}"/>
              </a:ext>
            </a:extLst>
          </p:cNvPr>
          <p:cNvCxnSpPr>
            <a:cxnSpLocks/>
          </p:cNvCxnSpPr>
          <p:nvPr/>
        </p:nvCxnSpPr>
        <p:spPr>
          <a:xfrm>
            <a:off x="2173165" y="2763679"/>
            <a:ext cx="7280398" cy="21226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35CD74-DCD3-E2EE-CA69-AC014C9AF1BF}"/>
              </a:ext>
            </a:extLst>
          </p:cNvPr>
          <p:cNvSpPr txBox="1"/>
          <p:nvPr/>
        </p:nvSpPr>
        <p:spPr>
          <a:xfrm>
            <a:off x="4606444" y="4994620"/>
            <a:ext cx="2463116" cy="646331"/>
          </a:xfrm>
          <a:prstGeom prst="rect">
            <a:avLst/>
          </a:prstGeom>
          <a:solidFill>
            <a:srgbClr val="FFC000"/>
          </a:solidFill>
        </p:spPr>
        <p:txBody>
          <a:bodyPr wrap="square" rtlCol="0">
            <a:spAutoFit/>
          </a:bodyPr>
          <a:lstStyle/>
          <a:p>
            <a:pPr algn="ctr"/>
            <a:r>
              <a:rPr lang="en-US" dirty="0"/>
              <a:t>Processed Column 1, now process Column 2.</a:t>
            </a:r>
          </a:p>
        </p:txBody>
      </p:sp>
      <p:sp>
        <p:nvSpPr>
          <p:cNvPr id="39" name="Rectangle 38">
            <a:extLst>
              <a:ext uri="{FF2B5EF4-FFF2-40B4-BE49-F238E27FC236}">
                <a16:creationId xmlns:a16="http://schemas.microsoft.com/office/drawing/2014/main" id="{F89282B2-2B3C-E0EC-4729-E7B23DCA85D0}"/>
              </a:ext>
            </a:extLst>
          </p:cNvPr>
          <p:cNvSpPr/>
          <p:nvPr/>
        </p:nvSpPr>
        <p:spPr>
          <a:xfrm>
            <a:off x="4890636" y="4207607"/>
            <a:ext cx="4348424" cy="399562"/>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15AB9C77-7725-00D2-AD32-6A792319ECA8}"/>
              </a:ext>
            </a:extLst>
          </p:cNvPr>
          <p:cNvCxnSpPr>
            <a:cxnSpLocks/>
          </p:cNvCxnSpPr>
          <p:nvPr/>
        </p:nvCxnSpPr>
        <p:spPr>
          <a:xfrm flipH="1" flipV="1">
            <a:off x="1714500" y="2514600"/>
            <a:ext cx="257179" cy="502920"/>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D451717-1B6A-D523-33D9-482F6032D76D}"/>
              </a:ext>
            </a:extLst>
          </p:cNvPr>
          <p:cNvSpPr txBox="1"/>
          <p:nvPr/>
        </p:nvSpPr>
        <p:spPr>
          <a:xfrm>
            <a:off x="10355841" y="351693"/>
            <a:ext cx="1616703" cy="369332"/>
          </a:xfrm>
          <a:prstGeom prst="rect">
            <a:avLst/>
          </a:prstGeom>
          <a:solidFill>
            <a:srgbClr val="FFC000"/>
          </a:solidFill>
        </p:spPr>
        <p:txBody>
          <a:bodyPr wrap="square" rtlCol="0">
            <a:spAutoFit/>
          </a:bodyPr>
          <a:lstStyle/>
          <a:p>
            <a:pPr algn="ctr"/>
            <a:r>
              <a:rPr lang="en-US" dirty="0"/>
              <a:t>EXAMPLE</a:t>
            </a:r>
          </a:p>
        </p:txBody>
      </p:sp>
      <p:sp>
        <p:nvSpPr>
          <p:cNvPr id="52" name="TextBox 51">
            <a:extLst>
              <a:ext uri="{FF2B5EF4-FFF2-40B4-BE49-F238E27FC236}">
                <a16:creationId xmlns:a16="http://schemas.microsoft.com/office/drawing/2014/main" id="{6F2A67C9-8A45-C35A-98AD-8313E34DBF76}"/>
              </a:ext>
            </a:extLst>
          </p:cNvPr>
          <p:cNvSpPr txBox="1"/>
          <p:nvPr/>
        </p:nvSpPr>
        <p:spPr>
          <a:xfrm>
            <a:off x="6804824" y="3188649"/>
            <a:ext cx="2031166" cy="461665"/>
          </a:xfrm>
          <a:prstGeom prst="rect">
            <a:avLst/>
          </a:prstGeom>
          <a:solidFill>
            <a:srgbClr val="FFC000"/>
          </a:solidFill>
        </p:spPr>
        <p:txBody>
          <a:bodyPr wrap="square" rtlCol="0">
            <a:spAutoFit/>
          </a:bodyPr>
          <a:lstStyle/>
          <a:p>
            <a:r>
              <a:rPr lang="en-US" sz="1200" dirty="0">
                <a:latin typeface="Courier New" panose="02070309020205020404" pitchFamily="49" charset="0"/>
                <a:cs typeface="Courier New" panose="02070309020205020404" pitchFamily="49" charset="0"/>
              </a:rPr>
              <a:t> R4: 1100 0011  (C3)</a:t>
            </a:r>
          </a:p>
          <a:p>
            <a:r>
              <a:rPr lang="en-US" sz="1200" dirty="0">
                <a:latin typeface="Courier New" panose="02070309020205020404" pitchFamily="49" charset="0"/>
                <a:cs typeface="Courier New" panose="02070309020205020404" pitchFamily="49" charset="0"/>
              </a:rPr>
              <a:t>R14: 1000 0000  (80)</a:t>
            </a:r>
          </a:p>
        </p:txBody>
      </p:sp>
      <p:sp>
        <p:nvSpPr>
          <p:cNvPr id="53" name="Rectangle 52">
            <a:extLst>
              <a:ext uri="{FF2B5EF4-FFF2-40B4-BE49-F238E27FC236}">
                <a16:creationId xmlns:a16="http://schemas.microsoft.com/office/drawing/2014/main" id="{7A3B2430-473E-01D9-C12B-9E19A375A04F}"/>
              </a:ext>
            </a:extLst>
          </p:cNvPr>
          <p:cNvSpPr/>
          <p:nvPr/>
        </p:nvSpPr>
        <p:spPr>
          <a:xfrm>
            <a:off x="7340809" y="3228974"/>
            <a:ext cx="96627" cy="36195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3AC8164B-BB4C-38FC-36B8-743CC492D91B}"/>
              </a:ext>
            </a:extLst>
          </p:cNvPr>
          <p:cNvSpPr txBox="1"/>
          <p:nvPr/>
        </p:nvSpPr>
        <p:spPr>
          <a:xfrm>
            <a:off x="2828118" y="5695340"/>
            <a:ext cx="4285167" cy="923330"/>
          </a:xfrm>
          <a:prstGeom prst="rect">
            <a:avLst/>
          </a:prstGeom>
          <a:solidFill>
            <a:srgbClr val="FFC000"/>
          </a:solidFill>
        </p:spPr>
        <p:txBody>
          <a:bodyPr wrap="square" rtlCol="0">
            <a:spAutoFit/>
          </a:bodyPr>
          <a:lstStyle/>
          <a:p>
            <a:pPr algn="ctr"/>
            <a:r>
              <a:rPr lang="en-US" dirty="0">
                <a:latin typeface="Courier New" panose="02070309020205020404" pitchFamily="49" charset="0"/>
                <a:cs typeface="Courier New" panose="02070309020205020404" pitchFamily="49" charset="0"/>
              </a:rPr>
              <a:t>         COLUMN </a:t>
            </a:r>
            <a:r>
              <a:rPr lang="en-US" b="1" dirty="0">
                <a:latin typeface="Courier New" panose="02070309020205020404" pitchFamily="49" charset="0"/>
                <a:cs typeface="Courier New" panose="02070309020205020404" pitchFamily="49" charset="0"/>
              </a:rPr>
              <a:t>12345678</a:t>
            </a:r>
            <a:br>
              <a:rPr lang="en-US" b="1"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(0x1000)</a:t>
            </a: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ROW 1: ++____++</a:t>
            </a:r>
          </a:p>
          <a:p>
            <a:pPr algn="ctr"/>
            <a:r>
              <a:rPr lang="en-US" dirty="0">
                <a:latin typeface="Courier New" panose="02070309020205020404" pitchFamily="49" charset="0"/>
                <a:cs typeface="Courier New" panose="02070309020205020404" pitchFamily="49" charset="0"/>
              </a:rPr>
              <a:t>(0x1468) ROW 2: +++____+</a:t>
            </a:r>
          </a:p>
        </p:txBody>
      </p:sp>
      <p:pic>
        <p:nvPicPr>
          <p:cNvPr id="56" name="Picture 55">
            <a:extLst>
              <a:ext uri="{FF2B5EF4-FFF2-40B4-BE49-F238E27FC236}">
                <a16:creationId xmlns:a16="http://schemas.microsoft.com/office/drawing/2014/main" id="{D8FB992E-6793-CE21-35C5-28F3008A62B5}"/>
              </a:ext>
            </a:extLst>
          </p:cNvPr>
          <p:cNvPicPr>
            <a:picLocks noChangeAspect="1"/>
          </p:cNvPicPr>
          <p:nvPr/>
        </p:nvPicPr>
        <p:blipFill>
          <a:blip r:embed="rId2"/>
          <a:stretch>
            <a:fillRect/>
          </a:stretch>
        </p:blipFill>
        <p:spPr>
          <a:xfrm>
            <a:off x="9467278" y="931491"/>
            <a:ext cx="2495898" cy="876422"/>
          </a:xfrm>
          <a:prstGeom prst="rect">
            <a:avLst/>
          </a:prstGeom>
          <a:ln>
            <a:solidFill>
              <a:schemeClr val="tx1"/>
            </a:solidFill>
          </a:ln>
        </p:spPr>
      </p:pic>
      <p:cxnSp>
        <p:nvCxnSpPr>
          <p:cNvPr id="57" name="Straight Arrow Connector 56">
            <a:extLst>
              <a:ext uri="{FF2B5EF4-FFF2-40B4-BE49-F238E27FC236}">
                <a16:creationId xmlns:a16="http://schemas.microsoft.com/office/drawing/2014/main" id="{16073A4D-B5A3-78EC-E40C-D344CBB5140B}"/>
              </a:ext>
            </a:extLst>
          </p:cNvPr>
          <p:cNvCxnSpPr>
            <a:cxnSpLocks/>
          </p:cNvCxnSpPr>
          <p:nvPr/>
        </p:nvCxnSpPr>
        <p:spPr>
          <a:xfrm flipH="1">
            <a:off x="10439400" y="1689100"/>
            <a:ext cx="1270898" cy="2552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843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5B9A1-2DFE-A9B5-C075-FCCA71F1691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A5BAFE0-7C66-86B3-9F5D-D3C29B6772E3}"/>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5" name="TextBox 4">
            <a:extLst>
              <a:ext uri="{FF2B5EF4-FFF2-40B4-BE49-F238E27FC236}">
                <a16:creationId xmlns:a16="http://schemas.microsoft.com/office/drawing/2014/main" id="{DA26ED66-8B1D-24D4-F443-255C4CD55021}"/>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9247B0FB-2327-F4A9-B0FB-CBAFA8C7F530}"/>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07B8</a:t>
            </a:r>
          </a:p>
        </p:txBody>
      </p:sp>
      <p:sp>
        <p:nvSpPr>
          <p:cNvPr id="7" name="Rectangle 6">
            <a:extLst>
              <a:ext uri="{FF2B5EF4-FFF2-40B4-BE49-F238E27FC236}">
                <a16:creationId xmlns:a16="http://schemas.microsoft.com/office/drawing/2014/main" id="{355E1E85-31BB-4DD9-152C-43BE5F4F2C85}"/>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ABD36031-C074-0FA5-8262-33795F4090C9}"/>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7EF35B1D-B5BE-BB7B-B2D1-4532278A2D72}"/>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46D6A658-5CD0-C8F5-5799-03AB994C3341}"/>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FDD2D9A3-C5FE-8937-5968-F68CA606E6B1}"/>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A4103334-685A-3918-7306-571B2CB2BB40}"/>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b="1" dirty="0">
                <a:solidFill>
                  <a:srgbClr val="FF0000"/>
                </a:solidFill>
                <a:latin typeface="Courier New" panose="02070309020205020404" pitchFamily="49" charset="0"/>
                <a:cs typeface="Courier New" panose="02070309020205020404" pitchFamily="49" charset="0"/>
              </a:rPr>
              <a:t>C3</a:t>
            </a:r>
          </a:p>
        </p:txBody>
      </p:sp>
      <p:sp>
        <p:nvSpPr>
          <p:cNvPr id="13" name="TextBox 12">
            <a:extLst>
              <a:ext uri="{FF2B5EF4-FFF2-40B4-BE49-F238E27FC236}">
                <a16:creationId xmlns:a16="http://schemas.microsoft.com/office/drawing/2014/main" id="{5B2D3EF8-B05A-E8D3-42F1-2095427544D4}"/>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9420F354-06B0-BAB0-2542-269C6444E912}"/>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urier New" panose="02070309020205020404" pitchFamily="49" charset="0"/>
                <a:cs typeface="Courier New" panose="02070309020205020404" pitchFamily="49" charset="0"/>
              </a:rPr>
              <a:t>2626</a:t>
            </a:r>
          </a:p>
        </p:txBody>
      </p:sp>
      <p:sp>
        <p:nvSpPr>
          <p:cNvPr id="15" name="Rectangle 14">
            <a:extLst>
              <a:ext uri="{FF2B5EF4-FFF2-40B4-BE49-F238E27FC236}">
                <a16:creationId xmlns:a16="http://schemas.microsoft.com/office/drawing/2014/main" id="{AEAF7852-356C-B10B-473D-470E6DE70AA2}"/>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0BE4</a:t>
            </a:r>
          </a:p>
        </p:txBody>
      </p:sp>
      <p:sp>
        <p:nvSpPr>
          <p:cNvPr id="16" name="Rectangle 15">
            <a:extLst>
              <a:ext uri="{FF2B5EF4-FFF2-40B4-BE49-F238E27FC236}">
                <a16:creationId xmlns:a16="http://schemas.microsoft.com/office/drawing/2014/main" id="{9C4A2D3C-CA1F-6B93-6593-103AFBE9757E}"/>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urier New" panose="02070309020205020404" pitchFamily="49" charset="0"/>
                <a:cs typeface="Courier New" panose="02070309020205020404" pitchFamily="49" charset="0"/>
              </a:rPr>
              <a:t>2626</a:t>
            </a:r>
          </a:p>
        </p:txBody>
      </p:sp>
      <p:sp>
        <p:nvSpPr>
          <p:cNvPr id="17" name="TextBox 16">
            <a:extLst>
              <a:ext uri="{FF2B5EF4-FFF2-40B4-BE49-F238E27FC236}">
                <a16:creationId xmlns:a16="http://schemas.microsoft.com/office/drawing/2014/main" id="{ACC70E01-6CF4-87FD-6E44-51C7172C8237}"/>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7C36B7BF-9B46-EFB1-3067-C84C5281C297}"/>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25F36002-D798-BFC7-EC45-9BA13C09EC08}"/>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9B791576-64F2-47FE-9A31-6704B739AD8F}"/>
              </a:ext>
            </a:extLst>
          </p:cNvPr>
          <p:cNvSpPr/>
          <p:nvPr/>
        </p:nvSpPr>
        <p:spPr>
          <a:xfrm>
            <a:off x="1384300" y="33152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C3E1</a:t>
            </a:r>
          </a:p>
        </p:txBody>
      </p:sp>
      <p:sp>
        <p:nvSpPr>
          <p:cNvPr id="21" name="TextBox 20">
            <a:extLst>
              <a:ext uri="{FF2B5EF4-FFF2-40B4-BE49-F238E27FC236}">
                <a16:creationId xmlns:a16="http://schemas.microsoft.com/office/drawing/2014/main" id="{9547A4E7-96D1-BC83-A79B-4973BC3D9275}"/>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E60BCFC5-7749-9D1B-FA71-FCCB035952DF}"/>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0005</a:t>
            </a:r>
          </a:p>
        </p:txBody>
      </p:sp>
      <p:sp>
        <p:nvSpPr>
          <p:cNvPr id="23" name="Rectangle 22">
            <a:extLst>
              <a:ext uri="{FF2B5EF4-FFF2-40B4-BE49-F238E27FC236}">
                <a16:creationId xmlns:a16="http://schemas.microsoft.com/office/drawing/2014/main" id="{630E0CD7-C1C0-1024-69A1-E14DCC5DA422}"/>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3B87D1E0-4FE8-87BC-6074-2BDA2FE72797}"/>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1000</a:t>
            </a:r>
          </a:p>
        </p:txBody>
      </p:sp>
      <p:sp>
        <p:nvSpPr>
          <p:cNvPr id="25" name="TextBox 24">
            <a:extLst>
              <a:ext uri="{FF2B5EF4-FFF2-40B4-BE49-F238E27FC236}">
                <a16:creationId xmlns:a16="http://schemas.microsoft.com/office/drawing/2014/main" id="{76397E93-81A1-9E7E-2B74-02DDEBB7955E}"/>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C3E00D99-C85F-2EE5-754C-0624BF6337C5}"/>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C65B4AB6-B489-395E-328D-CB496FFE74A8}"/>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4D0C21E8-5387-E211-7598-6DA9DA71D150}"/>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0C96</a:t>
            </a:r>
          </a:p>
        </p:txBody>
      </p:sp>
      <p:sp>
        <p:nvSpPr>
          <p:cNvPr id="29" name="TextBox 28">
            <a:extLst>
              <a:ext uri="{FF2B5EF4-FFF2-40B4-BE49-F238E27FC236}">
                <a16:creationId xmlns:a16="http://schemas.microsoft.com/office/drawing/2014/main" id="{A3FEACC7-AA14-EF3E-A9D5-0445574EFD78}"/>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296D2391-226E-89CE-5181-9224DBF57D32}"/>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112BDD5B-0DFA-C007-685C-B5CDFA36F08A}"/>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a:t>
            </a:r>
            <a:r>
              <a:rPr lang="en-US" b="1" dirty="0">
                <a:solidFill>
                  <a:srgbClr val="FF0000"/>
                </a:solidFill>
                <a:latin typeface="Courier New" panose="02070309020205020404" pitchFamily="49" charset="0"/>
                <a:cs typeface="Courier New" panose="02070309020205020404" pitchFamily="49" charset="0"/>
              </a:rPr>
              <a:t>40</a:t>
            </a:r>
          </a:p>
        </p:txBody>
      </p:sp>
      <p:sp>
        <p:nvSpPr>
          <p:cNvPr id="32" name="Rectangle 31">
            <a:extLst>
              <a:ext uri="{FF2B5EF4-FFF2-40B4-BE49-F238E27FC236}">
                <a16:creationId xmlns:a16="http://schemas.microsoft.com/office/drawing/2014/main" id="{4ED09576-19F2-680F-DCC6-FCB44A68DB0B}"/>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33" name="TextBox 32">
            <a:extLst>
              <a:ext uri="{FF2B5EF4-FFF2-40B4-BE49-F238E27FC236}">
                <a16:creationId xmlns:a16="http://schemas.microsoft.com/office/drawing/2014/main" id="{0A40EA45-175B-D85B-9E66-D1CEF39C85FD}"/>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6877455C-9068-4DD0-E8EA-3E029B33F75F}"/>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1AF07F66-ECB5-664D-8F97-2B5C6718CA60}"/>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E1382F1D-6BDC-7EF4-49D8-5E910D8C08D5}"/>
              </a:ext>
            </a:extLst>
          </p:cNvPr>
          <p:cNvSpPr>
            <a:spLocks noGrp="1"/>
          </p:cNvSpPr>
          <p:nvPr>
            <p:ph idx="1"/>
          </p:nvPr>
        </p:nvSpPr>
        <p:spPr>
          <a:xfrm>
            <a:off x="2801814" y="351693"/>
            <a:ext cx="7057294" cy="3298621"/>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DO_COL2: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07DE	048C	</a:t>
            </a:r>
            <a:r>
              <a:rPr lang="pt-BR" sz="1400" i="1" dirty="0">
                <a:latin typeface="Courier New" panose="02070309020205020404" pitchFamily="49" charset="0"/>
                <a:cs typeface="Courier New" panose="02070309020205020404" pitchFamily="49" charset="0"/>
              </a:rPr>
              <a:t>HTL    R4, R8</a:t>
            </a:r>
            <a:r>
              <a:rPr lang="pt-BR" sz="1400" dirty="0">
                <a:latin typeface="Courier New" panose="02070309020205020404" pitchFamily="49" charset="0"/>
                <a:cs typeface="Courier New" panose="02070309020205020404" pitchFamily="49" charset="0"/>
              </a:rPr>
              <a:t>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R4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R8</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07E0	8E40	LBI    R14, #64     </a:t>
            </a:r>
            <a:r>
              <a:rPr lang="pt-BR" sz="1400" dirty="0">
                <a:latin typeface="Courier New" panose="02070309020205020404" pitchFamily="49" charset="0"/>
                <a:cs typeface="Courier New" panose="02070309020205020404" pitchFamily="49" charset="0"/>
                <a:sym typeface="Wingdings" panose="05000000000000000000" pitchFamily="2" charset="2"/>
              </a:rPr>
              <a:t> R14 = 0100 0000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07E2	C4ED	SNBS   R4, R14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Not</a:t>
            </a:r>
            <a:r>
              <a:rPr lang="pt-BR" sz="1400" dirty="0">
                <a:latin typeface="Courier New" panose="02070309020205020404" pitchFamily="49" charset="0"/>
                <a:cs typeface="Courier New" panose="02070309020205020404" pitchFamily="49" charset="0"/>
                <a:sym typeface="Wingdings" panose="05000000000000000000" pitchFamily="2" charset="2"/>
              </a:rPr>
              <a:t> Bit Set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07E4	A005	BRA    SET_COL2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07E6	8500	LBI    R5, BG_SYMBOL</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07E8	55B1	MOVE   (R11)+,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07EA	A003	BRA    DO_COL3</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SET_COL2: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07EC	057C	HTL    R5, R7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R5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R7</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07EE	55B1	MOVE   (R11)+, R5   </a:t>
            </a:r>
            <a:r>
              <a:rPr lang="pt-BR" sz="1400" dirty="0">
                <a:latin typeface="Courier New" panose="02070309020205020404" pitchFamily="49" charset="0"/>
                <a:cs typeface="Courier New" panose="02070309020205020404" pitchFamily="49" charset="0"/>
                <a:sym typeface="Wingdings" panose="05000000000000000000" pitchFamily="2" charset="2"/>
              </a:rPr>
              <a:t> MEM[R11] = R5, </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DO_COL3:	                                    R11 = R11+2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07F0	...</a:t>
            </a:r>
          </a:p>
        </p:txBody>
      </p:sp>
      <p:sp>
        <p:nvSpPr>
          <p:cNvPr id="3" name="TextBox 2">
            <a:extLst>
              <a:ext uri="{FF2B5EF4-FFF2-40B4-BE49-F238E27FC236}">
                <a16:creationId xmlns:a16="http://schemas.microsoft.com/office/drawing/2014/main" id="{0F354156-8E0B-01E3-328F-85D472F04F02}"/>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1" name="Rectangle 40">
            <a:extLst>
              <a:ext uri="{FF2B5EF4-FFF2-40B4-BE49-F238E27FC236}">
                <a16:creationId xmlns:a16="http://schemas.microsoft.com/office/drawing/2014/main" id="{632D671B-7617-BCAE-8D38-7CC24D6F1C3A}"/>
              </a:ext>
            </a:extLst>
          </p:cNvPr>
          <p:cNvSpPr/>
          <p:nvPr/>
        </p:nvSpPr>
        <p:spPr>
          <a:xfrm>
            <a:off x="9241535" y="1930399"/>
            <a:ext cx="2731009" cy="427804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BIG_LETTERS:	</a:t>
            </a:r>
          </a:p>
          <a:p>
            <a:r>
              <a:rPr lang="en-US" sz="1000" dirty="0">
                <a:solidFill>
                  <a:schemeClr val="tx1"/>
                </a:solidFill>
                <a:latin typeface="Courier New" panose="02070309020205020404" pitchFamily="49" charset="0"/>
                <a:cs typeface="Courier New" panose="02070309020205020404" pitchFamily="49" charset="0"/>
              </a:rPr>
              <a:t>  0A24	01  A	0</a:t>
            </a:r>
          </a:p>
          <a:p>
            <a:r>
              <a:rPr lang="en-US" sz="1000" dirty="0">
                <a:solidFill>
                  <a:schemeClr val="tx1"/>
                </a:solidFill>
                <a:latin typeface="Courier New" panose="02070309020205020404" pitchFamily="49" charset="0"/>
                <a:cs typeface="Courier New" panose="02070309020205020404" pitchFamily="49" charset="0"/>
              </a:rPr>
              <a:t>  0A25	00  (reserved)</a:t>
            </a:r>
          </a:p>
          <a:p>
            <a:r>
              <a:rPr lang="en-US" sz="1000" dirty="0">
                <a:solidFill>
                  <a:schemeClr val="tx1"/>
                </a:solidFill>
                <a:latin typeface="Courier New" panose="02070309020205020404" pitchFamily="49" charset="0"/>
                <a:cs typeface="Courier New" panose="02070309020205020404" pitchFamily="49" charset="0"/>
              </a:rPr>
              <a:t>  0A26	0C  00001100</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  0A27	1E  00011110</a:t>
            </a:r>
          </a:p>
          <a:p>
            <a:r>
              <a:rPr lang="en-US" sz="1000" dirty="0">
                <a:solidFill>
                  <a:schemeClr val="tx1"/>
                </a:solidFill>
                <a:latin typeface="Courier New" panose="02070309020205020404" pitchFamily="49" charset="0"/>
                <a:cs typeface="Courier New" panose="02070309020205020404" pitchFamily="49" charset="0"/>
              </a:rPr>
              <a:t>  0A28	33  00110011</a:t>
            </a:r>
          </a:p>
          <a:p>
            <a:r>
              <a:rPr lang="en-US" sz="1000" dirty="0">
                <a:solidFill>
                  <a:schemeClr val="tx1"/>
                </a:solidFill>
                <a:latin typeface="Courier New" panose="02070309020205020404" pitchFamily="49" charset="0"/>
                <a:cs typeface="Courier New" panose="02070309020205020404" pitchFamily="49" charset="0"/>
              </a:rPr>
              <a:t>  0A29	33  00110011</a:t>
            </a:r>
          </a:p>
          <a:p>
            <a:r>
              <a:rPr lang="en-US" sz="1000" dirty="0">
                <a:solidFill>
                  <a:schemeClr val="tx1"/>
                </a:solidFill>
                <a:latin typeface="Courier New" panose="02070309020205020404" pitchFamily="49" charset="0"/>
                <a:cs typeface="Courier New" panose="02070309020205020404" pitchFamily="49" charset="0"/>
              </a:rPr>
              <a:t>  0A2A	3F  00111111</a:t>
            </a:r>
          </a:p>
          <a:p>
            <a:r>
              <a:rPr lang="en-US" sz="1000" dirty="0">
                <a:solidFill>
                  <a:schemeClr val="tx1"/>
                </a:solidFill>
                <a:latin typeface="Courier New" panose="02070309020205020404" pitchFamily="49" charset="0"/>
                <a:cs typeface="Courier New" panose="02070309020205020404" pitchFamily="49" charset="0"/>
              </a:rPr>
              <a:t>  0A2B	3F  00111111</a:t>
            </a:r>
          </a:p>
          <a:p>
            <a:r>
              <a:rPr lang="en-US" sz="1000" dirty="0">
                <a:solidFill>
                  <a:schemeClr val="tx1"/>
                </a:solidFill>
                <a:latin typeface="Courier New" panose="02070309020205020404" pitchFamily="49" charset="0"/>
                <a:cs typeface="Courier New" panose="02070309020205020404" pitchFamily="49" charset="0"/>
              </a:rPr>
              <a:t>  0A2C	33  00110011</a:t>
            </a:r>
          </a:p>
          <a:p>
            <a:r>
              <a:rPr lang="en-US" sz="1000" dirty="0">
                <a:solidFill>
                  <a:schemeClr val="tx1"/>
                </a:solidFill>
                <a:latin typeface="Courier New" panose="02070309020205020404" pitchFamily="49" charset="0"/>
                <a:cs typeface="Courier New" panose="02070309020205020404" pitchFamily="49" charset="0"/>
              </a:rPr>
              <a:t>  0A2D	33  00110011</a:t>
            </a:r>
          </a:p>
          <a:p>
            <a:r>
              <a:rPr lang="en-US" sz="1000" dirty="0">
                <a:solidFill>
                  <a:schemeClr val="tx1"/>
                </a:solidFill>
                <a:latin typeface="Courier New" panose="02070309020205020404" pitchFamily="49" charset="0"/>
                <a:cs typeface="Courier New" panose="02070309020205020404" pitchFamily="49" charset="0"/>
              </a:rPr>
              <a:t>  0A2E	33  00110011</a:t>
            </a:r>
          </a:p>
          <a:p>
            <a:r>
              <a:rPr lang="en-US" sz="1000" dirty="0">
                <a:solidFill>
                  <a:schemeClr val="tx1"/>
                </a:solidFill>
                <a:latin typeface="Courier New" panose="02070309020205020404" pitchFamily="49" charset="0"/>
                <a:cs typeface="Courier New" panose="02070309020205020404" pitchFamily="49" charset="0"/>
              </a:rPr>
              <a:t>  0A2F	33  00110011</a:t>
            </a:r>
          </a:p>
          <a:p>
            <a:r>
              <a:rPr lang="en-US" sz="1000" dirty="0">
                <a:solidFill>
                  <a:schemeClr val="tx1"/>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0BE0	</a:t>
            </a:r>
            <a:r>
              <a:rPr lang="en-US" sz="1000" b="1" dirty="0">
                <a:solidFill>
                  <a:srgbClr val="FF0000"/>
                </a:solidFill>
                <a:latin typeface="Courier New" panose="02070309020205020404" pitchFamily="49" charset="0"/>
                <a:cs typeface="Courier New" panose="02070309020205020404" pitchFamily="49" charset="0"/>
              </a:rPr>
              <a:t>26</a:t>
            </a:r>
            <a:r>
              <a:rPr lang="en-US" sz="1000" dirty="0">
                <a:solidFill>
                  <a:schemeClr val="tx1"/>
                </a:solidFill>
                <a:latin typeface="Courier New" panose="02070309020205020404" pitchFamily="49" charset="0"/>
                <a:cs typeface="Courier New" panose="02070309020205020404" pitchFamily="49" charset="0"/>
              </a:rPr>
              <a:t>  </a:t>
            </a:r>
            <a:r>
              <a:rPr lang="en-US" sz="1000" strike="sngStrike" dirty="0">
                <a:solidFill>
                  <a:schemeClr val="tx1"/>
                </a:solidFill>
                <a:latin typeface="Courier New" panose="02070309020205020404" pitchFamily="49" charset="0"/>
                <a:cs typeface="Courier New" panose="02070309020205020404" pitchFamily="49" charset="0"/>
              </a:rPr>
              <a:t>" "(blank)</a:t>
            </a:r>
            <a:r>
              <a:rPr lang="en-US" sz="1000" dirty="0">
                <a:solidFill>
                  <a:schemeClr val="tx1"/>
                </a:solidFill>
                <a:latin typeface="Courier New" panose="02070309020205020404" pitchFamily="49" charset="0"/>
                <a:cs typeface="Courier New" panose="02070309020205020404" pitchFamily="49" charset="0"/>
              </a:rPr>
              <a:t> 444</a:t>
            </a:r>
          </a:p>
          <a:p>
            <a:r>
              <a:rPr lang="en-US" sz="1000" dirty="0">
                <a:solidFill>
                  <a:schemeClr val="tx1"/>
                </a:solidFill>
                <a:latin typeface="Courier New" panose="02070309020205020404" pitchFamily="49" charset="0"/>
                <a:cs typeface="Courier New" panose="02070309020205020404" pitchFamily="49" charset="0"/>
              </a:rPr>
              <a:t>  0BE1	00  (reserved)</a:t>
            </a:r>
          </a:p>
          <a:p>
            <a:r>
              <a:rPr lang="en-US" sz="1000" dirty="0">
                <a:solidFill>
                  <a:schemeClr val="tx1"/>
                </a:solidFill>
                <a:latin typeface="Courier New" panose="02070309020205020404" pitchFamily="49" charset="0"/>
                <a:cs typeface="Courier New" panose="02070309020205020404" pitchFamily="49" charset="0"/>
              </a:rPr>
              <a:t>  0BE2	</a:t>
            </a:r>
            <a:r>
              <a:rPr lang="en-US" sz="1000" dirty="0">
                <a:solidFill>
                  <a:srgbClr val="FF0000"/>
                </a:solidFill>
                <a:latin typeface="Courier New" panose="02070309020205020404" pitchFamily="49" charset="0"/>
                <a:cs typeface="Courier New" panose="02070309020205020404" pitchFamily="49" charset="0"/>
              </a:rPr>
              <a:t>C3</a:t>
            </a:r>
            <a:r>
              <a:rPr lang="en-US" sz="1000" dirty="0">
                <a:solidFill>
                  <a:schemeClr val="tx1"/>
                </a:solidFill>
                <a:latin typeface="Courier New" panose="02070309020205020404" pitchFamily="49" charset="0"/>
                <a:cs typeface="Courier New" panose="02070309020205020404" pitchFamily="49" charset="0"/>
              </a:rPr>
              <a:t>  </a:t>
            </a:r>
            <a:r>
              <a:rPr lang="en-US" sz="1000" dirty="0">
                <a:solidFill>
                  <a:srgbClr val="FF0000"/>
                </a:solidFill>
                <a:latin typeface="Courier New" panose="02070309020205020404" pitchFamily="49" charset="0"/>
                <a:cs typeface="Courier New" panose="02070309020205020404" pitchFamily="49" charset="0"/>
              </a:rPr>
              <a:t>11000011</a:t>
            </a:r>
          </a:p>
          <a:p>
            <a:r>
              <a:rPr lang="en-US" sz="1000" dirty="0">
                <a:solidFill>
                  <a:schemeClr val="tx1"/>
                </a:solidFill>
                <a:latin typeface="Courier New" panose="02070309020205020404" pitchFamily="49" charset="0"/>
                <a:cs typeface="Courier New" panose="02070309020205020404" pitchFamily="49" charset="0"/>
              </a:rPr>
              <a:t>  0BE3	</a:t>
            </a:r>
            <a:r>
              <a:rPr lang="en-US" sz="1000" dirty="0">
                <a:solidFill>
                  <a:srgbClr val="FF0000"/>
                </a:solidFill>
                <a:latin typeface="Courier New" panose="02070309020205020404" pitchFamily="49" charset="0"/>
                <a:cs typeface="Courier New" panose="02070309020205020404" pitchFamily="49" charset="0"/>
              </a:rPr>
              <a:t>E1</a:t>
            </a:r>
            <a:r>
              <a:rPr lang="en-US" sz="1000" dirty="0">
                <a:solidFill>
                  <a:schemeClr val="tx1"/>
                </a:solidFill>
                <a:latin typeface="Courier New" panose="02070309020205020404" pitchFamily="49" charset="0"/>
                <a:cs typeface="Courier New" panose="02070309020205020404" pitchFamily="49" charset="0"/>
              </a:rPr>
              <a:t>  </a:t>
            </a:r>
            <a:r>
              <a:rPr lang="en-US" sz="1000" dirty="0">
                <a:solidFill>
                  <a:srgbClr val="FF0000"/>
                </a:solidFill>
                <a:latin typeface="Courier New" panose="02070309020205020404" pitchFamily="49" charset="0"/>
                <a:cs typeface="Courier New" panose="02070309020205020404" pitchFamily="49" charset="0"/>
              </a:rPr>
              <a:t>11100001</a:t>
            </a:r>
          </a:p>
          <a:p>
            <a:r>
              <a:rPr lang="en-US" sz="1000" dirty="0">
                <a:solidFill>
                  <a:schemeClr val="tx1"/>
                </a:solidFill>
                <a:latin typeface="Courier New" panose="02070309020205020404" pitchFamily="49" charset="0"/>
                <a:cs typeface="Courier New" panose="02070309020205020404" pitchFamily="49" charset="0"/>
              </a:rPr>
              <a:t>  0BE4	00  00000000</a:t>
            </a:r>
          </a:p>
          <a:p>
            <a:r>
              <a:rPr lang="en-US" sz="1000" dirty="0">
                <a:solidFill>
                  <a:schemeClr val="tx1"/>
                </a:solidFill>
                <a:latin typeface="Courier New" panose="02070309020205020404" pitchFamily="49" charset="0"/>
                <a:cs typeface="Courier New" panose="02070309020205020404" pitchFamily="49" charset="0"/>
              </a:rPr>
              <a:t>  0BE5	00  00000000</a:t>
            </a:r>
          </a:p>
          <a:p>
            <a:r>
              <a:rPr lang="en-US" sz="1000" dirty="0">
                <a:solidFill>
                  <a:schemeClr val="tx1"/>
                </a:solidFill>
                <a:latin typeface="Courier New" panose="02070309020205020404" pitchFamily="49" charset="0"/>
                <a:cs typeface="Courier New" panose="02070309020205020404" pitchFamily="49" charset="0"/>
              </a:rPr>
              <a:t>  0BE6	00  00000000</a:t>
            </a:r>
          </a:p>
          <a:p>
            <a:r>
              <a:rPr lang="en-US" sz="1000" dirty="0">
                <a:solidFill>
                  <a:schemeClr val="tx1"/>
                </a:solidFill>
                <a:latin typeface="Courier New" panose="02070309020205020404" pitchFamily="49" charset="0"/>
                <a:cs typeface="Courier New" panose="02070309020205020404" pitchFamily="49" charset="0"/>
              </a:rPr>
              <a:t>  0BE7	00  00000000</a:t>
            </a:r>
          </a:p>
          <a:p>
            <a:r>
              <a:rPr lang="en-US" sz="1000" dirty="0">
                <a:solidFill>
                  <a:schemeClr val="tx1"/>
                </a:solidFill>
                <a:latin typeface="Courier New" panose="02070309020205020404" pitchFamily="49" charset="0"/>
                <a:cs typeface="Courier New" panose="02070309020205020404" pitchFamily="49" charset="0"/>
              </a:rPr>
              <a:t>  0BE8	00  00000000</a:t>
            </a:r>
          </a:p>
          <a:p>
            <a:r>
              <a:rPr lang="en-US" sz="1000" dirty="0">
                <a:solidFill>
                  <a:schemeClr val="tx1"/>
                </a:solidFill>
                <a:latin typeface="Courier New" panose="02070309020205020404" pitchFamily="49" charset="0"/>
                <a:cs typeface="Courier New" panose="02070309020205020404" pitchFamily="49" charset="0"/>
              </a:rPr>
              <a:t>  0BE9	00  00000000</a:t>
            </a:r>
          </a:p>
          <a:p>
            <a:r>
              <a:rPr lang="en-US" sz="1000" dirty="0">
                <a:solidFill>
                  <a:schemeClr val="tx1"/>
                </a:solidFill>
                <a:latin typeface="Courier New" panose="02070309020205020404" pitchFamily="49" charset="0"/>
                <a:cs typeface="Courier New" panose="02070309020205020404" pitchFamily="49" charset="0"/>
              </a:rPr>
              <a:t>  0BEA	00  00000000</a:t>
            </a:r>
          </a:p>
          <a:p>
            <a:r>
              <a:rPr lang="en-US" sz="1000" dirty="0">
                <a:solidFill>
                  <a:schemeClr val="tx1"/>
                </a:solidFill>
                <a:latin typeface="Courier New" panose="02070309020205020404" pitchFamily="49" charset="0"/>
                <a:cs typeface="Courier New" panose="02070309020205020404" pitchFamily="49" charset="0"/>
              </a:rPr>
              <a:t>  0BEB	00  00000000</a:t>
            </a:r>
          </a:p>
        </p:txBody>
      </p:sp>
      <p:sp>
        <p:nvSpPr>
          <p:cNvPr id="38" name="Right Brace 37">
            <a:extLst>
              <a:ext uri="{FF2B5EF4-FFF2-40B4-BE49-F238E27FC236}">
                <a16:creationId xmlns:a16="http://schemas.microsoft.com/office/drawing/2014/main" id="{7752AE8E-C258-D7A9-4E59-C32496A73CDE}"/>
              </a:ext>
            </a:extLst>
          </p:cNvPr>
          <p:cNvSpPr/>
          <p:nvPr/>
        </p:nvSpPr>
        <p:spPr>
          <a:xfrm rot="10800000">
            <a:off x="10066254" y="4525247"/>
            <a:ext cx="154067" cy="304879"/>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ectangle 47">
            <a:extLst>
              <a:ext uri="{FF2B5EF4-FFF2-40B4-BE49-F238E27FC236}">
                <a16:creationId xmlns:a16="http://schemas.microsoft.com/office/drawing/2014/main" id="{1638B630-873E-F29C-752D-4D49F0DEE868}"/>
              </a:ext>
            </a:extLst>
          </p:cNvPr>
          <p:cNvSpPr/>
          <p:nvPr/>
        </p:nvSpPr>
        <p:spPr>
          <a:xfrm>
            <a:off x="8195403" y="469853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9" name="TextBox 48">
            <a:extLst>
              <a:ext uri="{FF2B5EF4-FFF2-40B4-BE49-F238E27FC236}">
                <a16:creationId xmlns:a16="http://schemas.microsoft.com/office/drawing/2014/main" id="{B1198D02-28B3-65EA-2D19-6AB251F7BD1F}"/>
              </a:ext>
            </a:extLst>
          </p:cNvPr>
          <p:cNvSpPr txBox="1"/>
          <p:nvPr/>
        </p:nvSpPr>
        <p:spPr>
          <a:xfrm>
            <a:off x="7475749" y="469853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66" name="Right Brace 65">
            <a:extLst>
              <a:ext uri="{FF2B5EF4-FFF2-40B4-BE49-F238E27FC236}">
                <a16:creationId xmlns:a16="http://schemas.microsoft.com/office/drawing/2014/main" id="{41EAAB7B-0271-6D1C-83F6-E62DF6C4A163}"/>
              </a:ext>
            </a:extLst>
          </p:cNvPr>
          <p:cNvSpPr/>
          <p:nvPr/>
        </p:nvSpPr>
        <p:spPr>
          <a:xfrm>
            <a:off x="11224494" y="4553387"/>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Right Brace 66">
            <a:extLst>
              <a:ext uri="{FF2B5EF4-FFF2-40B4-BE49-F238E27FC236}">
                <a16:creationId xmlns:a16="http://schemas.microsoft.com/office/drawing/2014/main" id="{A79F098E-FD91-B086-C64B-8A721763548F}"/>
              </a:ext>
            </a:extLst>
          </p:cNvPr>
          <p:cNvSpPr/>
          <p:nvPr/>
        </p:nvSpPr>
        <p:spPr>
          <a:xfrm>
            <a:off x="11224494" y="4859163"/>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Right Brace 67">
            <a:extLst>
              <a:ext uri="{FF2B5EF4-FFF2-40B4-BE49-F238E27FC236}">
                <a16:creationId xmlns:a16="http://schemas.microsoft.com/office/drawing/2014/main" id="{81851F86-0748-DD10-9B56-780BEE493A8D}"/>
              </a:ext>
            </a:extLst>
          </p:cNvPr>
          <p:cNvSpPr/>
          <p:nvPr/>
        </p:nvSpPr>
        <p:spPr>
          <a:xfrm>
            <a:off x="11246719" y="5165476"/>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Right Brace 68">
            <a:extLst>
              <a:ext uri="{FF2B5EF4-FFF2-40B4-BE49-F238E27FC236}">
                <a16:creationId xmlns:a16="http://schemas.microsoft.com/office/drawing/2014/main" id="{29EA09E7-865F-6817-CEEB-1989909C15A9}"/>
              </a:ext>
            </a:extLst>
          </p:cNvPr>
          <p:cNvSpPr/>
          <p:nvPr/>
        </p:nvSpPr>
        <p:spPr>
          <a:xfrm>
            <a:off x="11246719" y="54741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Right Brace 69">
            <a:extLst>
              <a:ext uri="{FF2B5EF4-FFF2-40B4-BE49-F238E27FC236}">
                <a16:creationId xmlns:a16="http://schemas.microsoft.com/office/drawing/2014/main" id="{D75856D2-9914-CB54-0100-124F26402B05}"/>
              </a:ext>
            </a:extLst>
          </p:cNvPr>
          <p:cNvSpPr/>
          <p:nvPr/>
        </p:nvSpPr>
        <p:spPr>
          <a:xfrm>
            <a:off x="11246719" y="57775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a:extLst>
              <a:ext uri="{FF2B5EF4-FFF2-40B4-BE49-F238E27FC236}">
                <a16:creationId xmlns:a16="http://schemas.microsoft.com/office/drawing/2014/main" id="{3DF32936-985F-E9FE-3A2D-7607F5D635F0}"/>
              </a:ext>
            </a:extLst>
          </p:cNvPr>
          <p:cNvSpPr txBox="1"/>
          <p:nvPr/>
        </p:nvSpPr>
        <p:spPr>
          <a:xfrm>
            <a:off x="11293196" y="4484967"/>
            <a:ext cx="417102" cy="369332"/>
          </a:xfrm>
          <a:prstGeom prst="rect">
            <a:avLst/>
          </a:prstGeom>
          <a:noFill/>
        </p:spPr>
        <p:txBody>
          <a:bodyPr wrap="none" rtlCol="0">
            <a:spAutoFit/>
          </a:bodyPr>
          <a:lstStyle/>
          <a:p>
            <a:r>
              <a:rPr lang="en-US" dirty="0"/>
              <a:t>#1</a:t>
            </a:r>
          </a:p>
        </p:txBody>
      </p:sp>
      <p:sp>
        <p:nvSpPr>
          <p:cNvPr id="72" name="TextBox 71">
            <a:extLst>
              <a:ext uri="{FF2B5EF4-FFF2-40B4-BE49-F238E27FC236}">
                <a16:creationId xmlns:a16="http://schemas.microsoft.com/office/drawing/2014/main" id="{A435FB64-CD2E-1EC9-6639-C25D5AAE1D82}"/>
              </a:ext>
            </a:extLst>
          </p:cNvPr>
          <p:cNvSpPr txBox="1"/>
          <p:nvPr/>
        </p:nvSpPr>
        <p:spPr>
          <a:xfrm>
            <a:off x="11293196" y="4792119"/>
            <a:ext cx="417102" cy="369332"/>
          </a:xfrm>
          <a:prstGeom prst="rect">
            <a:avLst/>
          </a:prstGeom>
          <a:noFill/>
        </p:spPr>
        <p:txBody>
          <a:bodyPr wrap="none" rtlCol="0">
            <a:spAutoFit/>
          </a:bodyPr>
          <a:lstStyle/>
          <a:p>
            <a:r>
              <a:rPr lang="en-US" dirty="0"/>
              <a:t>#2</a:t>
            </a:r>
          </a:p>
        </p:txBody>
      </p:sp>
      <p:sp>
        <p:nvSpPr>
          <p:cNvPr id="73" name="TextBox 72">
            <a:extLst>
              <a:ext uri="{FF2B5EF4-FFF2-40B4-BE49-F238E27FC236}">
                <a16:creationId xmlns:a16="http://schemas.microsoft.com/office/drawing/2014/main" id="{2A04391B-49F5-302B-1EFD-7EC542829414}"/>
              </a:ext>
            </a:extLst>
          </p:cNvPr>
          <p:cNvSpPr txBox="1"/>
          <p:nvPr/>
        </p:nvSpPr>
        <p:spPr>
          <a:xfrm>
            <a:off x="11293196" y="5099271"/>
            <a:ext cx="417102" cy="369332"/>
          </a:xfrm>
          <a:prstGeom prst="rect">
            <a:avLst/>
          </a:prstGeom>
          <a:noFill/>
        </p:spPr>
        <p:txBody>
          <a:bodyPr wrap="none" rtlCol="0">
            <a:spAutoFit/>
          </a:bodyPr>
          <a:lstStyle/>
          <a:p>
            <a:r>
              <a:rPr lang="en-US" dirty="0"/>
              <a:t>#3</a:t>
            </a:r>
          </a:p>
        </p:txBody>
      </p:sp>
      <p:sp>
        <p:nvSpPr>
          <p:cNvPr id="74" name="TextBox 73">
            <a:extLst>
              <a:ext uri="{FF2B5EF4-FFF2-40B4-BE49-F238E27FC236}">
                <a16:creationId xmlns:a16="http://schemas.microsoft.com/office/drawing/2014/main" id="{6E14F93B-2CED-205C-3934-61ABE8342FD8}"/>
              </a:ext>
            </a:extLst>
          </p:cNvPr>
          <p:cNvSpPr txBox="1"/>
          <p:nvPr/>
        </p:nvSpPr>
        <p:spPr>
          <a:xfrm>
            <a:off x="11293196" y="5406423"/>
            <a:ext cx="417102"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DEE87876-AA91-8469-7AA9-3934C7E9D370}"/>
              </a:ext>
            </a:extLst>
          </p:cNvPr>
          <p:cNvSpPr txBox="1"/>
          <p:nvPr/>
        </p:nvSpPr>
        <p:spPr>
          <a:xfrm>
            <a:off x="11293196" y="5713574"/>
            <a:ext cx="417102" cy="369332"/>
          </a:xfrm>
          <a:prstGeom prst="rect">
            <a:avLst/>
          </a:prstGeom>
          <a:noFill/>
        </p:spPr>
        <p:txBody>
          <a:bodyPr wrap="none" rtlCol="0">
            <a:spAutoFit/>
          </a:bodyPr>
          <a:lstStyle/>
          <a:p>
            <a:r>
              <a:rPr lang="en-US" dirty="0"/>
              <a:t>#5</a:t>
            </a:r>
          </a:p>
        </p:txBody>
      </p:sp>
      <p:sp>
        <p:nvSpPr>
          <p:cNvPr id="76" name="TextBox 75">
            <a:extLst>
              <a:ext uri="{FF2B5EF4-FFF2-40B4-BE49-F238E27FC236}">
                <a16:creationId xmlns:a16="http://schemas.microsoft.com/office/drawing/2014/main" id="{5727DEE6-2E29-AB26-C5B6-06067DA8364B}"/>
              </a:ext>
            </a:extLst>
          </p:cNvPr>
          <p:cNvSpPr txBox="1"/>
          <p:nvPr/>
        </p:nvSpPr>
        <p:spPr>
          <a:xfrm>
            <a:off x="6804824" y="4475073"/>
            <a:ext cx="1415772" cy="246221"/>
          </a:xfrm>
          <a:prstGeom prst="rect">
            <a:avLst/>
          </a:prstGeom>
          <a:noFill/>
        </p:spPr>
        <p:txBody>
          <a:bodyPr wrap="none" rtlCol="0">
            <a:spAutoFit/>
          </a:bodyPr>
          <a:lstStyle/>
          <a:p>
            <a:r>
              <a:rPr lang="en-US" sz="1000" dirty="0">
                <a:latin typeface="Courier New" panose="02070309020205020404" pitchFamily="49" charset="0"/>
                <a:cs typeface="Courier New" panose="02070309020205020404" pitchFamily="49" charset="0"/>
              </a:rPr>
              <a:t>WORKING_ADDRESS:</a:t>
            </a:r>
          </a:p>
        </p:txBody>
      </p:sp>
      <p:sp>
        <p:nvSpPr>
          <p:cNvPr id="80" name="TextBox 79">
            <a:extLst>
              <a:ext uri="{FF2B5EF4-FFF2-40B4-BE49-F238E27FC236}">
                <a16:creationId xmlns:a16="http://schemas.microsoft.com/office/drawing/2014/main" id="{2F0A8502-5F25-4F71-2E2E-1B0F0158CC14}"/>
              </a:ext>
            </a:extLst>
          </p:cNvPr>
          <p:cNvSpPr txBox="1"/>
          <p:nvPr/>
        </p:nvSpPr>
        <p:spPr>
          <a:xfrm>
            <a:off x="3270483" y="4464342"/>
            <a:ext cx="2997903" cy="923330"/>
          </a:xfrm>
          <a:prstGeom prst="rect">
            <a:avLst/>
          </a:prstGeom>
          <a:solidFill>
            <a:srgbClr val="FFC000"/>
          </a:solidFill>
        </p:spPr>
        <p:txBody>
          <a:bodyPr wrap="square" rtlCol="0">
            <a:spAutoFit/>
          </a:bodyPr>
          <a:lstStyle/>
          <a:p>
            <a:pPr algn="ctr"/>
            <a:r>
              <a:rPr lang="en-US" dirty="0"/>
              <a:t>Processed Column 2, </a:t>
            </a:r>
            <a:r>
              <a:rPr lang="en-US" b="1" dirty="0"/>
              <a:t>commit column 1 and 2 to memory.</a:t>
            </a:r>
          </a:p>
          <a:p>
            <a:pPr algn="ctr"/>
            <a:r>
              <a:rPr lang="en-US" dirty="0"/>
              <a:t>Then process Column 3 and 4.</a:t>
            </a:r>
          </a:p>
        </p:txBody>
      </p:sp>
      <p:sp>
        <p:nvSpPr>
          <p:cNvPr id="47" name="TextBox 46">
            <a:extLst>
              <a:ext uri="{FF2B5EF4-FFF2-40B4-BE49-F238E27FC236}">
                <a16:creationId xmlns:a16="http://schemas.microsoft.com/office/drawing/2014/main" id="{F0C1D9DD-B8B0-1101-1BDA-4D244AAFC8B8}"/>
              </a:ext>
            </a:extLst>
          </p:cNvPr>
          <p:cNvSpPr txBox="1"/>
          <p:nvPr/>
        </p:nvSpPr>
        <p:spPr>
          <a:xfrm>
            <a:off x="10355841" y="351693"/>
            <a:ext cx="1616703" cy="369332"/>
          </a:xfrm>
          <a:prstGeom prst="rect">
            <a:avLst/>
          </a:prstGeom>
          <a:solidFill>
            <a:srgbClr val="FFC000"/>
          </a:solidFill>
        </p:spPr>
        <p:txBody>
          <a:bodyPr wrap="square" rtlCol="0">
            <a:spAutoFit/>
          </a:bodyPr>
          <a:lstStyle/>
          <a:p>
            <a:pPr algn="ctr"/>
            <a:r>
              <a:rPr lang="en-US" dirty="0"/>
              <a:t>EXAMPLE</a:t>
            </a:r>
          </a:p>
        </p:txBody>
      </p:sp>
      <p:sp>
        <p:nvSpPr>
          <p:cNvPr id="52" name="TextBox 51">
            <a:extLst>
              <a:ext uri="{FF2B5EF4-FFF2-40B4-BE49-F238E27FC236}">
                <a16:creationId xmlns:a16="http://schemas.microsoft.com/office/drawing/2014/main" id="{D40599E8-4CB6-BD16-11A7-D5E2B430686B}"/>
              </a:ext>
            </a:extLst>
          </p:cNvPr>
          <p:cNvSpPr txBox="1"/>
          <p:nvPr/>
        </p:nvSpPr>
        <p:spPr>
          <a:xfrm>
            <a:off x="7449592" y="1441910"/>
            <a:ext cx="2094457" cy="461665"/>
          </a:xfrm>
          <a:prstGeom prst="rect">
            <a:avLst/>
          </a:prstGeom>
          <a:solidFill>
            <a:srgbClr val="FFC000"/>
          </a:solidFill>
        </p:spPr>
        <p:txBody>
          <a:bodyPr wrap="square" rtlCol="0">
            <a:spAutoFit/>
          </a:bodyPr>
          <a:lstStyle/>
          <a:p>
            <a:r>
              <a:rPr lang="en-US" sz="1200" dirty="0">
                <a:latin typeface="Courier New" panose="02070309020205020404" pitchFamily="49" charset="0"/>
                <a:cs typeface="Courier New" panose="02070309020205020404" pitchFamily="49" charset="0"/>
              </a:rPr>
              <a:t> R4: 1100 0011  (C3)</a:t>
            </a:r>
          </a:p>
          <a:p>
            <a:r>
              <a:rPr lang="en-US" sz="1200" dirty="0">
                <a:latin typeface="Courier New" panose="02070309020205020404" pitchFamily="49" charset="0"/>
                <a:cs typeface="Courier New" panose="02070309020205020404" pitchFamily="49" charset="0"/>
              </a:rPr>
              <a:t>R14: 0100 0000  (40)</a:t>
            </a:r>
          </a:p>
        </p:txBody>
      </p:sp>
      <p:sp>
        <p:nvSpPr>
          <p:cNvPr id="53" name="Rectangle 52">
            <a:extLst>
              <a:ext uri="{FF2B5EF4-FFF2-40B4-BE49-F238E27FC236}">
                <a16:creationId xmlns:a16="http://schemas.microsoft.com/office/drawing/2014/main" id="{C71BDB82-8F53-AB80-301E-7CF481934EDE}"/>
              </a:ext>
            </a:extLst>
          </p:cNvPr>
          <p:cNvSpPr/>
          <p:nvPr/>
        </p:nvSpPr>
        <p:spPr>
          <a:xfrm>
            <a:off x="8088767" y="1482235"/>
            <a:ext cx="96627" cy="36195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CCB13B8-845D-88E3-EB62-708EBA72D61B}"/>
              </a:ext>
            </a:extLst>
          </p:cNvPr>
          <p:cNvSpPr/>
          <p:nvPr/>
        </p:nvSpPr>
        <p:spPr>
          <a:xfrm>
            <a:off x="4639013" y="674007"/>
            <a:ext cx="4905035" cy="713514"/>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BF946F5F-3A95-45CA-541B-D25F6B2121F0}"/>
              </a:ext>
            </a:extLst>
          </p:cNvPr>
          <p:cNvSpPr/>
          <p:nvPr/>
        </p:nvSpPr>
        <p:spPr>
          <a:xfrm>
            <a:off x="4630612" y="2585656"/>
            <a:ext cx="4348424" cy="790590"/>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04960A08-651A-3A99-2EB5-8DD2D29E22E8}"/>
              </a:ext>
            </a:extLst>
          </p:cNvPr>
          <p:cNvCxnSpPr>
            <a:cxnSpLocks/>
          </p:cNvCxnSpPr>
          <p:nvPr/>
        </p:nvCxnSpPr>
        <p:spPr>
          <a:xfrm flipV="1">
            <a:off x="1706880" y="2585656"/>
            <a:ext cx="264799" cy="431864"/>
          </a:xfrm>
          <a:prstGeom prst="straightConnector1">
            <a:avLst/>
          </a:prstGeom>
          <a:ln>
            <a:solidFill>
              <a:srgbClr val="7030A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9E2BCD1-161B-F9F4-25B6-AE540B2E35DD}"/>
              </a:ext>
            </a:extLst>
          </p:cNvPr>
          <p:cNvSpPr txBox="1"/>
          <p:nvPr/>
        </p:nvSpPr>
        <p:spPr>
          <a:xfrm>
            <a:off x="2828118" y="5695340"/>
            <a:ext cx="4285167" cy="923330"/>
          </a:xfrm>
          <a:prstGeom prst="rect">
            <a:avLst/>
          </a:prstGeom>
          <a:solidFill>
            <a:srgbClr val="FFC000"/>
          </a:solidFill>
        </p:spPr>
        <p:txBody>
          <a:bodyPr wrap="square" rtlCol="0">
            <a:spAutoFit/>
          </a:bodyPr>
          <a:lstStyle/>
          <a:p>
            <a:pPr algn="ctr"/>
            <a:r>
              <a:rPr lang="en-US" dirty="0">
                <a:latin typeface="Courier New" panose="02070309020205020404" pitchFamily="49" charset="0"/>
                <a:cs typeface="Courier New" panose="02070309020205020404" pitchFamily="49" charset="0"/>
              </a:rPr>
              <a:t>         COLUMN </a:t>
            </a:r>
            <a:r>
              <a:rPr lang="en-US" b="1" dirty="0">
                <a:latin typeface="Courier New" panose="02070309020205020404" pitchFamily="49" charset="0"/>
                <a:cs typeface="Courier New" panose="02070309020205020404" pitchFamily="49" charset="0"/>
              </a:rPr>
              <a:t>12345678</a:t>
            </a:r>
            <a:br>
              <a:rPr lang="en-US" b="1"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(0x1000)</a:t>
            </a: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ROW 1: </a:t>
            </a:r>
            <a:r>
              <a:rPr lang="en-US" b="1" dirty="0">
                <a:solidFill>
                  <a:srgbClr val="FF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____++</a:t>
            </a:r>
          </a:p>
          <a:p>
            <a:pPr algn="ctr"/>
            <a:r>
              <a:rPr lang="en-US" dirty="0">
                <a:latin typeface="Courier New" panose="02070309020205020404" pitchFamily="49" charset="0"/>
                <a:cs typeface="Courier New" panose="02070309020205020404" pitchFamily="49" charset="0"/>
              </a:rPr>
              <a:t>(0x1468) ROW 2: +++____+</a:t>
            </a:r>
          </a:p>
        </p:txBody>
      </p:sp>
      <p:pic>
        <p:nvPicPr>
          <p:cNvPr id="61" name="Picture 60">
            <a:extLst>
              <a:ext uri="{FF2B5EF4-FFF2-40B4-BE49-F238E27FC236}">
                <a16:creationId xmlns:a16="http://schemas.microsoft.com/office/drawing/2014/main" id="{641CF344-A99E-7080-731D-DC3CB224FF77}"/>
              </a:ext>
            </a:extLst>
          </p:cNvPr>
          <p:cNvPicPr>
            <a:picLocks noChangeAspect="1"/>
          </p:cNvPicPr>
          <p:nvPr/>
        </p:nvPicPr>
        <p:blipFill>
          <a:blip r:embed="rId2"/>
          <a:stretch>
            <a:fillRect/>
          </a:stretch>
        </p:blipFill>
        <p:spPr>
          <a:xfrm>
            <a:off x="9467278" y="931491"/>
            <a:ext cx="2495898" cy="876422"/>
          </a:xfrm>
          <a:prstGeom prst="rect">
            <a:avLst/>
          </a:prstGeom>
          <a:ln>
            <a:solidFill>
              <a:schemeClr val="tx1"/>
            </a:solidFill>
          </a:ln>
        </p:spPr>
      </p:pic>
      <p:sp>
        <p:nvSpPr>
          <p:cNvPr id="62" name="Arrow: Down 61">
            <a:extLst>
              <a:ext uri="{FF2B5EF4-FFF2-40B4-BE49-F238E27FC236}">
                <a16:creationId xmlns:a16="http://schemas.microsoft.com/office/drawing/2014/main" id="{070C8B86-6A8B-4F06-53B6-B209C5F79144}"/>
              </a:ext>
            </a:extLst>
          </p:cNvPr>
          <p:cNvSpPr/>
          <p:nvPr/>
        </p:nvSpPr>
        <p:spPr>
          <a:xfrm>
            <a:off x="5740400" y="5480399"/>
            <a:ext cx="215900" cy="259619"/>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a:extLst>
              <a:ext uri="{FF2B5EF4-FFF2-40B4-BE49-F238E27FC236}">
                <a16:creationId xmlns:a16="http://schemas.microsoft.com/office/drawing/2014/main" id="{15DD21AC-06F1-16B4-D4F6-BE5211A84C31}"/>
              </a:ext>
            </a:extLst>
          </p:cNvPr>
          <p:cNvCxnSpPr>
            <a:cxnSpLocks/>
            <a:endCxn id="80" idx="0"/>
          </p:cNvCxnSpPr>
          <p:nvPr/>
        </p:nvCxnSpPr>
        <p:spPr>
          <a:xfrm flipH="1">
            <a:off x="4769435" y="3098800"/>
            <a:ext cx="1047165" cy="13655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3048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FC5BC-6C83-B61B-7CA7-A9B84DDD20F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A6C3387-44F5-96AA-B2C2-63B0D7584D24}"/>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085E</a:t>
            </a:r>
          </a:p>
        </p:txBody>
      </p:sp>
      <p:sp>
        <p:nvSpPr>
          <p:cNvPr id="5" name="TextBox 4">
            <a:extLst>
              <a:ext uri="{FF2B5EF4-FFF2-40B4-BE49-F238E27FC236}">
                <a16:creationId xmlns:a16="http://schemas.microsoft.com/office/drawing/2014/main" id="{417B9DC5-982B-B2EE-E60F-1336D7A43AB7}"/>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0A97E189-3DDE-4C14-11E1-D510B8DD35EC}"/>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07B8</a:t>
            </a:r>
          </a:p>
        </p:txBody>
      </p:sp>
      <p:sp>
        <p:nvSpPr>
          <p:cNvPr id="7" name="Rectangle 6">
            <a:extLst>
              <a:ext uri="{FF2B5EF4-FFF2-40B4-BE49-F238E27FC236}">
                <a16:creationId xmlns:a16="http://schemas.microsoft.com/office/drawing/2014/main" id="{61149B70-62CB-57A6-F292-3B44EB0EBC8A}"/>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0784</a:t>
            </a:r>
          </a:p>
        </p:txBody>
      </p:sp>
      <p:sp>
        <p:nvSpPr>
          <p:cNvPr id="8" name="Rectangle 7">
            <a:extLst>
              <a:ext uri="{FF2B5EF4-FFF2-40B4-BE49-F238E27FC236}">
                <a16:creationId xmlns:a16="http://schemas.microsoft.com/office/drawing/2014/main" id="{8CEED1A9-15B0-35B0-5021-ACAE788A3D62}"/>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0E04</a:t>
            </a:r>
          </a:p>
        </p:txBody>
      </p:sp>
      <p:sp>
        <p:nvSpPr>
          <p:cNvPr id="9" name="TextBox 8">
            <a:extLst>
              <a:ext uri="{FF2B5EF4-FFF2-40B4-BE49-F238E27FC236}">
                <a16:creationId xmlns:a16="http://schemas.microsoft.com/office/drawing/2014/main" id="{ECD18EEB-6D45-F579-E83D-1A0DB0F73801}"/>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B800BB7E-9DA2-5C3A-74C3-8B50C482C3E5}"/>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9F95FF9D-3394-E4FC-CF65-12D51D312126}"/>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5354594E-4784-BB8C-3AE2-A6F455DFC2E1}"/>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C3E1</a:t>
            </a:r>
            <a:endParaRPr lang="en-US" b="1" dirty="0">
              <a:solidFill>
                <a:srgbClr val="FF0000"/>
              </a:solidFill>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193C1CEC-AC30-B37A-21A3-8FD09E1287ED}"/>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B81B63B9-FAE5-AC38-1268-402B6423AAB4}"/>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urier New" panose="02070309020205020404" pitchFamily="49" charset="0"/>
                <a:cs typeface="Courier New" panose="02070309020205020404" pitchFamily="49" charset="0"/>
              </a:rPr>
              <a:t>2626</a:t>
            </a:r>
          </a:p>
        </p:txBody>
      </p:sp>
      <p:sp>
        <p:nvSpPr>
          <p:cNvPr id="15" name="Rectangle 14">
            <a:extLst>
              <a:ext uri="{FF2B5EF4-FFF2-40B4-BE49-F238E27FC236}">
                <a16:creationId xmlns:a16="http://schemas.microsoft.com/office/drawing/2014/main" id="{21489A92-C44B-D6B8-561A-042C3BC160C1}"/>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0BE4</a:t>
            </a:r>
          </a:p>
        </p:txBody>
      </p:sp>
      <p:sp>
        <p:nvSpPr>
          <p:cNvPr id="16" name="Rectangle 15">
            <a:extLst>
              <a:ext uri="{FF2B5EF4-FFF2-40B4-BE49-F238E27FC236}">
                <a16:creationId xmlns:a16="http://schemas.microsoft.com/office/drawing/2014/main" id="{7C6D0320-C9DF-E176-58B1-7D677C799E2D}"/>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urier New" panose="02070309020205020404" pitchFamily="49" charset="0"/>
                <a:cs typeface="Courier New" panose="02070309020205020404" pitchFamily="49" charset="0"/>
              </a:rPr>
              <a:t>2626</a:t>
            </a:r>
          </a:p>
        </p:txBody>
      </p:sp>
      <p:sp>
        <p:nvSpPr>
          <p:cNvPr id="17" name="TextBox 16">
            <a:extLst>
              <a:ext uri="{FF2B5EF4-FFF2-40B4-BE49-F238E27FC236}">
                <a16:creationId xmlns:a16="http://schemas.microsoft.com/office/drawing/2014/main" id="{00A1E106-39D3-3DD2-5D86-D95750BE295C}"/>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57909E20-5C46-2060-3191-D4FA3F9E0494}"/>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B8EFD184-B7C7-7C31-8189-0A66A0C817DF}"/>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C613EEA1-004B-99C2-CDC3-109F3B7EA95F}"/>
              </a:ext>
            </a:extLst>
          </p:cNvPr>
          <p:cNvSpPr/>
          <p:nvPr/>
        </p:nvSpPr>
        <p:spPr>
          <a:xfrm>
            <a:off x="1384300" y="33152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C3E1</a:t>
            </a:r>
          </a:p>
        </p:txBody>
      </p:sp>
      <p:sp>
        <p:nvSpPr>
          <p:cNvPr id="21" name="TextBox 20">
            <a:extLst>
              <a:ext uri="{FF2B5EF4-FFF2-40B4-BE49-F238E27FC236}">
                <a16:creationId xmlns:a16="http://schemas.microsoft.com/office/drawing/2014/main" id="{9BC48A46-BB71-6B9B-BC51-4AA2550FF90B}"/>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65AC262D-6B73-E370-5641-B35DD5226F84}"/>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0005</a:t>
            </a:r>
          </a:p>
        </p:txBody>
      </p:sp>
      <p:sp>
        <p:nvSpPr>
          <p:cNvPr id="23" name="Rectangle 22">
            <a:extLst>
              <a:ext uri="{FF2B5EF4-FFF2-40B4-BE49-F238E27FC236}">
                <a16:creationId xmlns:a16="http://schemas.microsoft.com/office/drawing/2014/main" id="{F9ABDBAD-5C4C-361C-63DC-6F3E4D16C453}"/>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512F8609-CEBF-A63A-5766-68066A64FFA7}"/>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1468</a:t>
            </a:r>
          </a:p>
        </p:txBody>
      </p:sp>
      <p:sp>
        <p:nvSpPr>
          <p:cNvPr id="25" name="TextBox 24">
            <a:extLst>
              <a:ext uri="{FF2B5EF4-FFF2-40B4-BE49-F238E27FC236}">
                <a16:creationId xmlns:a16="http://schemas.microsoft.com/office/drawing/2014/main" id="{0C0AC65D-A330-78DB-4C21-A710457D7109}"/>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E1A155F8-124F-44F7-7322-861A7D254C3E}"/>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6A1F1755-78B0-7A21-2B2D-46123A990F98}"/>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DE3CFF55-0872-5367-C0BD-2FB520ED42CC}"/>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0C98</a:t>
            </a:r>
          </a:p>
        </p:txBody>
      </p:sp>
      <p:sp>
        <p:nvSpPr>
          <p:cNvPr id="29" name="TextBox 28">
            <a:extLst>
              <a:ext uri="{FF2B5EF4-FFF2-40B4-BE49-F238E27FC236}">
                <a16:creationId xmlns:a16="http://schemas.microsoft.com/office/drawing/2014/main" id="{351841BE-266C-DA15-DEAC-48526BFBEB35}"/>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45326F5D-62E3-FAA7-1031-7CA31310C856}"/>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08519ADB-1B6E-B9F7-8576-1AE881FF8FFD}"/>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xx01</a:t>
            </a:r>
          </a:p>
        </p:txBody>
      </p:sp>
      <p:sp>
        <p:nvSpPr>
          <p:cNvPr id="32" name="Rectangle 31">
            <a:extLst>
              <a:ext uri="{FF2B5EF4-FFF2-40B4-BE49-F238E27FC236}">
                <a16:creationId xmlns:a16="http://schemas.microsoft.com/office/drawing/2014/main" id="{CA6D85CC-AC5C-50AB-C021-F5693EC9CAEA}"/>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a:t>
            </a:r>
            <a:r>
              <a:rPr lang="en-US" dirty="0">
                <a:solidFill>
                  <a:srgbClr val="FF0000"/>
                </a:solidFill>
                <a:latin typeface="Courier New" panose="02070309020205020404" pitchFamily="49" charset="0"/>
                <a:cs typeface="Courier New" panose="02070309020205020404" pitchFamily="49" charset="0"/>
              </a:rPr>
              <a:t>80</a:t>
            </a:r>
          </a:p>
        </p:txBody>
      </p:sp>
      <p:sp>
        <p:nvSpPr>
          <p:cNvPr id="33" name="TextBox 32">
            <a:extLst>
              <a:ext uri="{FF2B5EF4-FFF2-40B4-BE49-F238E27FC236}">
                <a16:creationId xmlns:a16="http://schemas.microsoft.com/office/drawing/2014/main" id="{E2C9D941-0810-A90D-6C93-3B9932F85C1E}"/>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4A59D660-722C-D49C-47BE-457BBB1BC029}"/>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1D0DAB9E-0E4B-1D5F-F3A3-E992C6573FA7}"/>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A53F2258-5868-D62C-2F64-9D1FBAB035F9}"/>
              </a:ext>
            </a:extLst>
          </p:cNvPr>
          <p:cNvSpPr>
            <a:spLocks noGrp="1"/>
          </p:cNvSpPr>
          <p:nvPr>
            <p:ph idx="1"/>
          </p:nvPr>
        </p:nvSpPr>
        <p:spPr>
          <a:xfrm>
            <a:off x="2801814" y="351693"/>
            <a:ext cx="7057294" cy="474757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SET_COL8: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0852	057C	HTL    R5, R7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R5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R7</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0854	55B1	MOVE   (R11)+, R5 </a:t>
            </a:r>
            <a:r>
              <a:rPr lang="pt-BR" sz="1400" dirty="0">
                <a:latin typeface="Courier New" panose="02070309020205020404" pitchFamily="49" charset="0"/>
                <a:cs typeface="Courier New" panose="02070309020205020404" pitchFamily="49" charset="0"/>
                <a:sym typeface="Wingdings" panose="05000000000000000000" pitchFamily="2" charset="2"/>
              </a:rPr>
              <a:t> MEM[R11]=R5, R11=R11+2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DONE_COLUMNS_FIRST_ROW:</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0856	5BC1	MOVE   (R12)+, R11</a:t>
            </a:r>
            <a:r>
              <a:rPr lang="pt-BR" sz="1400" dirty="0">
                <a:latin typeface="Courier New" panose="02070309020205020404" pitchFamily="49" charset="0"/>
                <a:cs typeface="Courier New" panose="02070309020205020404" pitchFamily="49" charset="0"/>
                <a:sym typeface="Wingdings" panose="05000000000000000000" pitchFamily="2" charset="2"/>
              </a:rPr>
              <a:t> MEM[R12]=R11, R12=R12+2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0858	DBC8	MOVE   R11, (R12) </a:t>
            </a:r>
            <a:r>
              <a:rPr lang="pt-BR" sz="1400" dirty="0">
                <a:latin typeface="Courier New" panose="02070309020205020404" pitchFamily="49" charset="0"/>
                <a:cs typeface="Courier New" panose="02070309020205020404" pitchFamily="49" charset="0"/>
                <a:sym typeface="Wingdings" panose="05000000000000000000" pitchFamily="2" charset="2"/>
              </a:rPr>
              <a:t> R11 = MEM[R12]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DO_COL1_R2:   ; R2 == ROW2 (</a:t>
            </a:r>
            <a:r>
              <a:rPr lang="pt-BR" sz="1400" dirty="0" err="1">
                <a:latin typeface="Courier New" panose="02070309020205020404" pitchFamily="49" charset="0"/>
                <a:cs typeface="Courier New" panose="02070309020205020404" pitchFamily="49" charset="0"/>
              </a:rPr>
              <a:t>Lo</a:t>
            </a:r>
            <a:r>
              <a:rPr lang="pt-BR" sz="1400" dirty="0">
                <a:latin typeface="Courier New" panose="02070309020205020404" pitchFamily="49" charset="0"/>
                <a:cs typeface="Courier New" panose="02070309020205020404" pitchFamily="49" charset="0"/>
              </a:rPr>
              <a:t> PORTION OF R8)</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085A	0484	MOVE   R4, R8     </a:t>
            </a:r>
            <a:r>
              <a:rPr lang="pt-BR" sz="1400" dirty="0">
                <a:latin typeface="Courier New" panose="02070309020205020404" pitchFamily="49" charset="0"/>
                <a:cs typeface="Courier New" panose="02070309020205020404" pitchFamily="49" charset="0"/>
                <a:sym typeface="Wingdings" panose="05000000000000000000" pitchFamily="2" charset="2"/>
              </a:rPr>
              <a:t> R4 = R8</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085C	8F80	LBI    R15, #128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R15 = 0x80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085E	C4FD	SNBS   R4, R15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0860	A005	BRA    SET_COL1_R2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0862	8500	LBI    R5, BG_SYMBOL</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0864	055D	LTH    R5,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0866	A001	BRA    DO_COL2_R2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SET_COL1_R2: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0868	057D	LTH    R5, R7</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DO_COL2_R2: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086A	0484	MOVE   R4, R8</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086C	8F40	LBI    R15, #64</a:t>
            </a:r>
          </a:p>
        </p:txBody>
      </p:sp>
      <p:sp>
        <p:nvSpPr>
          <p:cNvPr id="3" name="TextBox 2">
            <a:extLst>
              <a:ext uri="{FF2B5EF4-FFF2-40B4-BE49-F238E27FC236}">
                <a16:creationId xmlns:a16="http://schemas.microsoft.com/office/drawing/2014/main" id="{16821EAE-8715-7386-8EB0-D7F4C85D1FA3}"/>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8" name="Right Brace 37">
            <a:extLst>
              <a:ext uri="{FF2B5EF4-FFF2-40B4-BE49-F238E27FC236}">
                <a16:creationId xmlns:a16="http://schemas.microsoft.com/office/drawing/2014/main" id="{897A7E3B-2C69-8713-BF11-6C52EDA0C51A}"/>
              </a:ext>
            </a:extLst>
          </p:cNvPr>
          <p:cNvSpPr/>
          <p:nvPr/>
        </p:nvSpPr>
        <p:spPr>
          <a:xfrm rot="10800000">
            <a:off x="10066254" y="4525247"/>
            <a:ext cx="154067" cy="304879"/>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ectangle 47">
            <a:extLst>
              <a:ext uri="{FF2B5EF4-FFF2-40B4-BE49-F238E27FC236}">
                <a16:creationId xmlns:a16="http://schemas.microsoft.com/office/drawing/2014/main" id="{608C8A4F-446E-9D2D-9DD4-B53387B0EB3D}"/>
              </a:ext>
            </a:extLst>
          </p:cNvPr>
          <p:cNvSpPr/>
          <p:nvPr/>
        </p:nvSpPr>
        <p:spPr>
          <a:xfrm>
            <a:off x="8195403" y="469853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FF0000"/>
                </a:solidFill>
                <a:latin typeface="Courier New" panose="02070309020205020404" pitchFamily="49" charset="0"/>
                <a:cs typeface="Courier New" panose="02070309020205020404" pitchFamily="49" charset="0"/>
              </a:rPr>
              <a:t>1008</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9" name="TextBox 48">
            <a:extLst>
              <a:ext uri="{FF2B5EF4-FFF2-40B4-BE49-F238E27FC236}">
                <a16:creationId xmlns:a16="http://schemas.microsoft.com/office/drawing/2014/main" id="{5D5A06D8-532D-3594-F207-B7424BBCEF14}"/>
              </a:ext>
            </a:extLst>
          </p:cNvPr>
          <p:cNvSpPr txBox="1"/>
          <p:nvPr/>
        </p:nvSpPr>
        <p:spPr>
          <a:xfrm>
            <a:off x="7475749" y="469853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76" name="TextBox 75">
            <a:extLst>
              <a:ext uri="{FF2B5EF4-FFF2-40B4-BE49-F238E27FC236}">
                <a16:creationId xmlns:a16="http://schemas.microsoft.com/office/drawing/2014/main" id="{312CEBE2-2E4D-757F-FEF3-BE2804926F60}"/>
              </a:ext>
            </a:extLst>
          </p:cNvPr>
          <p:cNvSpPr txBox="1"/>
          <p:nvPr/>
        </p:nvSpPr>
        <p:spPr>
          <a:xfrm>
            <a:off x="6804824" y="4475073"/>
            <a:ext cx="1415772" cy="246221"/>
          </a:xfrm>
          <a:prstGeom prst="rect">
            <a:avLst/>
          </a:prstGeom>
          <a:noFill/>
        </p:spPr>
        <p:txBody>
          <a:bodyPr wrap="none" rtlCol="0">
            <a:spAutoFit/>
          </a:bodyPr>
          <a:lstStyle/>
          <a:p>
            <a:r>
              <a:rPr lang="en-US" sz="1000" dirty="0">
                <a:latin typeface="Courier New" panose="02070309020205020404" pitchFamily="49" charset="0"/>
                <a:cs typeface="Courier New" panose="02070309020205020404" pitchFamily="49" charset="0"/>
              </a:rPr>
              <a:t>WORKING_ADDRESS:</a:t>
            </a:r>
          </a:p>
        </p:txBody>
      </p:sp>
      <p:sp>
        <p:nvSpPr>
          <p:cNvPr id="47" name="TextBox 46">
            <a:extLst>
              <a:ext uri="{FF2B5EF4-FFF2-40B4-BE49-F238E27FC236}">
                <a16:creationId xmlns:a16="http://schemas.microsoft.com/office/drawing/2014/main" id="{B73DCC2F-045F-26FA-6CAC-0359C8C107AD}"/>
              </a:ext>
            </a:extLst>
          </p:cNvPr>
          <p:cNvSpPr txBox="1"/>
          <p:nvPr/>
        </p:nvSpPr>
        <p:spPr>
          <a:xfrm>
            <a:off x="10355841" y="351693"/>
            <a:ext cx="1616703" cy="369332"/>
          </a:xfrm>
          <a:prstGeom prst="rect">
            <a:avLst/>
          </a:prstGeom>
          <a:solidFill>
            <a:srgbClr val="FFC000"/>
          </a:solidFill>
        </p:spPr>
        <p:txBody>
          <a:bodyPr wrap="square" rtlCol="0">
            <a:spAutoFit/>
          </a:bodyPr>
          <a:lstStyle/>
          <a:p>
            <a:pPr algn="ctr"/>
            <a:r>
              <a:rPr lang="en-US" dirty="0"/>
              <a:t>EXAMPLE</a:t>
            </a:r>
          </a:p>
        </p:txBody>
      </p:sp>
      <p:sp>
        <p:nvSpPr>
          <p:cNvPr id="60" name="TextBox 59">
            <a:extLst>
              <a:ext uri="{FF2B5EF4-FFF2-40B4-BE49-F238E27FC236}">
                <a16:creationId xmlns:a16="http://schemas.microsoft.com/office/drawing/2014/main" id="{6825C1AE-ED88-C889-1C2A-7E01AB45EEFB}"/>
              </a:ext>
            </a:extLst>
          </p:cNvPr>
          <p:cNvSpPr txBox="1"/>
          <p:nvPr/>
        </p:nvSpPr>
        <p:spPr>
          <a:xfrm>
            <a:off x="2828118" y="5695340"/>
            <a:ext cx="4285167" cy="923330"/>
          </a:xfrm>
          <a:prstGeom prst="rect">
            <a:avLst/>
          </a:prstGeom>
          <a:solidFill>
            <a:srgbClr val="FFC000"/>
          </a:solidFill>
        </p:spPr>
        <p:txBody>
          <a:bodyPr wrap="square" rtlCol="0">
            <a:spAutoFit/>
          </a:bodyPr>
          <a:lstStyle/>
          <a:p>
            <a:pPr algn="ctr"/>
            <a:r>
              <a:rPr lang="en-US" dirty="0">
                <a:latin typeface="Courier New" panose="02070309020205020404" pitchFamily="49" charset="0"/>
                <a:cs typeface="Courier New" panose="02070309020205020404" pitchFamily="49" charset="0"/>
              </a:rPr>
              <a:t>         COLUMN </a:t>
            </a:r>
            <a:r>
              <a:rPr lang="en-US" b="1" dirty="0">
                <a:latin typeface="Courier New" panose="02070309020205020404" pitchFamily="49" charset="0"/>
                <a:cs typeface="Courier New" panose="02070309020205020404" pitchFamily="49" charset="0"/>
              </a:rPr>
              <a:t>12345678</a:t>
            </a:r>
            <a:br>
              <a:rPr lang="en-US" b="1"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(0x1000)</a:t>
            </a: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ROW 1: </a:t>
            </a:r>
            <a:r>
              <a:rPr lang="en-US" b="1" dirty="0">
                <a:solidFill>
                  <a:srgbClr val="FF0000"/>
                </a:solidFill>
                <a:latin typeface="Courier New" panose="02070309020205020404" pitchFamily="49" charset="0"/>
                <a:cs typeface="Courier New" panose="02070309020205020404" pitchFamily="49" charset="0"/>
              </a:rPr>
              <a:t>++____++</a:t>
            </a:r>
          </a:p>
          <a:p>
            <a:pPr algn="ctr"/>
            <a:r>
              <a:rPr lang="en-US" dirty="0">
                <a:latin typeface="Courier New" panose="02070309020205020404" pitchFamily="49" charset="0"/>
                <a:cs typeface="Courier New" panose="02070309020205020404" pitchFamily="49" charset="0"/>
              </a:rPr>
              <a:t>(0x1468) ROW 2: +++____+</a:t>
            </a:r>
          </a:p>
        </p:txBody>
      </p:sp>
      <p:pic>
        <p:nvPicPr>
          <p:cNvPr id="61" name="Picture 60">
            <a:extLst>
              <a:ext uri="{FF2B5EF4-FFF2-40B4-BE49-F238E27FC236}">
                <a16:creationId xmlns:a16="http://schemas.microsoft.com/office/drawing/2014/main" id="{931C41E9-1CE9-6722-F58A-A266FBED54BC}"/>
              </a:ext>
            </a:extLst>
          </p:cNvPr>
          <p:cNvPicPr>
            <a:picLocks noChangeAspect="1"/>
          </p:cNvPicPr>
          <p:nvPr/>
        </p:nvPicPr>
        <p:blipFill>
          <a:blip r:embed="rId2"/>
          <a:stretch>
            <a:fillRect/>
          </a:stretch>
        </p:blipFill>
        <p:spPr>
          <a:xfrm>
            <a:off x="9467278" y="931491"/>
            <a:ext cx="2495898" cy="876422"/>
          </a:xfrm>
          <a:prstGeom prst="rect">
            <a:avLst/>
          </a:prstGeom>
          <a:ln>
            <a:solidFill>
              <a:schemeClr val="tx1"/>
            </a:solidFill>
          </a:ln>
        </p:spPr>
      </p:pic>
      <p:sp>
        <p:nvSpPr>
          <p:cNvPr id="36" name="Rectangle 35">
            <a:extLst>
              <a:ext uri="{FF2B5EF4-FFF2-40B4-BE49-F238E27FC236}">
                <a16:creationId xmlns:a16="http://schemas.microsoft.com/office/drawing/2014/main" id="{1AEF5955-9D0E-38E6-2152-C185A9E5168D}"/>
              </a:ext>
            </a:extLst>
          </p:cNvPr>
          <p:cNvSpPr/>
          <p:nvPr/>
        </p:nvSpPr>
        <p:spPr>
          <a:xfrm>
            <a:off x="4639012" y="674006"/>
            <a:ext cx="4758987" cy="1929494"/>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286583D8-8A2A-CF14-0F0C-270D4CB8EF86}"/>
              </a:ext>
            </a:extLst>
          </p:cNvPr>
          <p:cNvCxnSpPr>
            <a:stCxn id="20" idx="3"/>
            <a:endCxn id="12" idx="3"/>
          </p:cNvCxnSpPr>
          <p:nvPr/>
        </p:nvCxnSpPr>
        <p:spPr>
          <a:xfrm flipV="1">
            <a:off x="2293620" y="2101850"/>
            <a:ext cx="12700" cy="1384816"/>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12B6FFF-D45D-B8A2-1636-F9E465572DCE}"/>
              </a:ext>
            </a:extLst>
          </p:cNvPr>
          <p:cNvSpPr txBox="1"/>
          <p:nvPr/>
        </p:nvSpPr>
        <p:spPr>
          <a:xfrm>
            <a:off x="7066437" y="2698614"/>
            <a:ext cx="2094457" cy="461665"/>
          </a:xfrm>
          <a:prstGeom prst="rect">
            <a:avLst/>
          </a:prstGeom>
          <a:solidFill>
            <a:srgbClr val="FFC000"/>
          </a:solidFill>
        </p:spPr>
        <p:txBody>
          <a:bodyPr wrap="square" rtlCol="0">
            <a:spAutoFit/>
          </a:bodyPr>
          <a:lstStyle/>
          <a:p>
            <a:r>
              <a:rPr lang="en-US" sz="1200" dirty="0">
                <a:latin typeface="Courier New" panose="02070309020205020404" pitchFamily="49" charset="0"/>
                <a:cs typeface="Courier New" panose="02070309020205020404" pitchFamily="49" charset="0"/>
              </a:rPr>
              <a:t> R4: 1110 0001  (E1)</a:t>
            </a:r>
          </a:p>
          <a:p>
            <a:r>
              <a:rPr lang="en-US" sz="1200" dirty="0">
                <a:latin typeface="Courier New" panose="02070309020205020404" pitchFamily="49" charset="0"/>
                <a:cs typeface="Courier New" panose="02070309020205020404" pitchFamily="49" charset="0"/>
              </a:rPr>
              <a:t>R15: 1000 0000  (80)</a:t>
            </a:r>
          </a:p>
        </p:txBody>
      </p:sp>
      <p:sp>
        <p:nvSpPr>
          <p:cNvPr id="42" name="Rectangle 41">
            <a:extLst>
              <a:ext uri="{FF2B5EF4-FFF2-40B4-BE49-F238E27FC236}">
                <a16:creationId xmlns:a16="http://schemas.microsoft.com/office/drawing/2014/main" id="{C3C95D02-E235-FD00-E7DC-B1EC5F68EC35}"/>
              </a:ext>
            </a:extLst>
          </p:cNvPr>
          <p:cNvSpPr/>
          <p:nvPr/>
        </p:nvSpPr>
        <p:spPr>
          <a:xfrm>
            <a:off x="7610362" y="2738939"/>
            <a:ext cx="96627" cy="361951"/>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80366EBF-A2C3-1C04-A1D8-66E8121DC030}"/>
              </a:ext>
            </a:extLst>
          </p:cNvPr>
          <p:cNvCxnSpPr>
            <a:cxnSpLocks/>
          </p:cNvCxnSpPr>
          <p:nvPr/>
        </p:nvCxnSpPr>
        <p:spPr>
          <a:xfrm>
            <a:off x="2215662" y="4794738"/>
            <a:ext cx="5366238" cy="2090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FC57731-5E29-560B-714B-250C8AA6D995}"/>
              </a:ext>
            </a:extLst>
          </p:cNvPr>
          <p:cNvSpPr/>
          <p:nvPr/>
        </p:nvSpPr>
        <p:spPr>
          <a:xfrm>
            <a:off x="9241535" y="1930399"/>
            <a:ext cx="2731009" cy="427804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BIG_LETTERS:	</a:t>
            </a:r>
          </a:p>
          <a:p>
            <a:r>
              <a:rPr lang="en-US" sz="1000" dirty="0">
                <a:solidFill>
                  <a:schemeClr val="tx1"/>
                </a:solidFill>
                <a:latin typeface="Courier New" panose="02070309020205020404" pitchFamily="49" charset="0"/>
                <a:cs typeface="Courier New" panose="02070309020205020404" pitchFamily="49" charset="0"/>
              </a:rPr>
              <a:t>  0A24	01  A	0</a:t>
            </a:r>
          </a:p>
          <a:p>
            <a:r>
              <a:rPr lang="en-US" sz="1000" dirty="0">
                <a:solidFill>
                  <a:schemeClr val="tx1"/>
                </a:solidFill>
                <a:latin typeface="Courier New" panose="02070309020205020404" pitchFamily="49" charset="0"/>
                <a:cs typeface="Courier New" panose="02070309020205020404" pitchFamily="49" charset="0"/>
              </a:rPr>
              <a:t>  0A25	00  (reserved)</a:t>
            </a:r>
          </a:p>
          <a:p>
            <a:r>
              <a:rPr lang="en-US" sz="1000" dirty="0">
                <a:solidFill>
                  <a:schemeClr val="tx1"/>
                </a:solidFill>
                <a:latin typeface="Courier New" panose="02070309020205020404" pitchFamily="49" charset="0"/>
                <a:cs typeface="Courier New" panose="02070309020205020404" pitchFamily="49" charset="0"/>
              </a:rPr>
              <a:t>  0A26	0C  00001100</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  0A27	1E  00011110</a:t>
            </a:r>
          </a:p>
          <a:p>
            <a:r>
              <a:rPr lang="en-US" sz="1000" dirty="0">
                <a:solidFill>
                  <a:schemeClr val="tx1"/>
                </a:solidFill>
                <a:latin typeface="Courier New" panose="02070309020205020404" pitchFamily="49" charset="0"/>
                <a:cs typeface="Courier New" panose="02070309020205020404" pitchFamily="49" charset="0"/>
              </a:rPr>
              <a:t>  0A28	33  00110011</a:t>
            </a:r>
          </a:p>
          <a:p>
            <a:r>
              <a:rPr lang="en-US" sz="1000" dirty="0">
                <a:solidFill>
                  <a:schemeClr val="tx1"/>
                </a:solidFill>
                <a:latin typeface="Courier New" panose="02070309020205020404" pitchFamily="49" charset="0"/>
                <a:cs typeface="Courier New" panose="02070309020205020404" pitchFamily="49" charset="0"/>
              </a:rPr>
              <a:t>  0A29	33  00110011</a:t>
            </a:r>
          </a:p>
          <a:p>
            <a:r>
              <a:rPr lang="en-US" sz="1000" dirty="0">
                <a:solidFill>
                  <a:schemeClr val="tx1"/>
                </a:solidFill>
                <a:latin typeface="Courier New" panose="02070309020205020404" pitchFamily="49" charset="0"/>
                <a:cs typeface="Courier New" panose="02070309020205020404" pitchFamily="49" charset="0"/>
              </a:rPr>
              <a:t>  0A2A	3F  00111111</a:t>
            </a:r>
          </a:p>
          <a:p>
            <a:r>
              <a:rPr lang="en-US" sz="1000" dirty="0">
                <a:solidFill>
                  <a:schemeClr val="tx1"/>
                </a:solidFill>
                <a:latin typeface="Courier New" panose="02070309020205020404" pitchFamily="49" charset="0"/>
                <a:cs typeface="Courier New" panose="02070309020205020404" pitchFamily="49" charset="0"/>
              </a:rPr>
              <a:t>  0A2B	3F  00111111</a:t>
            </a:r>
          </a:p>
          <a:p>
            <a:r>
              <a:rPr lang="en-US" sz="1000" dirty="0">
                <a:solidFill>
                  <a:schemeClr val="tx1"/>
                </a:solidFill>
                <a:latin typeface="Courier New" panose="02070309020205020404" pitchFamily="49" charset="0"/>
                <a:cs typeface="Courier New" panose="02070309020205020404" pitchFamily="49" charset="0"/>
              </a:rPr>
              <a:t>  0A2C	33  00110011</a:t>
            </a:r>
          </a:p>
          <a:p>
            <a:r>
              <a:rPr lang="en-US" sz="1000" dirty="0">
                <a:solidFill>
                  <a:schemeClr val="tx1"/>
                </a:solidFill>
                <a:latin typeface="Courier New" panose="02070309020205020404" pitchFamily="49" charset="0"/>
                <a:cs typeface="Courier New" panose="02070309020205020404" pitchFamily="49" charset="0"/>
              </a:rPr>
              <a:t>  0A2D	33  00110011</a:t>
            </a:r>
          </a:p>
          <a:p>
            <a:r>
              <a:rPr lang="en-US" sz="1000" dirty="0">
                <a:solidFill>
                  <a:schemeClr val="tx1"/>
                </a:solidFill>
                <a:latin typeface="Courier New" panose="02070309020205020404" pitchFamily="49" charset="0"/>
                <a:cs typeface="Courier New" panose="02070309020205020404" pitchFamily="49" charset="0"/>
              </a:rPr>
              <a:t>  0A2E	33  00110011</a:t>
            </a:r>
          </a:p>
          <a:p>
            <a:r>
              <a:rPr lang="en-US" sz="1000" dirty="0">
                <a:solidFill>
                  <a:schemeClr val="tx1"/>
                </a:solidFill>
                <a:latin typeface="Courier New" panose="02070309020205020404" pitchFamily="49" charset="0"/>
                <a:cs typeface="Courier New" panose="02070309020205020404" pitchFamily="49" charset="0"/>
              </a:rPr>
              <a:t>  0A2F	33  00110011</a:t>
            </a:r>
          </a:p>
          <a:p>
            <a:r>
              <a:rPr lang="en-US" sz="1000" dirty="0">
                <a:solidFill>
                  <a:schemeClr val="tx1"/>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0BE0	</a:t>
            </a:r>
            <a:r>
              <a:rPr lang="en-US" sz="1000" b="1" dirty="0">
                <a:solidFill>
                  <a:srgbClr val="FF0000"/>
                </a:solidFill>
                <a:latin typeface="Courier New" panose="02070309020205020404" pitchFamily="49" charset="0"/>
                <a:cs typeface="Courier New" panose="02070309020205020404" pitchFamily="49" charset="0"/>
              </a:rPr>
              <a:t>26</a:t>
            </a:r>
            <a:r>
              <a:rPr lang="en-US" sz="1000" dirty="0">
                <a:solidFill>
                  <a:schemeClr val="tx1"/>
                </a:solidFill>
                <a:latin typeface="Courier New" panose="02070309020205020404" pitchFamily="49" charset="0"/>
                <a:cs typeface="Courier New" panose="02070309020205020404" pitchFamily="49" charset="0"/>
              </a:rPr>
              <a:t>  </a:t>
            </a:r>
            <a:r>
              <a:rPr lang="en-US" sz="1000" strike="sngStrike" dirty="0">
                <a:solidFill>
                  <a:schemeClr val="tx1"/>
                </a:solidFill>
                <a:latin typeface="Courier New" panose="02070309020205020404" pitchFamily="49" charset="0"/>
                <a:cs typeface="Courier New" panose="02070309020205020404" pitchFamily="49" charset="0"/>
              </a:rPr>
              <a:t>" "(blank)</a:t>
            </a:r>
            <a:r>
              <a:rPr lang="en-US" sz="1000" dirty="0">
                <a:solidFill>
                  <a:schemeClr val="tx1"/>
                </a:solidFill>
                <a:latin typeface="Courier New" panose="02070309020205020404" pitchFamily="49" charset="0"/>
                <a:cs typeface="Courier New" panose="02070309020205020404" pitchFamily="49" charset="0"/>
              </a:rPr>
              <a:t> 444</a:t>
            </a:r>
          </a:p>
          <a:p>
            <a:r>
              <a:rPr lang="en-US" sz="1000" dirty="0">
                <a:solidFill>
                  <a:schemeClr val="tx1"/>
                </a:solidFill>
                <a:latin typeface="Courier New" panose="02070309020205020404" pitchFamily="49" charset="0"/>
                <a:cs typeface="Courier New" panose="02070309020205020404" pitchFamily="49" charset="0"/>
              </a:rPr>
              <a:t>  0BE1	00  (reserved)</a:t>
            </a:r>
          </a:p>
          <a:p>
            <a:r>
              <a:rPr lang="en-US" sz="1000" dirty="0">
                <a:solidFill>
                  <a:schemeClr val="tx1"/>
                </a:solidFill>
                <a:latin typeface="Courier New" panose="02070309020205020404" pitchFamily="49" charset="0"/>
                <a:cs typeface="Courier New" panose="02070309020205020404" pitchFamily="49" charset="0"/>
              </a:rPr>
              <a:t>  0BE2	</a:t>
            </a:r>
            <a:r>
              <a:rPr lang="en-US" sz="1000" dirty="0">
                <a:solidFill>
                  <a:srgbClr val="FF0000"/>
                </a:solidFill>
                <a:latin typeface="Courier New" panose="02070309020205020404" pitchFamily="49" charset="0"/>
                <a:cs typeface="Courier New" panose="02070309020205020404" pitchFamily="49" charset="0"/>
              </a:rPr>
              <a:t>C3</a:t>
            </a:r>
            <a:r>
              <a:rPr lang="en-US" sz="1000" dirty="0">
                <a:solidFill>
                  <a:schemeClr val="tx1"/>
                </a:solidFill>
                <a:latin typeface="Courier New" panose="02070309020205020404" pitchFamily="49" charset="0"/>
                <a:cs typeface="Courier New" panose="02070309020205020404" pitchFamily="49" charset="0"/>
              </a:rPr>
              <a:t>  </a:t>
            </a:r>
            <a:r>
              <a:rPr lang="en-US" sz="1000" dirty="0">
                <a:solidFill>
                  <a:srgbClr val="FF0000"/>
                </a:solidFill>
                <a:latin typeface="Courier New" panose="02070309020205020404" pitchFamily="49" charset="0"/>
                <a:cs typeface="Courier New" panose="02070309020205020404" pitchFamily="49" charset="0"/>
              </a:rPr>
              <a:t>11000011</a:t>
            </a:r>
          </a:p>
          <a:p>
            <a:r>
              <a:rPr lang="en-US" sz="1000" dirty="0">
                <a:solidFill>
                  <a:schemeClr val="tx1"/>
                </a:solidFill>
                <a:latin typeface="Courier New" panose="02070309020205020404" pitchFamily="49" charset="0"/>
                <a:cs typeface="Courier New" panose="02070309020205020404" pitchFamily="49" charset="0"/>
              </a:rPr>
              <a:t>  0BE3	</a:t>
            </a:r>
            <a:r>
              <a:rPr lang="en-US" sz="1000" dirty="0">
                <a:solidFill>
                  <a:srgbClr val="FF0000"/>
                </a:solidFill>
                <a:latin typeface="Courier New" panose="02070309020205020404" pitchFamily="49" charset="0"/>
                <a:cs typeface="Courier New" panose="02070309020205020404" pitchFamily="49" charset="0"/>
              </a:rPr>
              <a:t>E1</a:t>
            </a:r>
            <a:r>
              <a:rPr lang="en-US" sz="1000" dirty="0">
                <a:solidFill>
                  <a:schemeClr val="tx1"/>
                </a:solidFill>
                <a:latin typeface="Courier New" panose="02070309020205020404" pitchFamily="49" charset="0"/>
                <a:cs typeface="Courier New" panose="02070309020205020404" pitchFamily="49" charset="0"/>
              </a:rPr>
              <a:t>  </a:t>
            </a:r>
            <a:r>
              <a:rPr lang="en-US" sz="1000" dirty="0">
                <a:solidFill>
                  <a:srgbClr val="FF0000"/>
                </a:solidFill>
                <a:latin typeface="Courier New" panose="02070309020205020404" pitchFamily="49" charset="0"/>
                <a:cs typeface="Courier New" panose="02070309020205020404" pitchFamily="49" charset="0"/>
              </a:rPr>
              <a:t>11100001</a:t>
            </a:r>
          </a:p>
          <a:p>
            <a:r>
              <a:rPr lang="en-US" sz="1000" dirty="0">
                <a:solidFill>
                  <a:schemeClr val="tx1"/>
                </a:solidFill>
                <a:latin typeface="Courier New" panose="02070309020205020404" pitchFamily="49" charset="0"/>
                <a:cs typeface="Courier New" panose="02070309020205020404" pitchFamily="49" charset="0"/>
              </a:rPr>
              <a:t>  0BE4	00  00000000</a:t>
            </a:r>
          </a:p>
          <a:p>
            <a:r>
              <a:rPr lang="en-US" sz="1000" dirty="0">
                <a:solidFill>
                  <a:schemeClr val="tx1"/>
                </a:solidFill>
                <a:latin typeface="Courier New" panose="02070309020205020404" pitchFamily="49" charset="0"/>
                <a:cs typeface="Courier New" panose="02070309020205020404" pitchFamily="49" charset="0"/>
              </a:rPr>
              <a:t>  0BE5	00  00000000</a:t>
            </a:r>
          </a:p>
          <a:p>
            <a:r>
              <a:rPr lang="en-US" sz="1000" dirty="0">
                <a:solidFill>
                  <a:schemeClr val="tx1"/>
                </a:solidFill>
                <a:latin typeface="Courier New" panose="02070309020205020404" pitchFamily="49" charset="0"/>
                <a:cs typeface="Courier New" panose="02070309020205020404" pitchFamily="49" charset="0"/>
              </a:rPr>
              <a:t>  0BE6	00  00000000</a:t>
            </a:r>
          </a:p>
          <a:p>
            <a:r>
              <a:rPr lang="en-US" sz="1000" dirty="0">
                <a:solidFill>
                  <a:schemeClr val="tx1"/>
                </a:solidFill>
                <a:latin typeface="Courier New" panose="02070309020205020404" pitchFamily="49" charset="0"/>
                <a:cs typeface="Courier New" panose="02070309020205020404" pitchFamily="49" charset="0"/>
              </a:rPr>
              <a:t>  0BE7	00  00000000</a:t>
            </a:r>
          </a:p>
          <a:p>
            <a:r>
              <a:rPr lang="en-US" sz="1000" dirty="0">
                <a:solidFill>
                  <a:schemeClr val="tx1"/>
                </a:solidFill>
                <a:latin typeface="Courier New" panose="02070309020205020404" pitchFamily="49" charset="0"/>
                <a:cs typeface="Courier New" panose="02070309020205020404" pitchFamily="49" charset="0"/>
              </a:rPr>
              <a:t>  0BE8	00  00000000</a:t>
            </a:r>
          </a:p>
          <a:p>
            <a:r>
              <a:rPr lang="en-US" sz="1000" dirty="0">
                <a:solidFill>
                  <a:schemeClr val="tx1"/>
                </a:solidFill>
                <a:latin typeface="Courier New" panose="02070309020205020404" pitchFamily="49" charset="0"/>
                <a:cs typeface="Courier New" panose="02070309020205020404" pitchFamily="49" charset="0"/>
              </a:rPr>
              <a:t>  0BE9	00  00000000</a:t>
            </a:r>
          </a:p>
          <a:p>
            <a:r>
              <a:rPr lang="en-US" sz="1000" dirty="0">
                <a:solidFill>
                  <a:schemeClr val="tx1"/>
                </a:solidFill>
                <a:latin typeface="Courier New" panose="02070309020205020404" pitchFamily="49" charset="0"/>
                <a:cs typeface="Courier New" panose="02070309020205020404" pitchFamily="49" charset="0"/>
              </a:rPr>
              <a:t>  0BEA	00  00000000</a:t>
            </a:r>
          </a:p>
          <a:p>
            <a:r>
              <a:rPr lang="en-US" sz="1000" dirty="0">
                <a:solidFill>
                  <a:schemeClr val="tx1"/>
                </a:solidFill>
                <a:latin typeface="Courier New" panose="02070309020205020404" pitchFamily="49" charset="0"/>
                <a:cs typeface="Courier New" panose="02070309020205020404" pitchFamily="49" charset="0"/>
              </a:rPr>
              <a:t>  0BEB	00  00000000</a:t>
            </a:r>
          </a:p>
        </p:txBody>
      </p:sp>
      <p:sp>
        <p:nvSpPr>
          <p:cNvPr id="90" name="Right Brace 89">
            <a:extLst>
              <a:ext uri="{FF2B5EF4-FFF2-40B4-BE49-F238E27FC236}">
                <a16:creationId xmlns:a16="http://schemas.microsoft.com/office/drawing/2014/main" id="{32CB5A4D-FD53-5C83-EC23-5F3D5D3B1CF8}"/>
              </a:ext>
            </a:extLst>
          </p:cNvPr>
          <p:cNvSpPr/>
          <p:nvPr/>
        </p:nvSpPr>
        <p:spPr>
          <a:xfrm>
            <a:off x="11224494" y="4553387"/>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1" name="Right Brace 90">
            <a:extLst>
              <a:ext uri="{FF2B5EF4-FFF2-40B4-BE49-F238E27FC236}">
                <a16:creationId xmlns:a16="http://schemas.microsoft.com/office/drawing/2014/main" id="{5B4A500A-AFCA-16A6-0827-9C1B89C99408}"/>
              </a:ext>
            </a:extLst>
          </p:cNvPr>
          <p:cNvSpPr/>
          <p:nvPr/>
        </p:nvSpPr>
        <p:spPr>
          <a:xfrm>
            <a:off x="11224494" y="4859163"/>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Right Brace 91">
            <a:extLst>
              <a:ext uri="{FF2B5EF4-FFF2-40B4-BE49-F238E27FC236}">
                <a16:creationId xmlns:a16="http://schemas.microsoft.com/office/drawing/2014/main" id="{F5DCAD75-20BC-9A38-404B-E1277A5E336D}"/>
              </a:ext>
            </a:extLst>
          </p:cNvPr>
          <p:cNvSpPr/>
          <p:nvPr/>
        </p:nvSpPr>
        <p:spPr>
          <a:xfrm>
            <a:off x="11246719" y="5165476"/>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Right Brace 92">
            <a:extLst>
              <a:ext uri="{FF2B5EF4-FFF2-40B4-BE49-F238E27FC236}">
                <a16:creationId xmlns:a16="http://schemas.microsoft.com/office/drawing/2014/main" id="{56E7989D-9C1C-5462-F566-935D855B917D}"/>
              </a:ext>
            </a:extLst>
          </p:cNvPr>
          <p:cNvSpPr/>
          <p:nvPr/>
        </p:nvSpPr>
        <p:spPr>
          <a:xfrm>
            <a:off x="11246719" y="54741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4" name="Right Brace 93">
            <a:extLst>
              <a:ext uri="{FF2B5EF4-FFF2-40B4-BE49-F238E27FC236}">
                <a16:creationId xmlns:a16="http://schemas.microsoft.com/office/drawing/2014/main" id="{0ACFDEE8-033A-28DC-05EE-56A9F87D1C35}"/>
              </a:ext>
            </a:extLst>
          </p:cNvPr>
          <p:cNvSpPr/>
          <p:nvPr/>
        </p:nvSpPr>
        <p:spPr>
          <a:xfrm>
            <a:off x="11246719" y="57775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5" name="TextBox 94">
            <a:extLst>
              <a:ext uri="{FF2B5EF4-FFF2-40B4-BE49-F238E27FC236}">
                <a16:creationId xmlns:a16="http://schemas.microsoft.com/office/drawing/2014/main" id="{342D1155-5AF5-B2A3-8398-746235E91C5F}"/>
              </a:ext>
            </a:extLst>
          </p:cNvPr>
          <p:cNvSpPr txBox="1"/>
          <p:nvPr/>
        </p:nvSpPr>
        <p:spPr>
          <a:xfrm>
            <a:off x="11293196" y="4484967"/>
            <a:ext cx="417102" cy="369332"/>
          </a:xfrm>
          <a:prstGeom prst="rect">
            <a:avLst/>
          </a:prstGeom>
          <a:noFill/>
        </p:spPr>
        <p:txBody>
          <a:bodyPr wrap="none" rtlCol="0">
            <a:spAutoFit/>
          </a:bodyPr>
          <a:lstStyle/>
          <a:p>
            <a:r>
              <a:rPr lang="en-US" dirty="0"/>
              <a:t>#1</a:t>
            </a:r>
          </a:p>
        </p:txBody>
      </p:sp>
      <p:sp>
        <p:nvSpPr>
          <p:cNvPr id="96" name="TextBox 95">
            <a:extLst>
              <a:ext uri="{FF2B5EF4-FFF2-40B4-BE49-F238E27FC236}">
                <a16:creationId xmlns:a16="http://schemas.microsoft.com/office/drawing/2014/main" id="{566AD6B2-317E-57A9-B36F-8847A5700A2D}"/>
              </a:ext>
            </a:extLst>
          </p:cNvPr>
          <p:cNvSpPr txBox="1"/>
          <p:nvPr/>
        </p:nvSpPr>
        <p:spPr>
          <a:xfrm>
            <a:off x="11293196" y="4792119"/>
            <a:ext cx="417102" cy="369332"/>
          </a:xfrm>
          <a:prstGeom prst="rect">
            <a:avLst/>
          </a:prstGeom>
          <a:noFill/>
        </p:spPr>
        <p:txBody>
          <a:bodyPr wrap="none" rtlCol="0">
            <a:spAutoFit/>
          </a:bodyPr>
          <a:lstStyle/>
          <a:p>
            <a:r>
              <a:rPr lang="en-US" dirty="0"/>
              <a:t>#2</a:t>
            </a:r>
          </a:p>
        </p:txBody>
      </p:sp>
      <p:sp>
        <p:nvSpPr>
          <p:cNvPr id="97" name="TextBox 96">
            <a:extLst>
              <a:ext uri="{FF2B5EF4-FFF2-40B4-BE49-F238E27FC236}">
                <a16:creationId xmlns:a16="http://schemas.microsoft.com/office/drawing/2014/main" id="{26BA5C8A-E524-70E5-0062-7A8262D4EB2F}"/>
              </a:ext>
            </a:extLst>
          </p:cNvPr>
          <p:cNvSpPr txBox="1"/>
          <p:nvPr/>
        </p:nvSpPr>
        <p:spPr>
          <a:xfrm>
            <a:off x="11293196" y="5099271"/>
            <a:ext cx="417102" cy="369332"/>
          </a:xfrm>
          <a:prstGeom prst="rect">
            <a:avLst/>
          </a:prstGeom>
          <a:noFill/>
        </p:spPr>
        <p:txBody>
          <a:bodyPr wrap="none" rtlCol="0">
            <a:spAutoFit/>
          </a:bodyPr>
          <a:lstStyle/>
          <a:p>
            <a:r>
              <a:rPr lang="en-US" dirty="0"/>
              <a:t>#3</a:t>
            </a:r>
          </a:p>
        </p:txBody>
      </p:sp>
      <p:sp>
        <p:nvSpPr>
          <p:cNvPr id="98" name="TextBox 97">
            <a:extLst>
              <a:ext uri="{FF2B5EF4-FFF2-40B4-BE49-F238E27FC236}">
                <a16:creationId xmlns:a16="http://schemas.microsoft.com/office/drawing/2014/main" id="{17995F89-7302-5F51-5AE5-1EAE89375824}"/>
              </a:ext>
            </a:extLst>
          </p:cNvPr>
          <p:cNvSpPr txBox="1"/>
          <p:nvPr/>
        </p:nvSpPr>
        <p:spPr>
          <a:xfrm>
            <a:off x="11293196" y="5406423"/>
            <a:ext cx="417102" cy="369332"/>
          </a:xfrm>
          <a:prstGeom prst="rect">
            <a:avLst/>
          </a:prstGeom>
          <a:noFill/>
        </p:spPr>
        <p:txBody>
          <a:bodyPr wrap="none" rtlCol="0">
            <a:spAutoFit/>
          </a:bodyPr>
          <a:lstStyle/>
          <a:p>
            <a:r>
              <a:rPr lang="en-US" dirty="0"/>
              <a:t>#4</a:t>
            </a:r>
          </a:p>
        </p:txBody>
      </p:sp>
      <p:sp>
        <p:nvSpPr>
          <p:cNvPr id="99" name="TextBox 98">
            <a:extLst>
              <a:ext uri="{FF2B5EF4-FFF2-40B4-BE49-F238E27FC236}">
                <a16:creationId xmlns:a16="http://schemas.microsoft.com/office/drawing/2014/main" id="{133E5F33-56DB-D7CF-C6B1-C5ECBF01D82A}"/>
              </a:ext>
            </a:extLst>
          </p:cNvPr>
          <p:cNvSpPr txBox="1"/>
          <p:nvPr/>
        </p:nvSpPr>
        <p:spPr>
          <a:xfrm>
            <a:off x="11293196" y="5713574"/>
            <a:ext cx="417102"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3820568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C4E0-CF65-88D5-024E-B6F8CC57942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DED71DB-13A5-3163-EFFB-400A208303AC}"/>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08EA</a:t>
            </a:r>
          </a:p>
        </p:txBody>
      </p:sp>
      <p:sp>
        <p:nvSpPr>
          <p:cNvPr id="5" name="TextBox 4">
            <a:extLst>
              <a:ext uri="{FF2B5EF4-FFF2-40B4-BE49-F238E27FC236}">
                <a16:creationId xmlns:a16="http://schemas.microsoft.com/office/drawing/2014/main" id="{9979B0F8-E9B3-59B8-36DF-2F289EF741CD}"/>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685250FC-43D3-75D0-C805-27D985F5952E}"/>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08B6</a:t>
            </a:r>
          </a:p>
        </p:txBody>
      </p:sp>
      <p:sp>
        <p:nvSpPr>
          <p:cNvPr id="7" name="Rectangle 6">
            <a:extLst>
              <a:ext uri="{FF2B5EF4-FFF2-40B4-BE49-F238E27FC236}">
                <a16:creationId xmlns:a16="http://schemas.microsoft.com/office/drawing/2014/main" id="{C273971D-CEE4-AB10-6970-6D47C2A3D18A}"/>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08F6</a:t>
            </a:r>
          </a:p>
        </p:txBody>
      </p:sp>
      <p:sp>
        <p:nvSpPr>
          <p:cNvPr id="8" name="Rectangle 7">
            <a:extLst>
              <a:ext uri="{FF2B5EF4-FFF2-40B4-BE49-F238E27FC236}">
                <a16:creationId xmlns:a16="http://schemas.microsoft.com/office/drawing/2014/main" id="{A3DA7FCF-5C37-E8F1-DE53-06AD84D806FA}"/>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0E14</a:t>
            </a:r>
          </a:p>
        </p:txBody>
      </p:sp>
      <p:sp>
        <p:nvSpPr>
          <p:cNvPr id="9" name="TextBox 8">
            <a:extLst>
              <a:ext uri="{FF2B5EF4-FFF2-40B4-BE49-F238E27FC236}">
                <a16:creationId xmlns:a16="http://schemas.microsoft.com/office/drawing/2014/main" id="{20AE951B-DED2-3D02-962C-0CA529451232}"/>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02663E41-6963-EE98-5679-5FE5603B37C6}"/>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5DD7D43D-9410-FA89-7064-7B0E3E324D03}"/>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0D4EE8E5-28CF-3B7B-3F59-BE4E380DE0DB}"/>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0C0C</a:t>
            </a:r>
            <a:endParaRPr lang="en-US" b="1" dirty="0">
              <a:solidFill>
                <a:srgbClr val="FF0000"/>
              </a:solidFill>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25FDFB54-F04D-7F17-A4FB-0FE9A5594AA9}"/>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5460DA61-9F36-C38D-F71C-DFF34A70458C}"/>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urier New" panose="02070309020205020404" pitchFamily="49" charset="0"/>
                <a:cs typeface="Courier New" panose="02070309020205020404" pitchFamily="49" charset="0"/>
              </a:rPr>
              <a:t>0000</a:t>
            </a:r>
          </a:p>
        </p:txBody>
      </p:sp>
      <p:sp>
        <p:nvSpPr>
          <p:cNvPr id="15" name="Rectangle 14">
            <a:extLst>
              <a:ext uri="{FF2B5EF4-FFF2-40B4-BE49-F238E27FC236}">
                <a16:creationId xmlns:a16="http://schemas.microsoft.com/office/drawing/2014/main" id="{0D02881B-632B-7A2A-C4FE-500629675E4A}"/>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0B2C</a:t>
            </a:r>
          </a:p>
        </p:txBody>
      </p:sp>
      <p:sp>
        <p:nvSpPr>
          <p:cNvPr id="16" name="Rectangle 15">
            <a:extLst>
              <a:ext uri="{FF2B5EF4-FFF2-40B4-BE49-F238E27FC236}">
                <a16:creationId xmlns:a16="http://schemas.microsoft.com/office/drawing/2014/main" id="{2178A4E1-F7F9-CE62-532F-41AE3C6392F6}"/>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urier New" panose="02070309020205020404" pitchFamily="49" charset="0"/>
                <a:cs typeface="Courier New" panose="02070309020205020404" pitchFamily="49" charset="0"/>
              </a:rPr>
              <a:t>1616</a:t>
            </a:r>
          </a:p>
        </p:txBody>
      </p:sp>
      <p:sp>
        <p:nvSpPr>
          <p:cNvPr id="17" name="TextBox 16">
            <a:extLst>
              <a:ext uri="{FF2B5EF4-FFF2-40B4-BE49-F238E27FC236}">
                <a16:creationId xmlns:a16="http://schemas.microsoft.com/office/drawing/2014/main" id="{9083E5DB-3292-F30B-BC78-9ABC7B9C5F22}"/>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B6576C45-4409-A5FB-DDFE-A78214356E18}"/>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1D732F2E-E12E-F06E-A8FD-034AF47F1769}"/>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8D192877-3D83-E64F-71D8-A6C790E87491}"/>
              </a:ext>
            </a:extLst>
          </p:cNvPr>
          <p:cNvSpPr/>
          <p:nvPr/>
        </p:nvSpPr>
        <p:spPr>
          <a:xfrm>
            <a:off x="1384300" y="33152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0C0C</a:t>
            </a:r>
          </a:p>
        </p:txBody>
      </p:sp>
      <p:sp>
        <p:nvSpPr>
          <p:cNvPr id="21" name="TextBox 20">
            <a:extLst>
              <a:ext uri="{FF2B5EF4-FFF2-40B4-BE49-F238E27FC236}">
                <a16:creationId xmlns:a16="http://schemas.microsoft.com/office/drawing/2014/main" id="{8B92D3F5-F200-6DC2-7766-99409023CFCF}"/>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05E03B93-6AEB-45DF-9A19-D3EBBBAD8AFD}"/>
              </a:ext>
            </a:extLst>
          </p:cNvPr>
          <p:cNvSpPr/>
          <p:nvPr/>
        </p:nvSpPr>
        <p:spPr>
          <a:xfrm>
            <a:off x="1384300" y="3658116"/>
            <a:ext cx="909320" cy="34290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3" name="Rectangle 22">
            <a:extLst>
              <a:ext uri="{FF2B5EF4-FFF2-40B4-BE49-F238E27FC236}">
                <a16:creationId xmlns:a16="http://schemas.microsoft.com/office/drawing/2014/main" id="{1723BF1D-79C1-4128-EA42-E45C3E44AEC8}"/>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AA88DE75-8349-CC93-D79A-DA3C4D5FDE3C}"/>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ourier New" panose="02070309020205020404" pitchFamily="49" charset="0"/>
                <a:cs typeface="Courier New" panose="02070309020205020404" pitchFamily="49" charset="0"/>
              </a:rPr>
              <a:t>37F0</a:t>
            </a:r>
          </a:p>
        </p:txBody>
      </p:sp>
      <p:sp>
        <p:nvSpPr>
          <p:cNvPr id="25" name="TextBox 24">
            <a:extLst>
              <a:ext uri="{FF2B5EF4-FFF2-40B4-BE49-F238E27FC236}">
                <a16:creationId xmlns:a16="http://schemas.microsoft.com/office/drawing/2014/main" id="{18B69148-FB17-A2A6-7640-1FBC577014AC}"/>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EA2A91B1-8BF9-8BF9-7B12-3BB25D771D4C}"/>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CF0D8E3B-5492-49D1-2ED6-C17C20E3C2DD}"/>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6F6DD385-28C8-9571-E260-5B024D6B18EE}"/>
              </a:ext>
            </a:extLst>
          </p:cNvPr>
          <p:cNvSpPr/>
          <p:nvPr/>
        </p:nvSpPr>
        <p:spPr>
          <a:xfrm>
            <a:off x="1384300" y="46868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14271502-BD16-C973-C1F9-FD8046AAB42E}"/>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E6C0ED77-BA06-4D0C-BB2D-EC231F3E3B4E}"/>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6E14CE49-6E18-93C0-2931-8AE6EB1ACB18}"/>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xx01</a:t>
            </a:r>
          </a:p>
        </p:txBody>
      </p:sp>
      <p:sp>
        <p:nvSpPr>
          <p:cNvPr id="32" name="Rectangle 31">
            <a:extLst>
              <a:ext uri="{FF2B5EF4-FFF2-40B4-BE49-F238E27FC236}">
                <a16:creationId xmlns:a16="http://schemas.microsoft.com/office/drawing/2014/main" id="{79FEF2EA-6FD8-CE40-0E9A-50D76F156214}"/>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a:t>
            </a:r>
            <a:r>
              <a:rPr lang="en-US" dirty="0">
                <a:solidFill>
                  <a:srgbClr val="FF0000"/>
                </a:solidFill>
                <a:latin typeface="Courier New" panose="02070309020205020404" pitchFamily="49" charset="0"/>
                <a:cs typeface="Courier New" panose="02070309020205020404" pitchFamily="49" charset="0"/>
              </a:rPr>
              <a:t>01</a:t>
            </a:r>
          </a:p>
        </p:txBody>
      </p:sp>
      <p:sp>
        <p:nvSpPr>
          <p:cNvPr id="33" name="TextBox 32">
            <a:extLst>
              <a:ext uri="{FF2B5EF4-FFF2-40B4-BE49-F238E27FC236}">
                <a16:creationId xmlns:a16="http://schemas.microsoft.com/office/drawing/2014/main" id="{92190822-D7AD-C440-7DF2-C8A6D658BD9F}"/>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8559A4AF-C84E-C574-80A9-38D9F2B79474}"/>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AFBC9B3B-AFB9-5282-A718-8355C840419A}"/>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6AA764D7-5B77-E78D-205A-DBFC5EE34256}"/>
              </a:ext>
            </a:extLst>
          </p:cNvPr>
          <p:cNvSpPr>
            <a:spLocks noGrp="1"/>
          </p:cNvSpPr>
          <p:nvPr>
            <p:ph idx="1"/>
          </p:nvPr>
        </p:nvSpPr>
        <p:spPr>
          <a:xfrm>
            <a:off x="2801814" y="351693"/>
            <a:ext cx="7057294" cy="4747578"/>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SET_COL8_R2: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08DE	057C	HTL    R5, R7</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08E0	55B1	MOVE   (R11)+,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DONE_COLUMNS_NEXT_ROW:</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08E2	5BC1	MOVE   (R12)+, R11  </a:t>
            </a:r>
            <a:r>
              <a:rPr lang="pt-BR" sz="1400" dirty="0">
                <a:latin typeface="Courier New" panose="02070309020205020404" pitchFamily="49" charset="0"/>
                <a:cs typeface="Courier New" panose="02070309020205020404" pitchFamily="49" charset="0"/>
                <a:sym typeface="Wingdings" panose="05000000000000000000" pitchFamily="2" charset="2"/>
              </a:rPr>
              <a:t> MEM[R12]=R11,R12=R12+2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08E4	0991	DEC    R9           </a:t>
            </a:r>
            <a:r>
              <a:rPr lang="pt-BR" sz="1400" dirty="0">
                <a:latin typeface="Courier New" panose="02070309020205020404" pitchFamily="49" charset="0"/>
                <a:cs typeface="Courier New" panose="02070309020205020404" pitchFamily="49" charset="0"/>
                <a:sym typeface="Wingdings" panose="05000000000000000000" pitchFamily="2" charset="2"/>
              </a:rPr>
              <a:t> D9=D9-1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08E6	C903	SZ     R9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R9 </a:t>
            </a:r>
            <a:r>
              <a:rPr lang="pt-BR" sz="1400" dirty="0" err="1">
                <a:latin typeface="Courier New" panose="02070309020205020404" pitchFamily="49" charset="0"/>
                <a:cs typeface="Courier New" panose="02070309020205020404" pitchFamily="49" charset="0"/>
                <a:sym typeface="Wingdings" panose="05000000000000000000" pitchFamily="2" charset="2"/>
              </a:rPr>
              <a:t>is</a:t>
            </a:r>
            <a:r>
              <a:rPr lang="pt-BR" sz="1400" dirty="0">
                <a:latin typeface="Courier New" panose="02070309020205020404" pitchFamily="49" charset="0"/>
                <a:cs typeface="Courier New" panose="02070309020205020404" pitchFamily="49" charset="0"/>
                <a:sym typeface="Wingdings" panose="05000000000000000000" pitchFamily="2" charset="2"/>
              </a:rPr>
              <a:t> Zero</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08E8	A005	BRA    PROCESS_ROWS_BIGJUMP</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08EA	0203	CALL   CALCULATE_NEXT, R2 </a:t>
            </a:r>
            <a:r>
              <a:rPr lang="pt-BR" sz="1400" dirty="0">
                <a:latin typeface="Courier New" panose="02070309020205020404" pitchFamily="49" charset="0"/>
                <a:cs typeface="Courier New" panose="02070309020205020404" pitchFamily="49" charset="0"/>
                <a:sym typeface="Wingdings" panose="05000000000000000000" pitchFamily="2" charset="2"/>
              </a:rPr>
              <a:t> (JMP BROKE)</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08EC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08EE	078C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PROCESS_ROWS_BIGJUMP: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08F0	0203	CALL   PROCESS_ROWS_NEXT, R2 </a:t>
            </a:r>
            <a:r>
              <a:rPr lang="pt-BR" sz="1400" dirty="0">
                <a:latin typeface="Courier New" panose="02070309020205020404" pitchFamily="49" charset="0"/>
                <a:cs typeface="Courier New" panose="02070309020205020404" pitchFamily="49" charset="0"/>
                <a:sym typeface="Wingdings" panose="05000000000000000000" pitchFamily="2" charset="2"/>
              </a:rPr>
              <a:t> (JMP BROKE)</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08F2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08F4	07CA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MAINLOOP_INIT: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08F6	09A4	MOVE   R9, R10</a:t>
            </a:r>
          </a:p>
        </p:txBody>
      </p:sp>
      <p:sp>
        <p:nvSpPr>
          <p:cNvPr id="3" name="TextBox 2">
            <a:extLst>
              <a:ext uri="{FF2B5EF4-FFF2-40B4-BE49-F238E27FC236}">
                <a16:creationId xmlns:a16="http://schemas.microsoft.com/office/drawing/2014/main" id="{968CD698-1299-700E-1798-4784E2017640}"/>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8" name="Right Brace 37">
            <a:extLst>
              <a:ext uri="{FF2B5EF4-FFF2-40B4-BE49-F238E27FC236}">
                <a16:creationId xmlns:a16="http://schemas.microsoft.com/office/drawing/2014/main" id="{97E3AA2C-B35D-1285-7E28-6F1CFEBF302F}"/>
              </a:ext>
            </a:extLst>
          </p:cNvPr>
          <p:cNvSpPr/>
          <p:nvPr/>
        </p:nvSpPr>
        <p:spPr>
          <a:xfrm rot="10800000">
            <a:off x="10066254" y="4525247"/>
            <a:ext cx="154067" cy="304879"/>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ectangle 47">
            <a:extLst>
              <a:ext uri="{FF2B5EF4-FFF2-40B4-BE49-F238E27FC236}">
                <a16:creationId xmlns:a16="http://schemas.microsoft.com/office/drawing/2014/main" id="{5BBFAD88-EE74-8D62-A572-83363E85D526}"/>
              </a:ext>
            </a:extLst>
          </p:cNvPr>
          <p:cNvSpPr/>
          <p:nvPr/>
        </p:nvSpPr>
        <p:spPr>
          <a:xfrm>
            <a:off x="8195403" y="469853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FF0000"/>
                </a:solidFill>
                <a:latin typeface="Courier New" panose="02070309020205020404" pitchFamily="49" charset="0"/>
                <a:cs typeface="Courier New" panose="02070309020205020404" pitchFamily="49" charset="0"/>
              </a:rPr>
              <a:t>1048</a:t>
            </a:r>
          </a:p>
          <a:p>
            <a:r>
              <a:rPr lang="en-US" sz="1200" dirty="0">
                <a:solidFill>
                  <a:srgbClr val="FF0000"/>
                </a:solidFill>
                <a:latin typeface="Courier New" panose="02070309020205020404" pitchFamily="49" charset="0"/>
                <a:cs typeface="Courier New" panose="02070309020205020404" pitchFamily="49" charset="0"/>
              </a:rPr>
              <a:t>14B0</a:t>
            </a:r>
          </a:p>
          <a:p>
            <a:r>
              <a:rPr lang="en-US" sz="1200" dirty="0">
                <a:solidFill>
                  <a:srgbClr val="FF0000"/>
                </a:solidFill>
                <a:latin typeface="Courier New" panose="02070309020205020404" pitchFamily="49" charset="0"/>
                <a:cs typeface="Courier New" panose="02070309020205020404" pitchFamily="49" charset="0"/>
              </a:rPr>
              <a:t>1918</a:t>
            </a:r>
          </a:p>
          <a:p>
            <a:r>
              <a:rPr lang="en-US" sz="1200" dirty="0">
                <a:solidFill>
                  <a:srgbClr val="FF0000"/>
                </a:solidFill>
                <a:latin typeface="Courier New" panose="02070309020205020404" pitchFamily="49" charset="0"/>
                <a:cs typeface="Courier New" panose="02070309020205020404" pitchFamily="49" charset="0"/>
              </a:rPr>
              <a:t>1D80</a:t>
            </a:r>
          </a:p>
          <a:p>
            <a:r>
              <a:rPr lang="en-US" sz="1200" dirty="0">
                <a:solidFill>
                  <a:srgbClr val="FF0000"/>
                </a:solidFill>
                <a:latin typeface="Courier New" panose="02070309020205020404" pitchFamily="49" charset="0"/>
                <a:cs typeface="Courier New" panose="02070309020205020404" pitchFamily="49" charset="0"/>
              </a:rPr>
              <a:t>21E8</a:t>
            </a:r>
          </a:p>
          <a:p>
            <a:r>
              <a:rPr lang="en-US" sz="1200" dirty="0">
                <a:solidFill>
                  <a:srgbClr val="FF0000"/>
                </a:solidFill>
                <a:latin typeface="Courier New" panose="02070309020205020404" pitchFamily="49" charset="0"/>
                <a:cs typeface="Courier New" panose="02070309020205020404" pitchFamily="49" charset="0"/>
              </a:rPr>
              <a:t>2650</a:t>
            </a:r>
          </a:p>
          <a:p>
            <a:r>
              <a:rPr lang="en-US" sz="1200" dirty="0">
                <a:solidFill>
                  <a:srgbClr val="FF0000"/>
                </a:solidFill>
                <a:latin typeface="Courier New" panose="02070309020205020404" pitchFamily="49" charset="0"/>
                <a:cs typeface="Courier New" panose="02070309020205020404" pitchFamily="49" charset="0"/>
              </a:rPr>
              <a:t>2AB8</a:t>
            </a:r>
          </a:p>
          <a:p>
            <a:r>
              <a:rPr lang="en-US" sz="1200" dirty="0">
                <a:solidFill>
                  <a:srgbClr val="FF0000"/>
                </a:solidFill>
                <a:latin typeface="Courier New" panose="02070309020205020404" pitchFamily="49" charset="0"/>
                <a:cs typeface="Courier New" panose="02070309020205020404" pitchFamily="49" charset="0"/>
              </a:rPr>
              <a:t>2F20</a:t>
            </a:r>
          </a:p>
          <a:p>
            <a:r>
              <a:rPr lang="en-US" sz="1200" dirty="0">
                <a:solidFill>
                  <a:srgbClr val="FF0000"/>
                </a:solidFill>
                <a:latin typeface="Courier New" panose="02070309020205020404" pitchFamily="49" charset="0"/>
                <a:cs typeface="Courier New" panose="02070309020205020404" pitchFamily="49" charset="0"/>
              </a:rPr>
              <a:t>3388</a:t>
            </a:r>
          </a:p>
          <a:p>
            <a:r>
              <a:rPr lang="en-US" sz="1200" dirty="0">
                <a:solidFill>
                  <a:srgbClr val="FF0000"/>
                </a:solidFill>
                <a:latin typeface="Courier New" panose="02070309020205020404" pitchFamily="49" charset="0"/>
                <a:cs typeface="Courier New" panose="02070309020205020404" pitchFamily="49" charset="0"/>
              </a:rPr>
              <a:t>37F0</a:t>
            </a:r>
          </a:p>
        </p:txBody>
      </p:sp>
      <p:sp>
        <p:nvSpPr>
          <p:cNvPr id="49" name="TextBox 48">
            <a:extLst>
              <a:ext uri="{FF2B5EF4-FFF2-40B4-BE49-F238E27FC236}">
                <a16:creationId xmlns:a16="http://schemas.microsoft.com/office/drawing/2014/main" id="{1F0A9092-5911-2809-39FE-050C03891A7F}"/>
              </a:ext>
            </a:extLst>
          </p:cNvPr>
          <p:cNvSpPr txBox="1"/>
          <p:nvPr/>
        </p:nvSpPr>
        <p:spPr>
          <a:xfrm>
            <a:off x="7475749" y="469853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76" name="TextBox 75">
            <a:extLst>
              <a:ext uri="{FF2B5EF4-FFF2-40B4-BE49-F238E27FC236}">
                <a16:creationId xmlns:a16="http://schemas.microsoft.com/office/drawing/2014/main" id="{43C95A8A-9C37-4E6E-32FC-D5044DBF8618}"/>
              </a:ext>
            </a:extLst>
          </p:cNvPr>
          <p:cNvSpPr txBox="1"/>
          <p:nvPr/>
        </p:nvSpPr>
        <p:spPr>
          <a:xfrm>
            <a:off x="6804824" y="4475073"/>
            <a:ext cx="1415772" cy="246221"/>
          </a:xfrm>
          <a:prstGeom prst="rect">
            <a:avLst/>
          </a:prstGeom>
          <a:noFill/>
        </p:spPr>
        <p:txBody>
          <a:bodyPr wrap="none" rtlCol="0">
            <a:spAutoFit/>
          </a:bodyPr>
          <a:lstStyle/>
          <a:p>
            <a:r>
              <a:rPr lang="en-US" sz="1000" dirty="0">
                <a:latin typeface="Courier New" panose="02070309020205020404" pitchFamily="49" charset="0"/>
                <a:cs typeface="Courier New" panose="02070309020205020404" pitchFamily="49" charset="0"/>
              </a:rPr>
              <a:t>WORKING_ADDRESS:</a:t>
            </a:r>
          </a:p>
        </p:txBody>
      </p:sp>
      <p:sp>
        <p:nvSpPr>
          <p:cNvPr id="60" name="TextBox 59">
            <a:extLst>
              <a:ext uri="{FF2B5EF4-FFF2-40B4-BE49-F238E27FC236}">
                <a16:creationId xmlns:a16="http://schemas.microsoft.com/office/drawing/2014/main" id="{4C578E50-F9C4-EB24-1743-0F51F0B4A842}"/>
              </a:ext>
            </a:extLst>
          </p:cNvPr>
          <p:cNvSpPr txBox="1"/>
          <p:nvPr/>
        </p:nvSpPr>
        <p:spPr>
          <a:xfrm>
            <a:off x="2828118" y="5695340"/>
            <a:ext cx="4285167" cy="923330"/>
          </a:xfrm>
          <a:prstGeom prst="rect">
            <a:avLst/>
          </a:prstGeom>
          <a:solidFill>
            <a:srgbClr val="FFC000"/>
          </a:solidFill>
        </p:spPr>
        <p:txBody>
          <a:bodyPr wrap="square" rtlCol="0">
            <a:spAutoFit/>
          </a:bodyPr>
          <a:lstStyle/>
          <a:p>
            <a:pPr algn="ctr"/>
            <a:r>
              <a:rPr lang="en-US" dirty="0">
                <a:latin typeface="Courier New" panose="02070309020205020404" pitchFamily="49" charset="0"/>
                <a:cs typeface="Courier New" panose="02070309020205020404" pitchFamily="49" charset="0"/>
              </a:rPr>
              <a:t>         COLUMN </a:t>
            </a:r>
            <a:r>
              <a:rPr lang="en-US" b="1" dirty="0">
                <a:latin typeface="Courier New" panose="02070309020205020404" pitchFamily="49" charset="0"/>
                <a:cs typeface="Courier New" panose="02070309020205020404" pitchFamily="49" charset="0"/>
              </a:rPr>
              <a:t>12345678</a:t>
            </a:r>
            <a:br>
              <a:rPr lang="en-US" b="1"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(0x3380)</a:t>
            </a: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ROW 9: </a:t>
            </a:r>
            <a:r>
              <a:rPr lang="en-US" b="1" dirty="0">
                <a:solidFill>
                  <a:srgbClr val="FF0000"/>
                </a:solidFill>
                <a:latin typeface="Courier New" panose="02070309020205020404" pitchFamily="49" charset="0"/>
                <a:cs typeface="Courier New" panose="02070309020205020404" pitchFamily="49" charset="0"/>
              </a:rPr>
              <a:t>____</a:t>
            </a:r>
            <a:r>
              <a:rPr lang="en-US" dirty="0">
                <a:solidFill>
                  <a:srgbClr val="FF0000"/>
                </a:solidFill>
                <a:latin typeface="Courier New" panose="02070309020205020404" pitchFamily="49" charset="0"/>
                <a:cs typeface="Courier New" panose="02070309020205020404" pitchFamily="49" charset="0"/>
              </a:rPr>
              <a:t>VV__</a:t>
            </a:r>
          </a:p>
          <a:p>
            <a:pPr algn="ctr"/>
            <a:r>
              <a:rPr lang="en-US" dirty="0">
                <a:latin typeface="Courier New" panose="02070309020205020404" pitchFamily="49" charset="0"/>
                <a:cs typeface="Courier New" panose="02070309020205020404" pitchFamily="49" charset="0"/>
              </a:rPr>
              <a:t>(0x37E8) ROW10: </a:t>
            </a:r>
            <a:r>
              <a:rPr lang="en-US" dirty="0">
                <a:solidFill>
                  <a:srgbClr val="FF0000"/>
                </a:solidFill>
                <a:latin typeface="Courier New" panose="02070309020205020404" pitchFamily="49" charset="0"/>
                <a:cs typeface="Courier New" panose="02070309020205020404" pitchFamily="49" charset="0"/>
              </a:rPr>
              <a:t>____VV__</a:t>
            </a:r>
          </a:p>
        </p:txBody>
      </p:sp>
      <p:cxnSp>
        <p:nvCxnSpPr>
          <p:cNvPr id="39" name="Straight Arrow Connector 38">
            <a:extLst>
              <a:ext uri="{FF2B5EF4-FFF2-40B4-BE49-F238E27FC236}">
                <a16:creationId xmlns:a16="http://schemas.microsoft.com/office/drawing/2014/main" id="{A87477F4-2383-1785-0629-9719C8039123}"/>
              </a:ext>
            </a:extLst>
          </p:cNvPr>
          <p:cNvCxnSpPr>
            <a:stCxn id="20" idx="3"/>
            <a:endCxn id="12" idx="3"/>
          </p:cNvCxnSpPr>
          <p:nvPr/>
        </p:nvCxnSpPr>
        <p:spPr>
          <a:xfrm flipV="1">
            <a:off x="2293620" y="2101850"/>
            <a:ext cx="12700" cy="1384816"/>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E1077A7A-23DD-60C8-75F0-EA0CC2CC649A}"/>
              </a:ext>
            </a:extLst>
          </p:cNvPr>
          <p:cNvSpPr/>
          <p:nvPr/>
        </p:nvSpPr>
        <p:spPr>
          <a:xfrm>
            <a:off x="4639012" y="1397000"/>
            <a:ext cx="5038388" cy="723900"/>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1520C61-643D-158D-61C0-FEEA53C63B74}"/>
              </a:ext>
            </a:extLst>
          </p:cNvPr>
          <p:cNvSpPr/>
          <p:nvPr/>
        </p:nvSpPr>
        <p:spPr>
          <a:xfrm>
            <a:off x="4639012" y="2356034"/>
            <a:ext cx="4758987" cy="260166"/>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8C23A6E-EC9F-6254-5774-FDBAFACF1C72}"/>
              </a:ext>
            </a:extLst>
          </p:cNvPr>
          <p:cNvSpPr/>
          <p:nvPr/>
        </p:nvSpPr>
        <p:spPr>
          <a:xfrm>
            <a:off x="9241535" y="1930399"/>
            <a:ext cx="2731009" cy="4278047"/>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BIG_LETTERS:	</a:t>
            </a:r>
          </a:p>
          <a:p>
            <a:r>
              <a:rPr lang="en-US" sz="1000" dirty="0">
                <a:solidFill>
                  <a:schemeClr val="tx1"/>
                </a:solidFill>
                <a:latin typeface="Courier New" panose="02070309020205020404" pitchFamily="49" charset="0"/>
                <a:cs typeface="Courier New" panose="02070309020205020404" pitchFamily="49" charset="0"/>
              </a:rPr>
              <a:t>  0A24	01  A	0</a:t>
            </a:r>
          </a:p>
          <a:p>
            <a:r>
              <a:rPr lang="en-US" sz="1000" dirty="0">
                <a:solidFill>
                  <a:schemeClr val="tx1"/>
                </a:solidFill>
                <a:latin typeface="Courier New" panose="02070309020205020404" pitchFamily="49" charset="0"/>
                <a:cs typeface="Courier New" panose="02070309020205020404" pitchFamily="49" charset="0"/>
              </a:rPr>
              <a:t>  0A25	00  (reserved)</a:t>
            </a:r>
          </a:p>
          <a:p>
            <a:r>
              <a:rPr lang="en-US" sz="1000" dirty="0">
                <a:solidFill>
                  <a:schemeClr val="tx1"/>
                </a:solidFill>
                <a:latin typeface="Courier New" panose="02070309020205020404" pitchFamily="49" charset="0"/>
                <a:cs typeface="Courier New" panose="02070309020205020404" pitchFamily="49" charset="0"/>
              </a:rPr>
              <a:t>  0A26	0C  00001100</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  0A27	1E  00011110</a:t>
            </a:r>
          </a:p>
          <a:p>
            <a:r>
              <a:rPr lang="en-US" sz="1000" dirty="0">
                <a:solidFill>
                  <a:schemeClr val="tx1"/>
                </a:solidFill>
                <a:latin typeface="Courier New" panose="02070309020205020404" pitchFamily="49" charset="0"/>
                <a:cs typeface="Courier New" panose="02070309020205020404" pitchFamily="49" charset="0"/>
              </a:rPr>
              <a:t>  0A28	33  00110011</a:t>
            </a:r>
          </a:p>
          <a:p>
            <a:r>
              <a:rPr lang="en-US" sz="1000" dirty="0">
                <a:solidFill>
                  <a:schemeClr val="tx1"/>
                </a:solidFill>
                <a:latin typeface="Courier New" panose="02070309020205020404" pitchFamily="49" charset="0"/>
                <a:cs typeface="Courier New" panose="02070309020205020404" pitchFamily="49" charset="0"/>
              </a:rPr>
              <a:t>  0A29	33  00110011</a:t>
            </a:r>
          </a:p>
          <a:p>
            <a:r>
              <a:rPr lang="en-US" sz="1000" dirty="0">
                <a:solidFill>
                  <a:schemeClr val="tx1"/>
                </a:solidFill>
                <a:latin typeface="Courier New" panose="02070309020205020404" pitchFamily="49" charset="0"/>
                <a:cs typeface="Courier New" panose="02070309020205020404" pitchFamily="49" charset="0"/>
              </a:rPr>
              <a:t>  0A2A	3F  00111111</a:t>
            </a:r>
          </a:p>
          <a:p>
            <a:r>
              <a:rPr lang="en-US" sz="1000" dirty="0">
                <a:solidFill>
                  <a:schemeClr val="tx1"/>
                </a:solidFill>
                <a:latin typeface="Courier New" panose="02070309020205020404" pitchFamily="49" charset="0"/>
                <a:cs typeface="Courier New" panose="02070309020205020404" pitchFamily="49" charset="0"/>
              </a:rPr>
              <a:t>  0A2B	3F  00111111</a:t>
            </a:r>
          </a:p>
          <a:p>
            <a:r>
              <a:rPr lang="en-US" sz="1000" dirty="0">
                <a:solidFill>
                  <a:schemeClr val="tx1"/>
                </a:solidFill>
                <a:latin typeface="Courier New" panose="02070309020205020404" pitchFamily="49" charset="0"/>
                <a:cs typeface="Courier New" panose="02070309020205020404" pitchFamily="49" charset="0"/>
              </a:rPr>
              <a:t>  0A2C	33  00110011</a:t>
            </a:r>
          </a:p>
          <a:p>
            <a:r>
              <a:rPr lang="en-US" sz="1000" dirty="0">
                <a:solidFill>
                  <a:schemeClr val="tx1"/>
                </a:solidFill>
                <a:latin typeface="Courier New" panose="02070309020205020404" pitchFamily="49" charset="0"/>
                <a:cs typeface="Courier New" panose="02070309020205020404" pitchFamily="49" charset="0"/>
              </a:rPr>
              <a:t>  0A2D	33  00110011</a:t>
            </a:r>
          </a:p>
          <a:p>
            <a:r>
              <a:rPr lang="en-US" sz="1000" dirty="0">
                <a:solidFill>
                  <a:schemeClr val="tx1"/>
                </a:solidFill>
                <a:latin typeface="Courier New" panose="02070309020205020404" pitchFamily="49" charset="0"/>
                <a:cs typeface="Courier New" panose="02070309020205020404" pitchFamily="49" charset="0"/>
              </a:rPr>
              <a:t>  0A2E	33  00110011</a:t>
            </a:r>
          </a:p>
          <a:p>
            <a:r>
              <a:rPr lang="en-US" sz="1000" dirty="0">
                <a:solidFill>
                  <a:schemeClr val="tx1"/>
                </a:solidFill>
                <a:latin typeface="Courier New" panose="02070309020205020404" pitchFamily="49" charset="0"/>
                <a:cs typeface="Courier New" panose="02070309020205020404" pitchFamily="49" charset="0"/>
              </a:rPr>
              <a:t>  0A2F	33  00110011</a:t>
            </a:r>
          </a:p>
          <a:p>
            <a:r>
              <a:rPr lang="en-US" sz="1000" dirty="0">
                <a:solidFill>
                  <a:schemeClr val="tx1"/>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0B20	</a:t>
            </a:r>
            <a:r>
              <a:rPr lang="en-US" sz="1000" dirty="0">
                <a:solidFill>
                  <a:srgbClr val="FF0000"/>
                </a:solidFill>
                <a:latin typeface="Courier New" panose="02070309020205020404" pitchFamily="49" charset="0"/>
                <a:cs typeface="Courier New" panose="02070309020205020404" pitchFamily="49" charset="0"/>
              </a:rPr>
              <a:t>16</a:t>
            </a:r>
            <a:r>
              <a:rPr lang="en-US" sz="1000" dirty="0">
                <a:solidFill>
                  <a:schemeClr val="tx1"/>
                </a:solidFill>
                <a:latin typeface="Courier New" panose="02070309020205020404" pitchFamily="49" charset="0"/>
                <a:cs typeface="Courier New" panose="02070309020205020404" pitchFamily="49" charset="0"/>
              </a:rPr>
              <a:t>  V	252</a:t>
            </a:r>
          </a:p>
          <a:p>
            <a:r>
              <a:rPr lang="en-US" sz="1000" dirty="0">
                <a:solidFill>
                  <a:schemeClr val="tx1"/>
                </a:solidFill>
                <a:latin typeface="Courier New" panose="02070309020205020404" pitchFamily="49" charset="0"/>
                <a:cs typeface="Courier New" panose="02070309020205020404" pitchFamily="49" charset="0"/>
              </a:rPr>
              <a:t>  0B21	00  (reserved)</a:t>
            </a:r>
          </a:p>
          <a:p>
            <a:r>
              <a:rPr lang="en-US" sz="1000" dirty="0">
                <a:solidFill>
                  <a:schemeClr val="tx1"/>
                </a:solidFill>
                <a:latin typeface="Courier New" panose="02070309020205020404" pitchFamily="49" charset="0"/>
                <a:cs typeface="Courier New" panose="02070309020205020404" pitchFamily="49" charset="0"/>
              </a:rPr>
              <a:t>  0B22	33  00110011</a:t>
            </a:r>
          </a:p>
          <a:p>
            <a:r>
              <a:rPr lang="en-US" sz="1000" dirty="0">
                <a:solidFill>
                  <a:schemeClr val="tx1"/>
                </a:solidFill>
                <a:latin typeface="Courier New" panose="02070309020205020404" pitchFamily="49" charset="0"/>
                <a:cs typeface="Courier New" panose="02070309020205020404" pitchFamily="49" charset="0"/>
              </a:rPr>
              <a:t>  0B23	33  00110011</a:t>
            </a:r>
          </a:p>
          <a:p>
            <a:r>
              <a:rPr lang="en-US" sz="1000" dirty="0">
                <a:solidFill>
                  <a:schemeClr val="tx1"/>
                </a:solidFill>
                <a:latin typeface="Courier New" panose="02070309020205020404" pitchFamily="49" charset="0"/>
                <a:cs typeface="Courier New" panose="02070309020205020404" pitchFamily="49" charset="0"/>
              </a:rPr>
              <a:t>  0B24	33  00110011</a:t>
            </a:r>
          </a:p>
          <a:p>
            <a:r>
              <a:rPr lang="en-US" sz="1000" dirty="0">
                <a:solidFill>
                  <a:schemeClr val="tx1"/>
                </a:solidFill>
                <a:latin typeface="Courier New" panose="02070309020205020404" pitchFamily="49" charset="0"/>
                <a:cs typeface="Courier New" panose="02070309020205020404" pitchFamily="49" charset="0"/>
              </a:rPr>
              <a:t>  0B25	33  00110011</a:t>
            </a:r>
          </a:p>
          <a:p>
            <a:r>
              <a:rPr lang="en-US" sz="1000" dirty="0">
                <a:solidFill>
                  <a:schemeClr val="tx1"/>
                </a:solidFill>
                <a:latin typeface="Courier New" panose="02070309020205020404" pitchFamily="49" charset="0"/>
                <a:cs typeface="Courier New" panose="02070309020205020404" pitchFamily="49" charset="0"/>
              </a:rPr>
              <a:t>  0B26	33  00110011</a:t>
            </a:r>
          </a:p>
          <a:p>
            <a:r>
              <a:rPr lang="en-US" sz="1000" dirty="0">
                <a:solidFill>
                  <a:schemeClr val="tx1"/>
                </a:solidFill>
                <a:latin typeface="Courier New" panose="02070309020205020404" pitchFamily="49" charset="0"/>
                <a:cs typeface="Courier New" panose="02070309020205020404" pitchFamily="49" charset="0"/>
              </a:rPr>
              <a:t>  0B27	1F  00011111</a:t>
            </a:r>
          </a:p>
          <a:p>
            <a:r>
              <a:rPr lang="en-US" sz="1000" dirty="0">
                <a:solidFill>
                  <a:schemeClr val="tx1"/>
                </a:solidFill>
                <a:latin typeface="Courier New" panose="02070309020205020404" pitchFamily="49" charset="0"/>
                <a:cs typeface="Courier New" panose="02070309020205020404" pitchFamily="49" charset="0"/>
              </a:rPr>
              <a:t>  0B28	1E  00011110</a:t>
            </a:r>
          </a:p>
          <a:p>
            <a:r>
              <a:rPr lang="en-US" sz="1000" dirty="0">
                <a:solidFill>
                  <a:schemeClr val="tx1"/>
                </a:solidFill>
                <a:latin typeface="Courier New" panose="02070309020205020404" pitchFamily="49" charset="0"/>
                <a:cs typeface="Courier New" panose="02070309020205020404" pitchFamily="49" charset="0"/>
              </a:rPr>
              <a:t>  0B29	1E  00011110</a:t>
            </a:r>
          </a:p>
          <a:p>
            <a:r>
              <a:rPr lang="en-US" sz="1000" dirty="0">
                <a:solidFill>
                  <a:schemeClr val="tx1"/>
                </a:solidFill>
                <a:latin typeface="Courier New" panose="02070309020205020404" pitchFamily="49" charset="0"/>
                <a:cs typeface="Courier New" panose="02070309020205020404" pitchFamily="49" charset="0"/>
              </a:rPr>
              <a:t>  0B2A	0C  00001100</a:t>
            </a:r>
          </a:p>
          <a:p>
            <a:r>
              <a:rPr lang="en-US" sz="1000" dirty="0">
                <a:solidFill>
                  <a:schemeClr val="tx1"/>
                </a:solidFill>
                <a:latin typeface="Courier New" panose="02070309020205020404" pitchFamily="49" charset="0"/>
                <a:cs typeface="Courier New" panose="02070309020205020404" pitchFamily="49" charset="0"/>
              </a:rPr>
              <a:t>  0B2B	0C  00001100</a:t>
            </a:r>
          </a:p>
        </p:txBody>
      </p:sp>
      <p:sp>
        <p:nvSpPr>
          <p:cNvPr id="45" name="TextBox 44">
            <a:extLst>
              <a:ext uri="{FF2B5EF4-FFF2-40B4-BE49-F238E27FC236}">
                <a16:creationId xmlns:a16="http://schemas.microsoft.com/office/drawing/2014/main" id="{735606A7-2248-D500-244F-03B565A933D2}"/>
              </a:ext>
            </a:extLst>
          </p:cNvPr>
          <p:cNvSpPr txBox="1"/>
          <p:nvPr/>
        </p:nvSpPr>
        <p:spPr>
          <a:xfrm>
            <a:off x="5617956" y="2640589"/>
            <a:ext cx="3369482" cy="646331"/>
          </a:xfrm>
          <a:prstGeom prst="rect">
            <a:avLst/>
          </a:prstGeom>
          <a:solidFill>
            <a:srgbClr val="FFC000"/>
          </a:solidFill>
        </p:spPr>
        <p:txBody>
          <a:bodyPr wrap="square" rtlCol="0">
            <a:spAutoFit/>
          </a:bodyPr>
          <a:lstStyle/>
          <a:p>
            <a:pPr algn="ctr"/>
            <a:r>
              <a:rPr lang="en-US" dirty="0">
                <a:latin typeface="Courier New" panose="02070309020205020404" pitchFamily="49" charset="0"/>
                <a:cs typeface="Courier New" panose="02070309020205020404" pitchFamily="49" charset="0"/>
              </a:rPr>
              <a:t>Calculate next letter in the banner string.</a:t>
            </a:r>
            <a:endParaRPr lang="en-US" dirty="0">
              <a:solidFill>
                <a:srgbClr val="FF0000"/>
              </a:solidFill>
              <a:latin typeface="Courier New" panose="02070309020205020404" pitchFamily="49" charset="0"/>
              <a:cs typeface="Courier New" panose="02070309020205020404" pitchFamily="49" charset="0"/>
            </a:endParaRPr>
          </a:p>
        </p:txBody>
      </p:sp>
      <p:sp>
        <p:nvSpPr>
          <p:cNvPr id="46" name="TextBox 45">
            <a:extLst>
              <a:ext uri="{FF2B5EF4-FFF2-40B4-BE49-F238E27FC236}">
                <a16:creationId xmlns:a16="http://schemas.microsoft.com/office/drawing/2014/main" id="{5300EC73-EA14-E76F-486E-128E256F4D10}"/>
              </a:ext>
            </a:extLst>
          </p:cNvPr>
          <p:cNvSpPr txBox="1"/>
          <p:nvPr/>
        </p:nvSpPr>
        <p:spPr>
          <a:xfrm>
            <a:off x="5939904" y="3571081"/>
            <a:ext cx="3053884" cy="738664"/>
          </a:xfrm>
          <a:prstGeom prst="rect">
            <a:avLst/>
          </a:prstGeom>
          <a:solidFill>
            <a:srgbClr val="FFC000"/>
          </a:solidFill>
        </p:spPr>
        <p:txBody>
          <a:bodyPr wrap="square" rtlCol="0">
            <a:spAutoFit/>
          </a:bodyPr>
          <a:lstStyle/>
          <a:p>
            <a:pPr algn="ctr"/>
            <a:r>
              <a:rPr lang="en-US" sz="1400" dirty="0">
                <a:latin typeface="Courier New" panose="02070309020205020404" pitchFamily="49" charset="0"/>
                <a:cs typeface="Courier New" panose="02070309020205020404" pitchFamily="49" charset="0"/>
              </a:rPr>
              <a:t>If R9 was not yet 0, then process next pair of rows in the current big-letter.</a:t>
            </a:r>
            <a:endParaRPr lang="en-US" sz="1400" dirty="0">
              <a:solidFill>
                <a:srgbClr val="FF0000"/>
              </a:solidFill>
              <a:latin typeface="Courier New" panose="02070309020205020404" pitchFamily="49" charset="0"/>
              <a:cs typeface="Courier New" panose="02070309020205020404" pitchFamily="49" charset="0"/>
            </a:endParaRPr>
          </a:p>
        </p:txBody>
      </p:sp>
      <p:sp>
        <p:nvSpPr>
          <p:cNvPr id="62" name="Right Brace 61">
            <a:extLst>
              <a:ext uri="{FF2B5EF4-FFF2-40B4-BE49-F238E27FC236}">
                <a16:creationId xmlns:a16="http://schemas.microsoft.com/office/drawing/2014/main" id="{D8B3A668-434A-EBD3-18E4-6E8314B60F0E}"/>
              </a:ext>
            </a:extLst>
          </p:cNvPr>
          <p:cNvSpPr/>
          <p:nvPr/>
        </p:nvSpPr>
        <p:spPr>
          <a:xfrm>
            <a:off x="11224494" y="4553387"/>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Right Brace 62">
            <a:extLst>
              <a:ext uri="{FF2B5EF4-FFF2-40B4-BE49-F238E27FC236}">
                <a16:creationId xmlns:a16="http://schemas.microsoft.com/office/drawing/2014/main" id="{FE466154-29BB-8B30-F52B-949F7AE84F1C}"/>
              </a:ext>
            </a:extLst>
          </p:cNvPr>
          <p:cNvSpPr/>
          <p:nvPr/>
        </p:nvSpPr>
        <p:spPr>
          <a:xfrm>
            <a:off x="11224494" y="4859163"/>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Right Brace 63">
            <a:extLst>
              <a:ext uri="{FF2B5EF4-FFF2-40B4-BE49-F238E27FC236}">
                <a16:creationId xmlns:a16="http://schemas.microsoft.com/office/drawing/2014/main" id="{F40640EB-DFC3-E5C4-B784-3E6C502A64A5}"/>
              </a:ext>
            </a:extLst>
          </p:cNvPr>
          <p:cNvSpPr/>
          <p:nvPr/>
        </p:nvSpPr>
        <p:spPr>
          <a:xfrm>
            <a:off x="11246719" y="5165476"/>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Right Brace 64">
            <a:extLst>
              <a:ext uri="{FF2B5EF4-FFF2-40B4-BE49-F238E27FC236}">
                <a16:creationId xmlns:a16="http://schemas.microsoft.com/office/drawing/2014/main" id="{5777375B-32BA-4475-F32B-23580FECF63A}"/>
              </a:ext>
            </a:extLst>
          </p:cNvPr>
          <p:cNvSpPr/>
          <p:nvPr/>
        </p:nvSpPr>
        <p:spPr>
          <a:xfrm>
            <a:off x="11246719" y="54741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Right Brace 76">
            <a:extLst>
              <a:ext uri="{FF2B5EF4-FFF2-40B4-BE49-F238E27FC236}">
                <a16:creationId xmlns:a16="http://schemas.microsoft.com/office/drawing/2014/main" id="{77326AD3-1F94-1010-2C85-1CECE5B33068}"/>
              </a:ext>
            </a:extLst>
          </p:cNvPr>
          <p:cNvSpPr/>
          <p:nvPr/>
        </p:nvSpPr>
        <p:spPr>
          <a:xfrm>
            <a:off x="11246719" y="5777565"/>
            <a:ext cx="115971" cy="241351"/>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TextBox 77">
            <a:extLst>
              <a:ext uri="{FF2B5EF4-FFF2-40B4-BE49-F238E27FC236}">
                <a16:creationId xmlns:a16="http://schemas.microsoft.com/office/drawing/2014/main" id="{D28F146F-218F-6B19-3D6F-BA73CCB07038}"/>
              </a:ext>
            </a:extLst>
          </p:cNvPr>
          <p:cNvSpPr txBox="1"/>
          <p:nvPr/>
        </p:nvSpPr>
        <p:spPr>
          <a:xfrm>
            <a:off x="11293196" y="4484967"/>
            <a:ext cx="417102" cy="369332"/>
          </a:xfrm>
          <a:prstGeom prst="rect">
            <a:avLst/>
          </a:prstGeom>
          <a:noFill/>
        </p:spPr>
        <p:txBody>
          <a:bodyPr wrap="none" rtlCol="0">
            <a:spAutoFit/>
          </a:bodyPr>
          <a:lstStyle/>
          <a:p>
            <a:r>
              <a:rPr lang="en-US" dirty="0"/>
              <a:t>#1</a:t>
            </a:r>
          </a:p>
        </p:txBody>
      </p:sp>
      <p:sp>
        <p:nvSpPr>
          <p:cNvPr id="79" name="TextBox 78">
            <a:extLst>
              <a:ext uri="{FF2B5EF4-FFF2-40B4-BE49-F238E27FC236}">
                <a16:creationId xmlns:a16="http://schemas.microsoft.com/office/drawing/2014/main" id="{0094F4B7-240B-1868-BB49-9AA277927CD4}"/>
              </a:ext>
            </a:extLst>
          </p:cNvPr>
          <p:cNvSpPr txBox="1"/>
          <p:nvPr/>
        </p:nvSpPr>
        <p:spPr>
          <a:xfrm>
            <a:off x="11293196" y="4792119"/>
            <a:ext cx="417102" cy="369332"/>
          </a:xfrm>
          <a:prstGeom prst="rect">
            <a:avLst/>
          </a:prstGeom>
          <a:noFill/>
        </p:spPr>
        <p:txBody>
          <a:bodyPr wrap="none" rtlCol="0">
            <a:spAutoFit/>
          </a:bodyPr>
          <a:lstStyle/>
          <a:p>
            <a:r>
              <a:rPr lang="en-US" dirty="0"/>
              <a:t>#2</a:t>
            </a:r>
          </a:p>
        </p:txBody>
      </p:sp>
      <p:sp>
        <p:nvSpPr>
          <p:cNvPr id="80" name="TextBox 79">
            <a:extLst>
              <a:ext uri="{FF2B5EF4-FFF2-40B4-BE49-F238E27FC236}">
                <a16:creationId xmlns:a16="http://schemas.microsoft.com/office/drawing/2014/main" id="{73847DF5-A01C-0F86-00AA-C6B624E3724F}"/>
              </a:ext>
            </a:extLst>
          </p:cNvPr>
          <p:cNvSpPr txBox="1"/>
          <p:nvPr/>
        </p:nvSpPr>
        <p:spPr>
          <a:xfrm>
            <a:off x="11293196" y="5099271"/>
            <a:ext cx="417102" cy="369332"/>
          </a:xfrm>
          <a:prstGeom prst="rect">
            <a:avLst/>
          </a:prstGeom>
          <a:noFill/>
        </p:spPr>
        <p:txBody>
          <a:bodyPr wrap="none" rtlCol="0">
            <a:spAutoFit/>
          </a:bodyPr>
          <a:lstStyle/>
          <a:p>
            <a:r>
              <a:rPr lang="en-US" dirty="0"/>
              <a:t>#3</a:t>
            </a:r>
          </a:p>
        </p:txBody>
      </p:sp>
      <p:sp>
        <p:nvSpPr>
          <p:cNvPr id="81" name="TextBox 80">
            <a:extLst>
              <a:ext uri="{FF2B5EF4-FFF2-40B4-BE49-F238E27FC236}">
                <a16:creationId xmlns:a16="http://schemas.microsoft.com/office/drawing/2014/main" id="{154AB64C-3F3B-3FF0-C08A-842ECFD3E2B5}"/>
              </a:ext>
            </a:extLst>
          </p:cNvPr>
          <p:cNvSpPr txBox="1"/>
          <p:nvPr/>
        </p:nvSpPr>
        <p:spPr>
          <a:xfrm>
            <a:off x="11293196" y="5406423"/>
            <a:ext cx="417102" cy="369332"/>
          </a:xfrm>
          <a:prstGeom prst="rect">
            <a:avLst/>
          </a:prstGeom>
          <a:noFill/>
        </p:spPr>
        <p:txBody>
          <a:bodyPr wrap="none" rtlCol="0">
            <a:spAutoFit/>
          </a:bodyPr>
          <a:lstStyle/>
          <a:p>
            <a:r>
              <a:rPr lang="en-US" dirty="0"/>
              <a:t>#4</a:t>
            </a:r>
          </a:p>
        </p:txBody>
      </p:sp>
      <p:sp>
        <p:nvSpPr>
          <p:cNvPr id="82" name="TextBox 81">
            <a:extLst>
              <a:ext uri="{FF2B5EF4-FFF2-40B4-BE49-F238E27FC236}">
                <a16:creationId xmlns:a16="http://schemas.microsoft.com/office/drawing/2014/main" id="{26D5DB4D-3A5E-E08F-B6D5-47DEC68995DF}"/>
              </a:ext>
            </a:extLst>
          </p:cNvPr>
          <p:cNvSpPr txBox="1"/>
          <p:nvPr/>
        </p:nvSpPr>
        <p:spPr>
          <a:xfrm>
            <a:off x="11293196" y="5713574"/>
            <a:ext cx="417102"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3558469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BAEE4-31E5-B553-482C-A2EF5D29374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5F3C557-B6A9-AF94-E5DC-48592E6B1BC3}"/>
              </a:ext>
            </a:extLst>
          </p:cNvPr>
          <p:cNvSpPr/>
          <p:nvPr/>
        </p:nvSpPr>
        <p:spPr>
          <a:xfrm>
            <a:off x="1650417" y="1618455"/>
            <a:ext cx="4896883" cy="294237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F8FB55D-CBC0-9D99-BF20-691129E8A225}"/>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15" name="TextBox 14">
            <a:extLst>
              <a:ext uri="{FF2B5EF4-FFF2-40B4-BE49-F238E27FC236}">
                <a16:creationId xmlns:a16="http://schemas.microsoft.com/office/drawing/2014/main" id="{6AB08400-A95A-397C-067E-76437E74EB3F}"/>
              </a:ext>
            </a:extLst>
          </p:cNvPr>
          <p:cNvSpPr txBox="1"/>
          <p:nvPr/>
        </p:nvSpPr>
        <p:spPr>
          <a:xfrm>
            <a:off x="1580079"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3" name="TextBox 2">
            <a:extLst>
              <a:ext uri="{FF2B5EF4-FFF2-40B4-BE49-F238E27FC236}">
                <a16:creationId xmlns:a16="http://schemas.microsoft.com/office/drawing/2014/main" id="{F7ED1871-8D8D-796C-CB3C-2F5C82753093}"/>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0x1468</a:t>
            </a:r>
          </a:p>
          <a:p>
            <a:r>
              <a:rPr lang="en-US" sz="1200" dirty="0">
                <a:solidFill>
                  <a:srgbClr val="FF0000"/>
                </a:solidFill>
                <a:latin typeface="Courier New" panose="02070309020205020404" pitchFamily="49" charset="0"/>
                <a:cs typeface="Courier New" panose="02070309020205020404" pitchFamily="49" charset="0"/>
              </a:rPr>
              <a:t>ROW 3   0x18D0</a:t>
            </a:r>
          </a:p>
          <a:p>
            <a:r>
              <a:rPr lang="en-US" sz="1200" dirty="0">
                <a:solidFill>
                  <a:srgbClr val="FF0000"/>
                </a:solidFill>
                <a:latin typeface="Courier New" panose="02070309020205020404" pitchFamily="49" charset="0"/>
                <a:cs typeface="Courier New" panose="02070309020205020404" pitchFamily="49" charset="0"/>
              </a:rPr>
              <a:t>ROW 4   0x1D38</a:t>
            </a:r>
          </a:p>
          <a:p>
            <a:r>
              <a:rPr lang="en-US" sz="1200" dirty="0">
                <a:solidFill>
                  <a:srgbClr val="FF0000"/>
                </a:solidFill>
                <a:latin typeface="Courier New" panose="02070309020205020404" pitchFamily="49" charset="0"/>
                <a:cs typeface="Courier New" panose="02070309020205020404" pitchFamily="49" charset="0"/>
              </a:rPr>
              <a:t>ROW 5   0x21A0</a:t>
            </a:r>
          </a:p>
          <a:p>
            <a:r>
              <a:rPr lang="en-US" sz="1200" dirty="0">
                <a:solidFill>
                  <a:srgbClr val="FF0000"/>
                </a:solidFill>
                <a:latin typeface="Courier New" panose="02070309020205020404" pitchFamily="49" charset="0"/>
                <a:cs typeface="Courier New" panose="02070309020205020404" pitchFamily="49" charset="0"/>
              </a:rPr>
              <a:t>ROW 6   0x2608</a:t>
            </a:r>
          </a:p>
          <a:p>
            <a:r>
              <a:rPr lang="en-US" sz="1200" dirty="0">
                <a:solidFill>
                  <a:srgbClr val="FF0000"/>
                </a:solidFill>
                <a:latin typeface="Courier New" panose="02070309020205020404" pitchFamily="49" charset="0"/>
                <a:cs typeface="Courier New" panose="02070309020205020404" pitchFamily="49" charset="0"/>
              </a:rPr>
              <a:t>ROW 7   0x2A70</a:t>
            </a:r>
          </a:p>
          <a:p>
            <a:r>
              <a:rPr lang="en-US" sz="1200" dirty="0">
                <a:solidFill>
                  <a:srgbClr val="FF0000"/>
                </a:solidFill>
                <a:latin typeface="Courier New" panose="02070309020205020404" pitchFamily="49" charset="0"/>
                <a:cs typeface="Courier New" panose="02070309020205020404" pitchFamily="49" charset="0"/>
              </a:rPr>
              <a:t>ROW 8   0x2ED8</a:t>
            </a:r>
          </a:p>
          <a:p>
            <a:r>
              <a:rPr lang="en-US" sz="1200" dirty="0">
                <a:solidFill>
                  <a:srgbClr val="FF0000"/>
                </a:solidFill>
                <a:latin typeface="Courier New" panose="02070309020205020404" pitchFamily="49" charset="0"/>
                <a:cs typeface="Courier New" panose="02070309020205020404" pitchFamily="49" charset="0"/>
              </a:rPr>
              <a:t>ROW 9   0x3340</a:t>
            </a:r>
          </a:p>
          <a:p>
            <a:r>
              <a:rPr lang="en-US" sz="1200" dirty="0">
                <a:solidFill>
                  <a:srgbClr val="FF0000"/>
                </a:solidFill>
                <a:latin typeface="Courier New" panose="02070309020205020404" pitchFamily="49" charset="0"/>
                <a:cs typeface="Courier New" panose="02070309020205020404" pitchFamily="49" charset="0"/>
              </a:rPr>
              <a:t>ROW 10  0x37A8</a:t>
            </a:r>
          </a:p>
        </p:txBody>
      </p:sp>
      <p:sp>
        <p:nvSpPr>
          <p:cNvPr id="11" name="Rectangle 10">
            <a:extLst>
              <a:ext uri="{FF2B5EF4-FFF2-40B4-BE49-F238E27FC236}">
                <a16:creationId xmlns:a16="http://schemas.microsoft.com/office/drawing/2014/main" id="{759CB8B3-DED2-8EE3-D42B-F4B89E46F630}"/>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__FF____</a:t>
            </a:r>
          </a:p>
        </p:txBody>
      </p:sp>
      <p:sp>
        <p:nvSpPr>
          <p:cNvPr id="12" name="TextBox 11">
            <a:extLst>
              <a:ext uri="{FF2B5EF4-FFF2-40B4-BE49-F238E27FC236}">
                <a16:creationId xmlns:a16="http://schemas.microsoft.com/office/drawing/2014/main" id="{69540D06-FB86-2967-B98D-9EB27326597E}"/>
              </a:ext>
            </a:extLst>
          </p:cNvPr>
          <p:cNvSpPr txBox="1"/>
          <p:nvPr/>
        </p:nvSpPr>
        <p:spPr>
          <a:xfrm>
            <a:off x="10321012" y="2114550"/>
            <a:ext cx="1575203" cy="1938992"/>
          </a:xfrm>
          <a:prstGeom prst="rect">
            <a:avLst/>
          </a:prstGeom>
          <a:noFill/>
        </p:spPr>
        <p:txBody>
          <a:bodyPr wrap="square" rtlCol="0">
            <a:spAutoFit/>
          </a:bodyPr>
          <a:lstStyle/>
          <a:p>
            <a:r>
              <a:rPr lang="en-US" sz="1200" b="1" dirty="0">
                <a:solidFill>
                  <a:srgbClr val="FFFF00"/>
                </a:solidFill>
                <a:latin typeface="Courier New" panose="02070309020205020404" pitchFamily="49" charset="0"/>
                <a:cs typeface="Courier New" panose="02070309020205020404" pitchFamily="49" charset="0"/>
              </a:rPr>
              <a:t>0x1058 </a:t>
            </a:r>
          </a:p>
          <a:p>
            <a:r>
              <a:rPr lang="en-US" sz="1200" b="1" dirty="0">
                <a:solidFill>
                  <a:srgbClr val="FFFF00"/>
                </a:solidFill>
                <a:latin typeface="Courier New" panose="02070309020205020404" pitchFamily="49" charset="0"/>
                <a:cs typeface="Courier New" panose="02070309020205020404" pitchFamily="49" charset="0"/>
              </a:rPr>
              <a:t>0x14C0</a:t>
            </a:r>
          </a:p>
          <a:p>
            <a:r>
              <a:rPr lang="en-US" sz="1200" b="1" dirty="0">
                <a:solidFill>
                  <a:srgbClr val="FFFF00"/>
                </a:solidFill>
                <a:latin typeface="Courier New" panose="02070309020205020404" pitchFamily="49" charset="0"/>
                <a:cs typeface="Courier New" panose="02070309020205020404" pitchFamily="49" charset="0"/>
              </a:rPr>
              <a:t>0x1928</a:t>
            </a:r>
          </a:p>
          <a:p>
            <a:r>
              <a:rPr lang="en-US" sz="1200" b="1" dirty="0">
                <a:solidFill>
                  <a:srgbClr val="FFFF00"/>
                </a:solidFill>
                <a:latin typeface="Courier New" panose="02070309020205020404" pitchFamily="49" charset="0"/>
                <a:cs typeface="Courier New" panose="02070309020205020404" pitchFamily="49" charset="0"/>
              </a:rPr>
              <a:t>0x1D90</a:t>
            </a:r>
          </a:p>
          <a:p>
            <a:r>
              <a:rPr lang="en-US" sz="1200" b="1" dirty="0">
                <a:solidFill>
                  <a:srgbClr val="FFFF00"/>
                </a:solidFill>
                <a:latin typeface="Courier New" panose="02070309020205020404" pitchFamily="49" charset="0"/>
                <a:cs typeface="Courier New" panose="02070309020205020404" pitchFamily="49" charset="0"/>
              </a:rPr>
              <a:t>0x21F8</a:t>
            </a:r>
          </a:p>
          <a:p>
            <a:r>
              <a:rPr lang="en-US" sz="1200" b="1" dirty="0">
                <a:solidFill>
                  <a:srgbClr val="FFFF00"/>
                </a:solidFill>
                <a:latin typeface="Courier New" panose="02070309020205020404" pitchFamily="49" charset="0"/>
                <a:cs typeface="Courier New" panose="02070309020205020404" pitchFamily="49" charset="0"/>
              </a:rPr>
              <a:t>0x2660</a:t>
            </a:r>
          </a:p>
          <a:p>
            <a:r>
              <a:rPr lang="en-US" sz="1200" b="1" dirty="0">
                <a:solidFill>
                  <a:srgbClr val="FFFF00"/>
                </a:solidFill>
                <a:latin typeface="Courier New" panose="02070309020205020404" pitchFamily="49" charset="0"/>
                <a:cs typeface="Courier New" panose="02070309020205020404" pitchFamily="49" charset="0"/>
              </a:rPr>
              <a:t>0x2AC8</a:t>
            </a:r>
          </a:p>
          <a:p>
            <a:r>
              <a:rPr lang="en-US" sz="1200" b="1" dirty="0">
                <a:solidFill>
                  <a:srgbClr val="FFFF00"/>
                </a:solidFill>
                <a:latin typeface="Courier New" panose="02070309020205020404" pitchFamily="49" charset="0"/>
                <a:cs typeface="Courier New" panose="02070309020205020404" pitchFamily="49" charset="0"/>
              </a:rPr>
              <a:t>0x2F30</a:t>
            </a:r>
          </a:p>
          <a:p>
            <a:r>
              <a:rPr lang="en-US" sz="1200" b="1" dirty="0">
                <a:solidFill>
                  <a:srgbClr val="FFFF00"/>
                </a:solidFill>
                <a:latin typeface="Courier New" panose="02070309020205020404" pitchFamily="49" charset="0"/>
                <a:cs typeface="Courier New" panose="02070309020205020404" pitchFamily="49" charset="0"/>
              </a:rPr>
              <a:t>0x3398</a:t>
            </a:r>
          </a:p>
          <a:p>
            <a:r>
              <a:rPr lang="en-US" sz="1200" b="1" dirty="0">
                <a:solidFill>
                  <a:srgbClr val="FFFF00"/>
                </a:solidFill>
                <a:latin typeface="Courier New" panose="02070309020205020404" pitchFamily="49" charset="0"/>
                <a:cs typeface="Courier New" panose="02070309020205020404" pitchFamily="49" charset="0"/>
              </a:rPr>
              <a:t>0x3800</a:t>
            </a:r>
          </a:p>
        </p:txBody>
      </p:sp>
      <p:sp>
        <p:nvSpPr>
          <p:cNvPr id="17" name="TextBox 16">
            <a:extLst>
              <a:ext uri="{FF2B5EF4-FFF2-40B4-BE49-F238E27FC236}">
                <a16:creationId xmlns:a16="http://schemas.microsoft.com/office/drawing/2014/main" id="{651B20E3-F0A9-612E-619D-AB8B57980C36}"/>
              </a:ext>
            </a:extLst>
          </p:cNvPr>
          <p:cNvSpPr txBox="1"/>
          <p:nvPr/>
        </p:nvSpPr>
        <p:spPr>
          <a:xfrm>
            <a:off x="1479415" y="860431"/>
            <a:ext cx="5067885" cy="369332"/>
          </a:xfrm>
          <a:prstGeom prst="rect">
            <a:avLst/>
          </a:prstGeom>
          <a:noFill/>
        </p:spPr>
        <p:txBody>
          <a:bodyPr wrap="square" rtlCol="0">
            <a:spAutoFit/>
          </a:bodyPr>
          <a:lstStyle/>
          <a:p>
            <a:r>
              <a:rPr lang="en-US" dirty="0"/>
              <a:t>Copy 32x “words” (2 bytes each) from RWS-to-RWS </a:t>
            </a:r>
          </a:p>
        </p:txBody>
      </p:sp>
      <p:sp>
        <p:nvSpPr>
          <p:cNvPr id="18" name="TextBox 17">
            <a:extLst>
              <a:ext uri="{FF2B5EF4-FFF2-40B4-BE49-F238E27FC236}">
                <a16:creationId xmlns:a16="http://schemas.microsoft.com/office/drawing/2014/main" id="{55032A5F-8ED9-5FED-E9C7-91439C751EB0}"/>
              </a:ext>
            </a:extLst>
          </p:cNvPr>
          <p:cNvSpPr txBox="1"/>
          <p:nvPr/>
        </p:nvSpPr>
        <p:spPr>
          <a:xfrm>
            <a:off x="6940447" y="596358"/>
            <a:ext cx="4565753" cy="1200329"/>
          </a:xfrm>
          <a:prstGeom prst="rect">
            <a:avLst/>
          </a:prstGeom>
          <a:solidFill>
            <a:srgbClr val="FFC000"/>
          </a:solidFill>
        </p:spPr>
        <p:txBody>
          <a:bodyPr wrap="square" rtlCol="0">
            <a:spAutoFit/>
          </a:bodyPr>
          <a:lstStyle/>
          <a:p>
            <a:pPr algn="ctr"/>
            <a:r>
              <a:rPr lang="en-US" dirty="0">
                <a:latin typeface="Courier New" panose="02070309020205020404" pitchFamily="49" charset="0"/>
                <a:cs typeface="Courier New" panose="02070309020205020404" pitchFamily="49" charset="0"/>
              </a:rPr>
              <a:t>“High RAM” general storage copied over to the 0x0200 addresses that are memory-mapped to the CRT display.</a:t>
            </a:r>
            <a:endParaRPr lang="en-US" dirty="0">
              <a:solidFill>
                <a:srgbClr val="FF0000"/>
              </a:solidFill>
              <a:latin typeface="Courier New" panose="02070309020205020404" pitchFamily="49" charset="0"/>
              <a:cs typeface="Courier New" panose="02070309020205020404" pitchFamily="49" charset="0"/>
            </a:endParaRPr>
          </a:p>
        </p:txBody>
      </p:sp>
      <p:sp>
        <p:nvSpPr>
          <p:cNvPr id="19" name="Rectangle 18">
            <a:extLst>
              <a:ext uri="{FF2B5EF4-FFF2-40B4-BE49-F238E27FC236}">
                <a16:creationId xmlns:a16="http://schemas.microsoft.com/office/drawing/2014/main" id="{BA4131B6-C1C3-9E89-044B-AC1D864E96D9}"/>
              </a:ext>
            </a:extLst>
          </p:cNvPr>
          <p:cNvSpPr/>
          <p:nvPr/>
        </p:nvSpPr>
        <p:spPr>
          <a:xfrm>
            <a:off x="1526281" y="1637449"/>
            <a:ext cx="164123" cy="1592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5CB93E5-5473-2185-4859-AE14E3078EE9}"/>
              </a:ext>
            </a:extLst>
          </p:cNvPr>
          <p:cNvSpPr/>
          <p:nvPr/>
        </p:nvSpPr>
        <p:spPr>
          <a:xfrm>
            <a:off x="3463039" y="2185379"/>
            <a:ext cx="164123" cy="1592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79">
            <a:extLst>
              <a:ext uri="{FF2B5EF4-FFF2-40B4-BE49-F238E27FC236}">
                <a16:creationId xmlns:a16="http://schemas.microsoft.com/office/drawing/2014/main" id="{91445A0C-8F1E-C21D-031A-780E3AA22D05}"/>
              </a:ext>
            </a:extLst>
          </p:cNvPr>
          <p:cNvCxnSpPr>
            <a:cxnSpLocks/>
            <a:stCxn id="21" idx="0"/>
            <a:endCxn id="19" idx="3"/>
          </p:cNvCxnSpPr>
          <p:nvPr/>
        </p:nvCxnSpPr>
        <p:spPr>
          <a:xfrm rot="16200000" flipV="1">
            <a:off x="2383598" y="1023875"/>
            <a:ext cx="468311" cy="1854697"/>
          </a:xfrm>
          <a:prstGeom prst="bentConnector2">
            <a:avLst/>
          </a:prstGeom>
          <a:ln w="25400">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5499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2FD1-3245-BE02-4534-B5EA7878031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D06748B-3C0D-8090-542F-FADB76B4882B}"/>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 name="Rectangle 1">
            <a:extLst>
              <a:ext uri="{FF2B5EF4-FFF2-40B4-BE49-F238E27FC236}">
                <a16:creationId xmlns:a16="http://schemas.microsoft.com/office/drawing/2014/main" id="{1EC92281-AE6B-7AC3-2EAA-86499B745B07}"/>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__FF____</a:t>
            </a:r>
          </a:p>
        </p:txBody>
      </p:sp>
      <p:sp>
        <p:nvSpPr>
          <p:cNvPr id="3" name="TextBox 2">
            <a:extLst>
              <a:ext uri="{FF2B5EF4-FFF2-40B4-BE49-F238E27FC236}">
                <a16:creationId xmlns:a16="http://schemas.microsoft.com/office/drawing/2014/main" id="{D9027CFB-254E-3A8D-86A9-32D5E2CC5593}"/>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0x1468</a:t>
            </a:r>
          </a:p>
          <a:p>
            <a:r>
              <a:rPr lang="en-US" sz="1200" dirty="0">
                <a:solidFill>
                  <a:srgbClr val="FF0000"/>
                </a:solidFill>
                <a:latin typeface="Courier New" panose="02070309020205020404" pitchFamily="49" charset="0"/>
                <a:cs typeface="Courier New" panose="02070309020205020404" pitchFamily="49" charset="0"/>
              </a:rPr>
              <a:t>ROW 3   0x18D0</a:t>
            </a:r>
          </a:p>
          <a:p>
            <a:r>
              <a:rPr lang="en-US" sz="1200" dirty="0">
                <a:solidFill>
                  <a:srgbClr val="FF0000"/>
                </a:solidFill>
                <a:latin typeface="Courier New" panose="02070309020205020404" pitchFamily="49" charset="0"/>
                <a:cs typeface="Courier New" panose="02070309020205020404" pitchFamily="49" charset="0"/>
              </a:rPr>
              <a:t>ROW 4   0x1D38</a:t>
            </a:r>
          </a:p>
          <a:p>
            <a:r>
              <a:rPr lang="en-US" sz="1200" dirty="0">
                <a:solidFill>
                  <a:srgbClr val="FF0000"/>
                </a:solidFill>
                <a:latin typeface="Courier New" panose="02070309020205020404" pitchFamily="49" charset="0"/>
                <a:cs typeface="Courier New" panose="02070309020205020404" pitchFamily="49" charset="0"/>
              </a:rPr>
              <a:t>ROW 5   0x21A0</a:t>
            </a:r>
          </a:p>
          <a:p>
            <a:r>
              <a:rPr lang="en-US" sz="1200" dirty="0">
                <a:solidFill>
                  <a:srgbClr val="FF0000"/>
                </a:solidFill>
                <a:latin typeface="Courier New" panose="02070309020205020404" pitchFamily="49" charset="0"/>
                <a:cs typeface="Courier New" panose="02070309020205020404" pitchFamily="49" charset="0"/>
              </a:rPr>
              <a:t>ROW 6   0x2608</a:t>
            </a:r>
          </a:p>
          <a:p>
            <a:r>
              <a:rPr lang="en-US" sz="1200" dirty="0">
                <a:solidFill>
                  <a:srgbClr val="FF0000"/>
                </a:solidFill>
                <a:latin typeface="Courier New" panose="02070309020205020404" pitchFamily="49" charset="0"/>
                <a:cs typeface="Courier New" panose="02070309020205020404" pitchFamily="49" charset="0"/>
              </a:rPr>
              <a:t>ROW 7   0x2A70</a:t>
            </a:r>
          </a:p>
          <a:p>
            <a:r>
              <a:rPr lang="en-US" sz="1200" dirty="0">
                <a:solidFill>
                  <a:srgbClr val="FF0000"/>
                </a:solidFill>
                <a:latin typeface="Courier New" panose="02070309020205020404" pitchFamily="49" charset="0"/>
                <a:cs typeface="Courier New" panose="02070309020205020404" pitchFamily="49" charset="0"/>
              </a:rPr>
              <a:t>ROW 8   0x2ED8</a:t>
            </a:r>
          </a:p>
          <a:p>
            <a:r>
              <a:rPr lang="en-US" sz="1200" dirty="0">
                <a:solidFill>
                  <a:srgbClr val="FF0000"/>
                </a:solidFill>
                <a:latin typeface="Courier New" panose="02070309020205020404" pitchFamily="49" charset="0"/>
                <a:cs typeface="Courier New" panose="02070309020205020404" pitchFamily="49" charset="0"/>
              </a:rPr>
              <a:t>ROW 9   0x3340</a:t>
            </a:r>
          </a:p>
          <a:p>
            <a:r>
              <a:rPr lang="en-US" sz="1200" dirty="0">
                <a:solidFill>
                  <a:srgbClr val="FF0000"/>
                </a:solidFill>
                <a:latin typeface="Courier New" panose="02070309020205020404" pitchFamily="49" charset="0"/>
                <a:cs typeface="Courier New" panose="02070309020205020404" pitchFamily="49" charset="0"/>
              </a:rPr>
              <a:t>ROW 10  0x37A8</a:t>
            </a:r>
          </a:p>
        </p:txBody>
      </p:sp>
      <p:sp>
        <p:nvSpPr>
          <p:cNvPr id="6" name="TextBox 5">
            <a:extLst>
              <a:ext uri="{FF2B5EF4-FFF2-40B4-BE49-F238E27FC236}">
                <a16:creationId xmlns:a16="http://schemas.microsoft.com/office/drawing/2014/main" id="{E3A09A0B-D9EC-AAB6-CB1F-D9487E29C63D}"/>
              </a:ext>
            </a:extLst>
          </p:cNvPr>
          <p:cNvSpPr txBox="1"/>
          <p:nvPr/>
        </p:nvSpPr>
        <p:spPr>
          <a:xfrm>
            <a:off x="3403017" y="4670159"/>
            <a:ext cx="1575203" cy="1938992"/>
          </a:xfrm>
          <a:prstGeom prst="rect">
            <a:avLst/>
          </a:prstGeom>
          <a:noFill/>
        </p:spPr>
        <p:txBody>
          <a:bodyPr wrap="square" rtlCol="0">
            <a:spAutoFit/>
          </a:bodyPr>
          <a:lstStyle/>
          <a:p>
            <a:r>
              <a:rPr lang="en-US" sz="1200" b="1" dirty="0">
                <a:latin typeface="Courier New" panose="02070309020205020404" pitchFamily="49" charset="0"/>
                <a:cs typeface="Courier New" panose="02070309020205020404" pitchFamily="49" charset="0"/>
              </a:rPr>
              <a:t>0x1000 </a:t>
            </a:r>
          </a:p>
          <a:p>
            <a:r>
              <a:rPr lang="en-US" sz="1200" b="1" dirty="0">
                <a:latin typeface="Courier New" panose="02070309020205020404" pitchFamily="49" charset="0"/>
                <a:cs typeface="Courier New" panose="02070309020205020404" pitchFamily="49" charset="0"/>
              </a:rPr>
              <a:t>0x1468</a:t>
            </a:r>
          </a:p>
          <a:p>
            <a:r>
              <a:rPr lang="en-US" sz="1200" b="1" dirty="0">
                <a:latin typeface="Courier New" panose="02070309020205020404" pitchFamily="49" charset="0"/>
                <a:cs typeface="Courier New" panose="02070309020205020404" pitchFamily="49" charset="0"/>
              </a:rPr>
              <a:t>0x18D0</a:t>
            </a:r>
          </a:p>
          <a:p>
            <a:r>
              <a:rPr lang="en-US" sz="1200" b="1" dirty="0">
                <a:latin typeface="Courier New" panose="02070309020205020404" pitchFamily="49" charset="0"/>
                <a:cs typeface="Courier New" panose="02070309020205020404" pitchFamily="49" charset="0"/>
              </a:rPr>
              <a:t>0x1D38</a:t>
            </a:r>
          </a:p>
          <a:p>
            <a:r>
              <a:rPr lang="en-US" sz="1200" b="1" dirty="0">
                <a:latin typeface="Courier New" panose="02070309020205020404" pitchFamily="49" charset="0"/>
                <a:cs typeface="Courier New" panose="02070309020205020404" pitchFamily="49" charset="0"/>
              </a:rPr>
              <a:t>0x21A0</a:t>
            </a:r>
          </a:p>
          <a:p>
            <a:r>
              <a:rPr lang="en-US" sz="1200" b="1" dirty="0">
                <a:latin typeface="Courier New" panose="02070309020205020404" pitchFamily="49" charset="0"/>
                <a:cs typeface="Courier New" panose="02070309020205020404" pitchFamily="49" charset="0"/>
              </a:rPr>
              <a:t>0x2608</a:t>
            </a:r>
          </a:p>
          <a:p>
            <a:r>
              <a:rPr lang="en-US" sz="1200" b="1" dirty="0">
                <a:latin typeface="Courier New" panose="02070309020205020404" pitchFamily="49" charset="0"/>
                <a:cs typeface="Courier New" panose="02070309020205020404" pitchFamily="49" charset="0"/>
              </a:rPr>
              <a:t>0x2A70</a:t>
            </a:r>
          </a:p>
          <a:p>
            <a:r>
              <a:rPr lang="en-US" sz="1200" b="1" dirty="0">
                <a:latin typeface="Courier New" panose="02070309020205020404" pitchFamily="49" charset="0"/>
                <a:cs typeface="Courier New" panose="02070309020205020404" pitchFamily="49" charset="0"/>
              </a:rPr>
              <a:t>0x2ED8</a:t>
            </a:r>
          </a:p>
          <a:p>
            <a:r>
              <a:rPr lang="en-US" sz="1200" b="1" dirty="0">
                <a:latin typeface="Courier New" panose="02070309020205020404" pitchFamily="49" charset="0"/>
                <a:cs typeface="Courier New" panose="02070309020205020404" pitchFamily="49" charset="0"/>
              </a:rPr>
              <a:t>0x3340</a:t>
            </a:r>
          </a:p>
          <a:p>
            <a:r>
              <a:rPr lang="en-US" sz="1200" b="1" dirty="0">
                <a:latin typeface="Courier New" panose="02070309020205020404" pitchFamily="49" charset="0"/>
                <a:cs typeface="Courier New" panose="02070309020205020404" pitchFamily="49" charset="0"/>
              </a:rPr>
              <a:t>0x37A8</a:t>
            </a:r>
          </a:p>
        </p:txBody>
      </p:sp>
      <p:sp>
        <p:nvSpPr>
          <p:cNvPr id="4" name="Rectangle 3">
            <a:extLst>
              <a:ext uri="{FF2B5EF4-FFF2-40B4-BE49-F238E27FC236}">
                <a16:creationId xmlns:a16="http://schemas.microsoft.com/office/drawing/2014/main" id="{F8435BDB-751C-73B1-00CC-510291FCED27}"/>
              </a:ext>
            </a:extLst>
          </p:cNvPr>
          <p:cNvSpPr/>
          <p:nvPr/>
        </p:nvSpPr>
        <p:spPr>
          <a:xfrm>
            <a:off x="3481994" y="1605207"/>
            <a:ext cx="4896883" cy="2942370"/>
          </a:xfrm>
          <a:prstGeom prst="rect">
            <a:avLst/>
          </a:prstGeom>
          <a:solidFill>
            <a:schemeClr val="bg2">
              <a:lumMod val="25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FAB7889-F39E-61FF-E32A-08DDD95AF902}"/>
              </a:ext>
            </a:extLst>
          </p:cNvPr>
          <p:cNvSpPr txBox="1"/>
          <p:nvPr/>
        </p:nvSpPr>
        <p:spPr>
          <a:xfrm>
            <a:off x="34030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10" name="TextBox 9">
            <a:extLst>
              <a:ext uri="{FF2B5EF4-FFF2-40B4-BE49-F238E27FC236}">
                <a16:creationId xmlns:a16="http://schemas.microsoft.com/office/drawing/2014/main" id="{7A6155CD-5587-8B0B-9721-C3B054D4CBB6}"/>
              </a:ext>
            </a:extLst>
          </p:cNvPr>
          <p:cNvSpPr txBox="1"/>
          <p:nvPr/>
        </p:nvSpPr>
        <p:spPr>
          <a:xfrm>
            <a:off x="2152630" y="1745218"/>
            <a:ext cx="846707" cy="369332"/>
          </a:xfrm>
          <a:prstGeom prst="rect">
            <a:avLst/>
          </a:prstGeom>
          <a:noFill/>
        </p:spPr>
        <p:txBody>
          <a:bodyPr wrap="none" rtlCol="0">
            <a:spAutoFit/>
          </a:bodyPr>
          <a:lstStyle/>
          <a:p>
            <a:r>
              <a:rPr lang="en-US" dirty="0"/>
              <a:t>(initial)</a:t>
            </a:r>
          </a:p>
        </p:txBody>
      </p:sp>
      <p:sp>
        <p:nvSpPr>
          <p:cNvPr id="11" name="TextBox 10">
            <a:extLst>
              <a:ext uri="{FF2B5EF4-FFF2-40B4-BE49-F238E27FC236}">
                <a16:creationId xmlns:a16="http://schemas.microsoft.com/office/drawing/2014/main" id="{2909ECBB-BCFB-DB41-CC51-69A49A667A18}"/>
              </a:ext>
            </a:extLst>
          </p:cNvPr>
          <p:cNvSpPr txBox="1"/>
          <p:nvPr/>
        </p:nvSpPr>
        <p:spPr>
          <a:xfrm>
            <a:off x="2194840" y="5270323"/>
            <a:ext cx="1078629" cy="369332"/>
          </a:xfrm>
          <a:prstGeom prst="rect">
            <a:avLst/>
          </a:prstGeom>
          <a:noFill/>
        </p:spPr>
        <p:txBody>
          <a:bodyPr wrap="none" rtlCol="0">
            <a:spAutoFit/>
          </a:bodyPr>
          <a:lstStyle/>
          <a:p>
            <a:r>
              <a:rPr lang="en-US" dirty="0"/>
              <a:t>(working)</a:t>
            </a:r>
          </a:p>
        </p:txBody>
      </p:sp>
    </p:spTree>
    <p:extLst>
      <p:ext uri="{BB962C8B-B14F-4D97-AF65-F5344CB8AC3E}">
        <p14:creationId xmlns:p14="http://schemas.microsoft.com/office/powerpoint/2010/main" val="2482556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58B90-6756-46A2-7C8B-FA1A4553E4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AC457C-4B62-B48D-9C37-0C92CBF11E75}"/>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 name="Rectangle 1">
            <a:extLst>
              <a:ext uri="{FF2B5EF4-FFF2-40B4-BE49-F238E27FC236}">
                <a16:creationId xmlns:a16="http://schemas.microsoft.com/office/drawing/2014/main" id="{C2001238-8BCB-0282-F043-D33B2812B091}"/>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__FF____</a:t>
            </a:r>
          </a:p>
        </p:txBody>
      </p:sp>
      <p:sp>
        <p:nvSpPr>
          <p:cNvPr id="3" name="TextBox 2">
            <a:extLst>
              <a:ext uri="{FF2B5EF4-FFF2-40B4-BE49-F238E27FC236}">
                <a16:creationId xmlns:a16="http://schemas.microsoft.com/office/drawing/2014/main" id="{10E46481-345D-0BCA-0D3F-42EDA4C8DDF4}"/>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0x1468</a:t>
            </a:r>
          </a:p>
          <a:p>
            <a:r>
              <a:rPr lang="en-US" sz="1200" dirty="0">
                <a:solidFill>
                  <a:srgbClr val="FF0000"/>
                </a:solidFill>
                <a:latin typeface="Courier New" panose="02070309020205020404" pitchFamily="49" charset="0"/>
                <a:cs typeface="Courier New" panose="02070309020205020404" pitchFamily="49" charset="0"/>
              </a:rPr>
              <a:t>ROW 3   0x18D0</a:t>
            </a:r>
          </a:p>
          <a:p>
            <a:r>
              <a:rPr lang="en-US" sz="1200" dirty="0">
                <a:solidFill>
                  <a:srgbClr val="FF0000"/>
                </a:solidFill>
                <a:latin typeface="Courier New" panose="02070309020205020404" pitchFamily="49" charset="0"/>
                <a:cs typeface="Courier New" panose="02070309020205020404" pitchFamily="49" charset="0"/>
              </a:rPr>
              <a:t>ROW 4   0x1D38</a:t>
            </a:r>
          </a:p>
          <a:p>
            <a:r>
              <a:rPr lang="en-US" sz="1200" dirty="0">
                <a:solidFill>
                  <a:srgbClr val="FF0000"/>
                </a:solidFill>
                <a:latin typeface="Courier New" panose="02070309020205020404" pitchFamily="49" charset="0"/>
                <a:cs typeface="Courier New" panose="02070309020205020404" pitchFamily="49" charset="0"/>
              </a:rPr>
              <a:t>ROW 5   0x21A0</a:t>
            </a:r>
          </a:p>
          <a:p>
            <a:r>
              <a:rPr lang="en-US" sz="1200" dirty="0">
                <a:solidFill>
                  <a:srgbClr val="FF0000"/>
                </a:solidFill>
                <a:latin typeface="Courier New" panose="02070309020205020404" pitchFamily="49" charset="0"/>
                <a:cs typeface="Courier New" panose="02070309020205020404" pitchFamily="49" charset="0"/>
              </a:rPr>
              <a:t>ROW 6   0x2608</a:t>
            </a:r>
          </a:p>
          <a:p>
            <a:r>
              <a:rPr lang="en-US" sz="1200" dirty="0">
                <a:solidFill>
                  <a:srgbClr val="FF0000"/>
                </a:solidFill>
                <a:latin typeface="Courier New" panose="02070309020205020404" pitchFamily="49" charset="0"/>
                <a:cs typeface="Courier New" panose="02070309020205020404" pitchFamily="49" charset="0"/>
              </a:rPr>
              <a:t>ROW 7   0x2A70</a:t>
            </a:r>
          </a:p>
          <a:p>
            <a:r>
              <a:rPr lang="en-US" sz="1200" dirty="0">
                <a:solidFill>
                  <a:srgbClr val="FF0000"/>
                </a:solidFill>
                <a:latin typeface="Courier New" panose="02070309020205020404" pitchFamily="49" charset="0"/>
                <a:cs typeface="Courier New" panose="02070309020205020404" pitchFamily="49" charset="0"/>
              </a:rPr>
              <a:t>ROW 8   0x2ED8</a:t>
            </a:r>
          </a:p>
          <a:p>
            <a:r>
              <a:rPr lang="en-US" sz="1200" dirty="0">
                <a:solidFill>
                  <a:srgbClr val="FF0000"/>
                </a:solidFill>
                <a:latin typeface="Courier New" panose="02070309020205020404" pitchFamily="49" charset="0"/>
                <a:cs typeface="Courier New" panose="02070309020205020404" pitchFamily="49" charset="0"/>
              </a:rPr>
              <a:t>ROW 9   0x3340</a:t>
            </a:r>
          </a:p>
          <a:p>
            <a:r>
              <a:rPr lang="en-US" sz="1200" dirty="0">
                <a:solidFill>
                  <a:srgbClr val="FF0000"/>
                </a:solidFill>
                <a:latin typeface="Courier New" panose="02070309020205020404" pitchFamily="49" charset="0"/>
                <a:cs typeface="Courier New" panose="02070309020205020404" pitchFamily="49" charset="0"/>
              </a:rPr>
              <a:t>ROW 10  0x37A8</a:t>
            </a:r>
          </a:p>
        </p:txBody>
      </p:sp>
      <p:sp>
        <p:nvSpPr>
          <p:cNvPr id="6" name="TextBox 5">
            <a:extLst>
              <a:ext uri="{FF2B5EF4-FFF2-40B4-BE49-F238E27FC236}">
                <a16:creationId xmlns:a16="http://schemas.microsoft.com/office/drawing/2014/main" id="{277A6C36-D872-F7D5-58F8-B73E98649F83}"/>
              </a:ext>
            </a:extLst>
          </p:cNvPr>
          <p:cNvSpPr txBox="1"/>
          <p:nvPr/>
        </p:nvSpPr>
        <p:spPr>
          <a:xfrm>
            <a:off x="3860217" y="4670159"/>
            <a:ext cx="1575203" cy="1938992"/>
          </a:xfrm>
          <a:prstGeom prst="rect">
            <a:avLst/>
          </a:prstGeom>
          <a:noFill/>
        </p:spPr>
        <p:txBody>
          <a:bodyPr wrap="square" rtlCol="0">
            <a:spAutoFit/>
          </a:bodyPr>
          <a:lstStyle/>
          <a:p>
            <a:r>
              <a:rPr lang="en-US" sz="1200" b="1" dirty="0">
                <a:latin typeface="Courier New" panose="02070309020205020404" pitchFamily="49" charset="0"/>
                <a:cs typeface="Courier New" panose="02070309020205020404" pitchFamily="49" charset="0"/>
              </a:rPr>
              <a:t>0x1006 </a:t>
            </a:r>
          </a:p>
          <a:p>
            <a:r>
              <a:rPr lang="en-US" sz="1200" b="1" dirty="0">
                <a:latin typeface="Courier New" panose="02070309020205020404" pitchFamily="49" charset="0"/>
                <a:cs typeface="Courier New" panose="02070309020205020404" pitchFamily="49" charset="0"/>
              </a:rPr>
              <a:t>0x146E</a:t>
            </a:r>
          </a:p>
          <a:p>
            <a:r>
              <a:rPr lang="en-US" sz="1200" b="1" dirty="0">
                <a:latin typeface="Courier New" panose="02070309020205020404" pitchFamily="49" charset="0"/>
                <a:cs typeface="Courier New" panose="02070309020205020404" pitchFamily="49" charset="0"/>
              </a:rPr>
              <a:t>0x18D6</a:t>
            </a:r>
          </a:p>
          <a:p>
            <a:r>
              <a:rPr lang="en-US" sz="1200" b="1" dirty="0">
                <a:latin typeface="Courier New" panose="02070309020205020404" pitchFamily="49" charset="0"/>
                <a:cs typeface="Courier New" panose="02070309020205020404" pitchFamily="49" charset="0"/>
              </a:rPr>
              <a:t>0x1D3E</a:t>
            </a:r>
          </a:p>
          <a:p>
            <a:r>
              <a:rPr lang="en-US" sz="1200" b="1" dirty="0">
                <a:latin typeface="Courier New" panose="02070309020205020404" pitchFamily="49" charset="0"/>
                <a:cs typeface="Courier New" panose="02070309020205020404" pitchFamily="49" charset="0"/>
              </a:rPr>
              <a:t>0x21A6</a:t>
            </a:r>
          </a:p>
          <a:p>
            <a:r>
              <a:rPr lang="en-US" sz="1200" b="1" dirty="0">
                <a:latin typeface="Courier New" panose="02070309020205020404" pitchFamily="49" charset="0"/>
                <a:cs typeface="Courier New" panose="02070309020205020404" pitchFamily="49" charset="0"/>
              </a:rPr>
              <a:t>0x260E</a:t>
            </a:r>
          </a:p>
          <a:p>
            <a:r>
              <a:rPr lang="en-US" sz="1200" b="1" dirty="0">
                <a:latin typeface="Courier New" panose="02070309020205020404" pitchFamily="49" charset="0"/>
                <a:cs typeface="Courier New" panose="02070309020205020404" pitchFamily="49" charset="0"/>
              </a:rPr>
              <a:t>0x2A76</a:t>
            </a:r>
          </a:p>
          <a:p>
            <a:r>
              <a:rPr lang="en-US" sz="1200" b="1" dirty="0">
                <a:latin typeface="Courier New" panose="02070309020205020404" pitchFamily="49" charset="0"/>
                <a:cs typeface="Courier New" panose="02070309020205020404" pitchFamily="49" charset="0"/>
              </a:rPr>
              <a:t>0x2EDE</a:t>
            </a:r>
          </a:p>
          <a:p>
            <a:r>
              <a:rPr lang="en-US" sz="1200" b="1" dirty="0">
                <a:latin typeface="Courier New" panose="02070309020205020404" pitchFamily="49" charset="0"/>
                <a:cs typeface="Courier New" panose="02070309020205020404" pitchFamily="49" charset="0"/>
              </a:rPr>
              <a:t>0x3346</a:t>
            </a:r>
          </a:p>
          <a:p>
            <a:r>
              <a:rPr lang="en-US" sz="1200" b="1" dirty="0">
                <a:latin typeface="Courier New" panose="02070309020205020404" pitchFamily="49" charset="0"/>
                <a:cs typeface="Courier New" panose="02070309020205020404" pitchFamily="49" charset="0"/>
              </a:rPr>
              <a:t>0x37AE</a:t>
            </a:r>
          </a:p>
        </p:txBody>
      </p:sp>
      <p:sp>
        <p:nvSpPr>
          <p:cNvPr id="20" name="TextBox 19">
            <a:extLst>
              <a:ext uri="{FF2B5EF4-FFF2-40B4-BE49-F238E27FC236}">
                <a16:creationId xmlns:a16="http://schemas.microsoft.com/office/drawing/2014/main" id="{670A2601-B5D5-89EF-54C1-4AEDAD1409F2}"/>
              </a:ext>
            </a:extLst>
          </p:cNvPr>
          <p:cNvSpPr txBox="1"/>
          <p:nvPr/>
        </p:nvSpPr>
        <p:spPr>
          <a:xfrm>
            <a:off x="38602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5" name="Rectangle 4">
            <a:extLst>
              <a:ext uri="{FF2B5EF4-FFF2-40B4-BE49-F238E27FC236}">
                <a16:creationId xmlns:a16="http://schemas.microsoft.com/office/drawing/2014/main" id="{9F2D7ED1-6074-859B-9AEB-0D518DA3B184}"/>
              </a:ext>
            </a:extLst>
          </p:cNvPr>
          <p:cNvSpPr/>
          <p:nvPr/>
        </p:nvSpPr>
        <p:spPr>
          <a:xfrm>
            <a:off x="3926310" y="1605755"/>
            <a:ext cx="4896883" cy="2942370"/>
          </a:xfrm>
          <a:prstGeom prst="rect">
            <a:avLst/>
          </a:prstGeom>
          <a:solidFill>
            <a:schemeClr val="bg2">
              <a:lumMod val="25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A86E26D-B26D-8B00-BA7F-702D825D9437}"/>
              </a:ext>
            </a:extLst>
          </p:cNvPr>
          <p:cNvSpPr txBox="1"/>
          <p:nvPr/>
        </p:nvSpPr>
        <p:spPr>
          <a:xfrm>
            <a:off x="2194840" y="5270323"/>
            <a:ext cx="1078629" cy="369332"/>
          </a:xfrm>
          <a:prstGeom prst="rect">
            <a:avLst/>
          </a:prstGeom>
          <a:noFill/>
        </p:spPr>
        <p:txBody>
          <a:bodyPr wrap="none" rtlCol="0">
            <a:spAutoFit/>
          </a:bodyPr>
          <a:lstStyle/>
          <a:p>
            <a:r>
              <a:rPr lang="en-US" dirty="0"/>
              <a:t>(working)</a:t>
            </a:r>
          </a:p>
        </p:txBody>
      </p:sp>
      <p:sp>
        <p:nvSpPr>
          <p:cNvPr id="9" name="TextBox 8">
            <a:extLst>
              <a:ext uri="{FF2B5EF4-FFF2-40B4-BE49-F238E27FC236}">
                <a16:creationId xmlns:a16="http://schemas.microsoft.com/office/drawing/2014/main" id="{878D7091-4DCD-709F-E605-D6C0915FB088}"/>
              </a:ext>
            </a:extLst>
          </p:cNvPr>
          <p:cNvSpPr txBox="1"/>
          <p:nvPr/>
        </p:nvSpPr>
        <p:spPr>
          <a:xfrm>
            <a:off x="2152630" y="1745218"/>
            <a:ext cx="846707" cy="369332"/>
          </a:xfrm>
          <a:prstGeom prst="rect">
            <a:avLst/>
          </a:prstGeom>
          <a:noFill/>
        </p:spPr>
        <p:txBody>
          <a:bodyPr wrap="none" rtlCol="0">
            <a:spAutoFit/>
          </a:bodyPr>
          <a:lstStyle/>
          <a:p>
            <a:r>
              <a:rPr lang="en-US" dirty="0"/>
              <a:t>(initial)</a:t>
            </a:r>
          </a:p>
        </p:txBody>
      </p:sp>
    </p:spTree>
    <p:extLst>
      <p:ext uri="{BB962C8B-B14F-4D97-AF65-F5344CB8AC3E}">
        <p14:creationId xmlns:p14="http://schemas.microsoft.com/office/powerpoint/2010/main" val="1357460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E683A-3B2A-F939-9A48-A7F8B34E37C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694C601-D6E8-2970-466D-5D94593EAD04}"/>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 name="Rectangle 1">
            <a:extLst>
              <a:ext uri="{FF2B5EF4-FFF2-40B4-BE49-F238E27FC236}">
                <a16:creationId xmlns:a16="http://schemas.microsoft.com/office/drawing/2014/main" id="{40CE0148-2EEC-30F1-B8FF-D1411366FC6B}"/>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__FF____</a:t>
            </a:r>
          </a:p>
        </p:txBody>
      </p:sp>
      <p:sp>
        <p:nvSpPr>
          <p:cNvPr id="3" name="TextBox 2">
            <a:extLst>
              <a:ext uri="{FF2B5EF4-FFF2-40B4-BE49-F238E27FC236}">
                <a16:creationId xmlns:a16="http://schemas.microsoft.com/office/drawing/2014/main" id="{A2BC66D5-06D5-6102-FBC8-62026A65D240}"/>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0x1468</a:t>
            </a:r>
          </a:p>
          <a:p>
            <a:r>
              <a:rPr lang="en-US" sz="1200" dirty="0">
                <a:solidFill>
                  <a:srgbClr val="FF0000"/>
                </a:solidFill>
                <a:latin typeface="Courier New" panose="02070309020205020404" pitchFamily="49" charset="0"/>
                <a:cs typeface="Courier New" panose="02070309020205020404" pitchFamily="49" charset="0"/>
              </a:rPr>
              <a:t>ROW 3   0x18D0</a:t>
            </a:r>
          </a:p>
          <a:p>
            <a:r>
              <a:rPr lang="en-US" sz="1200" dirty="0">
                <a:solidFill>
                  <a:srgbClr val="FF0000"/>
                </a:solidFill>
                <a:latin typeface="Courier New" panose="02070309020205020404" pitchFamily="49" charset="0"/>
                <a:cs typeface="Courier New" panose="02070309020205020404" pitchFamily="49" charset="0"/>
              </a:rPr>
              <a:t>ROW 4   0x1D38</a:t>
            </a:r>
          </a:p>
          <a:p>
            <a:r>
              <a:rPr lang="en-US" sz="1200" dirty="0">
                <a:solidFill>
                  <a:srgbClr val="FF0000"/>
                </a:solidFill>
                <a:latin typeface="Courier New" panose="02070309020205020404" pitchFamily="49" charset="0"/>
                <a:cs typeface="Courier New" panose="02070309020205020404" pitchFamily="49" charset="0"/>
              </a:rPr>
              <a:t>ROW 5   0x21A0</a:t>
            </a:r>
          </a:p>
          <a:p>
            <a:r>
              <a:rPr lang="en-US" sz="1200" dirty="0">
                <a:solidFill>
                  <a:srgbClr val="FF0000"/>
                </a:solidFill>
                <a:latin typeface="Courier New" panose="02070309020205020404" pitchFamily="49" charset="0"/>
                <a:cs typeface="Courier New" panose="02070309020205020404" pitchFamily="49" charset="0"/>
              </a:rPr>
              <a:t>ROW 6   0x2608</a:t>
            </a:r>
          </a:p>
          <a:p>
            <a:r>
              <a:rPr lang="en-US" sz="1200" dirty="0">
                <a:solidFill>
                  <a:srgbClr val="FF0000"/>
                </a:solidFill>
                <a:latin typeface="Courier New" panose="02070309020205020404" pitchFamily="49" charset="0"/>
                <a:cs typeface="Courier New" panose="02070309020205020404" pitchFamily="49" charset="0"/>
              </a:rPr>
              <a:t>ROW 7   0x2A70</a:t>
            </a:r>
          </a:p>
          <a:p>
            <a:r>
              <a:rPr lang="en-US" sz="1200" dirty="0">
                <a:solidFill>
                  <a:srgbClr val="FF0000"/>
                </a:solidFill>
                <a:latin typeface="Courier New" panose="02070309020205020404" pitchFamily="49" charset="0"/>
                <a:cs typeface="Courier New" panose="02070309020205020404" pitchFamily="49" charset="0"/>
              </a:rPr>
              <a:t>ROW 8   0x2ED8</a:t>
            </a:r>
          </a:p>
          <a:p>
            <a:r>
              <a:rPr lang="en-US" sz="1200" dirty="0">
                <a:solidFill>
                  <a:srgbClr val="FF0000"/>
                </a:solidFill>
                <a:latin typeface="Courier New" panose="02070309020205020404" pitchFamily="49" charset="0"/>
                <a:cs typeface="Courier New" panose="02070309020205020404" pitchFamily="49" charset="0"/>
              </a:rPr>
              <a:t>ROW 9   0x3340</a:t>
            </a:r>
          </a:p>
          <a:p>
            <a:r>
              <a:rPr lang="en-US" sz="1200" dirty="0">
                <a:solidFill>
                  <a:srgbClr val="FF0000"/>
                </a:solidFill>
                <a:latin typeface="Courier New" panose="02070309020205020404" pitchFamily="49" charset="0"/>
                <a:cs typeface="Courier New" panose="02070309020205020404" pitchFamily="49" charset="0"/>
              </a:rPr>
              <a:t>ROW 10  0x37A8</a:t>
            </a:r>
          </a:p>
        </p:txBody>
      </p:sp>
      <p:sp>
        <p:nvSpPr>
          <p:cNvPr id="6" name="TextBox 5">
            <a:extLst>
              <a:ext uri="{FF2B5EF4-FFF2-40B4-BE49-F238E27FC236}">
                <a16:creationId xmlns:a16="http://schemas.microsoft.com/office/drawing/2014/main" id="{3152BC6D-2A55-A655-B292-121E4AF56939}"/>
              </a:ext>
            </a:extLst>
          </p:cNvPr>
          <p:cNvSpPr txBox="1"/>
          <p:nvPr/>
        </p:nvSpPr>
        <p:spPr>
          <a:xfrm>
            <a:off x="4431717" y="4670159"/>
            <a:ext cx="1575203" cy="1938992"/>
          </a:xfrm>
          <a:prstGeom prst="rect">
            <a:avLst/>
          </a:prstGeom>
          <a:noFill/>
        </p:spPr>
        <p:txBody>
          <a:bodyPr wrap="square" rtlCol="0">
            <a:spAutoFit/>
          </a:bodyPr>
          <a:lstStyle/>
          <a:p>
            <a:r>
              <a:rPr lang="en-US" sz="1200" b="1" dirty="0">
                <a:latin typeface="Courier New" panose="02070309020205020404" pitchFamily="49" charset="0"/>
                <a:cs typeface="Courier New" panose="02070309020205020404" pitchFamily="49" charset="0"/>
              </a:rPr>
              <a:t>0x100E </a:t>
            </a:r>
          </a:p>
          <a:p>
            <a:r>
              <a:rPr lang="en-US" sz="1200" b="1" dirty="0">
                <a:latin typeface="Courier New" panose="02070309020205020404" pitchFamily="49" charset="0"/>
                <a:cs typeface="Courier New" panose="02070309020205020404" pitchFamily="49" charset="0"/>
              </a:rPr>
              <a:t>0x1476</a:t>
            </a:r>
          </a:p>
          <a:p>
            <a:r>
              <a:rPr lang="en-US" sz="1200" b="1" dirty="0">
                <a:latin typeface="Courier New" panose="02070309020205020404" pitchFamily="49" charset="0"/>
                <a:cs typeface="Courier New" panose="02070309020205020404" pitchFamily="49" charset="0"/>
              </a:rPr>
              <a:t>0x18DE</a:t>
            </a:r>
          </a:p>
          <a:p>
            <a:r>
              <a:rPr lang="en-US" sz="1200" b="1" dirty="0">
                <a:latin typeface="Courier New" panose="02070309020205020404" pitchFamily="49" charset="0"/>
                <a:cs typeface="Courier New" panose="02070309020205020404" pitchFamily="49" charset="0"/>
              </a:rPr>
              <a:t>0x1D46</a:t>
            </a:r>
          </a:p>
          <a:p>
            <a:r>
              <a:rPr lang="en-US" sz="1200" b="1" dirty="0">
                <a:latin typeface="Courier New" panose="02070309020205020404" pitchFamily="49" charset="0"/>
                <a:cs typeface="Courier New" panose="02070309020205020404" pitchFamily="49" charset="0"/>
              </a:rPr>
              <a:t>0x21A6</a:t>
            </a:r>
          </a:p>
          <a:p>
            <a:r>
              <a:rPr lang="en-US" sz="1200" b="1" dirty="0">
                <a:latin typeface="Courier New" panose="02070309020205020404" pitchFamily="49" charset="0"/>
                <a:cs typeface="Courier New" panose="02070309020205020404" pitchFamily="49" charset="0"/>
              </a:rPr>
              <a:t>0x21AE</a:t>
            </a:r>
          </a:p>
          <a:p>
            <a:r>
              <a:rPr lang="en-US" sz="1200" b="1" dirty="0">
                <a:latin typeface="Courier New" panose="02070309020205020404" pitchFamily="49" charset="0"/>
                <a:cs typeface="Courier New" panose="02070309020205020404" pitchFamily="49" charset="0"/>
              </a:rPr>
              <a:t>0x2A7E</a:t>
            </a:r>
          </a:p>
          <a:p>
            <a:r>
              <a:rPr lang="en-US" sz="1200" b="1" dirty="0">
                <a:latin typeface="Courier New" panose="02070309020205020404" pitchFamily="49" charset="0"/>
                <a:cs typeface="Courier New" panose="02070309020205020404" pitchFamily="49" charset="0"/>
              </a:rPr>
              <a:t>0x2EE6</a:t>
            </a:r>
          </a:p>
          <a:p>
            <a:r>
              <a:rPr lang="en-US" sz="1200" b="1" dirty="0">
                <a:latin typeface="Courier New" panose="02070309020205020404" pitchFamily="49" charset="0"/>
                <a:cs typeface="Courier New" panose="02070309020205020404" pitchFamily="49" charset="0"/>
              </a:rPr>
              <a:t>0x334E</a:t>
            </a:r>
          </a:p>
          <a:p>
            <a:r>
              <a:rPr lang="en-US" sz="1200" b="1" dirty="0">
                <a:latin typeface="Courier New" panose="02070309020205020404" pitchFamily="49" charset="0"/>
                <a:cs typeface="Courier New" panose="02070309020205020404" pitchFamily="49" charset="0"/>
              </a:rPr>
              <a:t>0x37B6</a:t>
            </a:r>
          </a:p>
        </p:txBody>
      </p:sp>
      <p:sp>
        <p:nvSpPr>
          <p:cNvPr id="20" name="TextBox 19">
            <a:extLst>
              <a:ext uri="{FF2B5EF4-FFF2-40B4-BE49-F238E27FC236}">
                <a16:creationId xmlns:a16="http://schemas.microsoft.com/office/drawing/2014/main" id="{474CF996-E478-66EF-1B05-A30411C306A2}"/>
              </a:ext>
            </a:extLst>
          </p:cNvPr>
          <p:cNvSpPr txBox="1"/>
          <p:nvPr/>
        </p:nvSpPr>
        <p:spPr>
          <a:xfrm>
            <a:off x="44317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5" name="Rectangle 4">
            <a:extLst>
              <a:ext uri="{FF2B5EF4-FFF2-40B4-BE49-F238E27FC236}">
                <a16:creationId xmlns:a16="http://schemas.microsoft.com/office/drawing/2014/main" id="{7628B514-DCA3-D9D7-7CE7-3C9669117829}"/>
              </a:ext>
            </a:extLst>
          </p:cNvPr>
          <p:cNvSpPr/>
          <p:nvPr/>
        </p:nvSpPr>
        <p:spPr>
          <a:xfrm>
            <a:off x="4528788" y="1605207"/>
            <a:ext cx="4896883" cy="2942370"/>
          </a:xfrm>
          <a:prstGeom prst="rect">
            <a:avLst/>
          </a:prstGeom>
          <a:solidFill>
            <a:schemeClr val="bg2">
              <a:lumMod val="25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9AC6025-6B3E-8E7F-3EBF-01FB65396482}"/>
              </a:ext>
            </a:extLst>
          </p:cNvPr>
          <p:cNvSpPr txBox="1"/>
          <p:nvPr/>
        </p:nvSpPr>
        <p:spPr>
          <a:xfrm>
            <a:off x="2194840" y="5270323"/>
            <a:ext cx="1078629" cy="369332"/>
          </a:xfrm>
          <a:prstGeom prst="rect">
            <a:avLst/>
          </a:prstGeom>
          <a:noFill/>
        </p:spPr>
        <p:txBody>
          <a:bodyPr wrap="none" rtlCol="0">
            <a:spAutoFit/>
          </a:bodyPr>
          <a:lstStyle/>
          <a:p>
            <a:r>
              <a:rPr lang="en-US" dirty="0"/>
              <a:t>(working)</a:t>
            </a:r>
          </a:p>
        </p:txBody>
      </p:sp>
      <p:sp>
        <p:nvSpPr>
          <p:cNvPr id="9" name="TextBox 8">
            <a:extLst>
              <a:ext uri="{FF2B5EF4-FFF2-40B4-BE49-F238E27FC236}">
                <a16:creationId xmlns:a16="http://schemas.microsoft.com/office/drawing/2014/main" id="{2EA510BF-E0FD-BDF1-8525-07AF37202CB3}"/>
              </a:ext>
            </a:extLst>
          </p:cNvPr>
          <p:cNvSpPr txBox="1"/>
          <p:nvPr/>
        </p:nvSpPr>
        <p:spPr>
          <a:xfrm>
            <a:off x="2152630" y="1745218"/>
            <a:ext cx="846707" cy="369332"/>
          </a:xfrm>
          <a:prstGeom prst="rect">
            <a:avLst/>
          </a:prstGeom>
          <a:noFill/>
        </p:spPr>
        <p:txBody>
          <a:bodyPr wrap="none" rtlCol="0">
            <a:spAutoFit/>
          </a:bodyPr>
          <a:lstStyle/>
          <a:p>
            <a:r>
              <a:rPr lang="en-US" dirty="0"/>
              <a:t>(initial)</a:t>
            </a:r>
          </a:p>
        </p:txBody>
      </p:sp>
    </p:spTree>
    <p:extLst>
      <p:ext uri="{BB962C8B-B14F-4D97-AF65-F5344CB8AC3E}">
        <p14:creationId xmlns:p14="http://schemas.microsoft.com/office/powerpoint/2010/main" val="3959570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8948B-9A4E-39BD-02C5-D586D40429E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5DF0462-730B-C99B-5A13-F17F944800B1}"/>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 name="Rectangle 1">
            <a:extLst>
              <a:ext uri="{FF2B5EF4-FFF2-40B4-BE49-F238E27FC236}">
                <a16:creationId xmlns:a16="http://schemas.microsoft.com/office/drawing/2014/main" id="{29C045E9-D802-6014-8A2C-8BC87D9E77E2}"/>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__FF____</a:t>
            </a:r>
          </a:p>
        </p:txBody>
      </p:sp>
      <p:sp>
        <p:nvSpPr>
          <p:cNvPr id="3" name="TextBox 2">
            <a:extLst>
              <a:ext uri="{FF2B5EF4-FFF2-40B4-BE49-F238E27FC236}">
                <a16:creationId xmlns:a16="http://schemas.microsoft.com/office/drawing/2014/main" id="{B9F79801-DC57-6AFD-D7D6-23091F0BFDFF}"/>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0x1468</a:t>
            </a:r>
          </a:p>
          <a:p>
            <a:r>
              <a:rPr lang="en-US" sz="1200" dirty="0">
                <a:solidFill>
                  <a:srgbClr val="FF0000"/>
                </a:solidFill>
                <a:latin typeface="Courier New" panose="02070309020205020404" pitchFamily="49" charset="0"/>
                <a:cs typeface="Courier New" panose="02070309020205020404" pitchFamily="49" charset="0"/>
              </a:rPr>
              <a:t>ROW 3   0x18D0</a:t>
            </a:r>
          </a:p>
          <a:p>
            <a:r>
              <a:rPr lang="en-US" sz="1200" dirty="0">
                <a:solidFill>
                  <a:srgbClr val="FF0000"/>
                </a:solidFill>
                <a:latin typeface="Courier New" panose="02070309020205020404" pitchFamily="49" charset="0"/>
                <a:cs typeface="Courier New" panose="02070309020205020404" pitchFamily="49" charset="0"/>
              </a:rPr>
              <a:t>ROW 4   0x1D38</a:t>
            </a:r>
          </a:p>
          <a:p>
            <a:r>
              <a:rPr lang="en-US" sz="1200" dirty="0">
                <a:solidFill>
                  <a:srgbClr val="FF0000"/>
                </a:solidFill>
                <a:latin typeface="Courier New" panose="02070309020205020404" pitchFamily="49" charset="0"/>
                <a:cs typeface="Courier New" panose="02070309020205020404" pitchFamily="49" charset="0"/>
              </a:rPr>
              <a:t>ROW 5   0x21A0</a:t>
            </a:r>
          </a:p>
          <a:p>
            <a:r>
              <a:rPr lang="en-US" sz="1200" dirty="0">
                <a:solidFill>
                  <a:srgbClr val="FF0000"/>
                </a:solidFill>
                <a:latin typeface="Courier New" panose="02070309020205020404" pitchFamily="49" charset="0"/>
                <a:cs typeface="Courier New" panose="02070309020205020404" pitchFamily="49" charset="0"/>
              </a:rPr>
              <a:t>ROW 6   0x2608</a:t>
            </a:r>
          </a:p>
          <a:p>
            <a:r>
              <a:rPr lang="en-US" sz="1200" dirty="0">
                <a:solidFill>
                  <a:srgbClr val="FF0000"/>
                </a:solidFill>
                <a:latin typeface="Courier New" panose="02070309020205020404" pitchFamily="49" charset="0"/>
                <a:cs typeface="Courier New" panose="02070309020205020404" pitchFamily="49" charset="0"/>
              </a:rPr>
              <a:t>ROW 7   0x2A70</a:t>
            </a:r>
          </a:p>
          <a:p>
            <a:r>
              <a:rPr lang="en-US" sz="1200" dirty="0">
                <a:solidFill>
                  <a:srgbClr val="FF0000"/>
                </a:solidFill>
                <a:latin typeface="Courier New" panose="02070309020205020404" pitchFamily="49" charset="0"/>
                <a:cs typeface="Courier New" panose="02070309020205020404" pitchFamily="49" charset="0"/>
              </a:rPr>
              <a:t>ROW 8   0x2ED8</a:t>
            </a:r>
          </a:p>
          <a:p>
            <a:r>
              <a:rPr lang="en-US" sz="1200" dirty="0">
                <a:solidFill>
                  <a:srgbClr val="FF0000"/>
                </a:solidFill>
                <a:latin typeface="Courier New" panose="02070309020205020404" pitchFamily="49" charset="0"/>
                <a:cs typeface="Courier New" panose="02070309020205020404" pitchFamily="49" charset="0"/>
              </a:rPr>
              <a:t>ROW 9   0x3340</a:t>
            </a:r>
          </a:p>
          <a:p>
            <a:r>
              <a:rPr lang="en-US" sz="1200" dirty="0">
                <a:solidFill>
                  <a:srgbClr val="FF0000"/>
                </a:solidFill>
                <a:latin typeface="Courier New" panose="02070309020205020404" pitchFamily="49" charset="0"/>
                <a:cs typeface="Courier New" panose="02070309020205020404" pitchFamily="49" charset="0"/>
              </a:rPr>
              <a:t>ROW 10  0x37A8</a:t>
            </a:r>
          </a:p>
        </p:txBody>
      </p:sp>
      <p:sp>
        <p:nvSpPr>
          <p:cNvPr id="6" name="TextBox 5">
            <a:extLst>
              <a:ext uri="{FF2B5EF4-FFF2-40B4-BE49-F238E27FC236}">
                <a16:creationId xmlns:a16="http://schemas.microsoft.com/office/drawing/2014/main" id="{6430917D-5754-461E-4D48-4CFF4920C489}"/>
              </a:ext>
            </a:extLst>
          </p:cNvPr>
          <p:cNvSpPr txBox="1"/>
          <p:nvPr/>
        </p:nvSpPr>
        <p:spPr>
          <a:xfrm>
            <a:off x="5206417" y="4670159"/>
            <a:ext cx="1575203" cy="1938992"/>
          </a:xfrm>
          <a:prstGeom prst="rect">
            <a:avLst/>
          </a:prstGeom>
          <a:noFill/>
        </p:spPr>
        <p:txBody>
          <a:bodyPr wrap="square" rtlCol="0">
            <a:spAutoFit/>
          </a:bodyPr>
          <a:lstStyle/>
          <a:p>
            <a:r>
              <a:rPr lang="en-US" sz="1200" b="1" dirty="0">
                <a:latin typeface="Courier New" panose="02070309020205020404" pitchFamily="49" charset="0"/>
                <a:cs typeface="Courier New" panose="02070309020205020404" pitchFamily="49" charset="0"/>
              </a:rPr>
              <a:t>0x1018 </a:t>
            </a:r>
          </a:p>
          <a:p>
            <a:r>
              <a:rPr lang="en-US" sz="1200" b="1" dirty="0">
                <a:latin typeface="Courier New" panose="02070309020205020404" pitchFamily="49" charset="0"/>
                <a:cs typeface="Courier New" panose="02070309020205020404" pitchFamily="49" charset="0"/>
              </a:rPr>
              <a:t>0x1480</a:t>
            </a:r>
          </a:p>
          <a:p>
            <a:r>
              <a:rPr lang="en-US" sz="1200" b="1" dirty="0">
                <a:latin typeface="Courier New" panose="02070309020205020404" pitchFamily="49" charset="0"/>
                <a:cs typeface="Courier New" panose="02070309020205020404" pitchFamily="49" charset="0"/>
              </a:rPr>
              <a:t>0x18E8</a:t>
            </a:r>
          </a:p>
          <a:p>
            <a:r>
              <a:rPr lang="en-US" sz="1200" b="1" dirty="0">
                <a:latin typeface="Courier New" panose="02070309020205020404" pitchFamily="49" charset="0"/>
                <a:cs typeface="Courier New" panose="02070309020205020404" pitchFamily="49" charset="0"/>
              </a:rPr>
              <a:t>0x1D50</a:t>
            </a:r>
          </a:p>
          <a:p>
            <a:r>
              <a:rPr lang="en-US" sz="1200" b="1" dirty="0">
                <a:latin typeface="Courier New" panose="02070309020205020404" pitchFamily="49" charset="0"/>
                <a:cs typeface="Courier New" panose="02070309020205020404" pitchFamily="49" charset="0"/>
              </a:rPr>
              <a:t>0x21B0</a:t>
            </a:r>
          </a:p>
          <a:p>
            <a:r>
              <a:rPr lang="en-US" sz="1200" b="1" dirty="0">
                <a:latin typeface="Courier New" panose="02070309020205020404" pitchFamily="49" charset="0"/>
                <a:cs typeface="Courier New" panose="02070309020205020404" pitchFamily="49" charset="0"/>
              </a:rPr>
              <a:t>0x21B8</a:t>
            </a:r>
          </a:p>
          <a:p>
            <a:r>
              <a:rPr lang="en-US" sz="1200" b="1" dirty="0">
                <a:latin typeface="Courier New" panose="02070309020205020404" pitchFamily="49" charset="0"/>
                <a:cs typeface="Courier New" panose="02070309020205020404" pitchFamily="49" charset="0"/>
              </a:rPr>
              <a:t>0x2A88</a:t>
            </a:r>
          </a:p>
          <a:p>
            <a:r>
              <a:rPr lang="en-US" sz="1200" b="1" dirty="0">
                <a:latin typeface="Courier New" panose="02070309020205020404" pitchFamily="49" charset="0"/>
                <a:cs typeface="Courier New" panose="02070309020205020404" pitchFamily="49" charset="0"/>
              </a:rPr>
              <a:t>0x2EF0</a:t>
            </a:r>
          </a:p>
          <a:p>
            <a:r>
              <a:rPr lang="en-US" sz="1200" b="1" dirty="0">
                <a:latin typeface="Courier New" panose="02070309020205020404" pitchFamily="49" charset="0"/>
                <a:cs typeface="Courier New" panose="02070309020205020404" pitchFamily="49" charset="0"/>
              </a:rPr>
              <a:t>0x3358</a:t>
            </a:r>
          </a:p>
          <a:p>
            <a:r>
              <a:rPr lang="en-US" sz="1200" b="1" dirty="0">
                <a:latin typeface="Courier New" panose="02070309020205020404" pitchFamily="49" charset="0"/>
                <a:cs typeface="Courier New" panose="02070309020205020404" pitchFamily="49" charset="0"/>
              </a:rPr>
              <a:t>0x37C0</a:t>
            </a:r>
          </a:p>
        </p:txBody>
      </p:sp>
      <p:sp>
        <p:nvSpPr>
          <p:cNvPr id="20" name="TextBox 19">
            <a:extLst>
              <a:ext uri="{FF2B5EF4-FFF2-40B4-BE49-F238E27FC236}">
                <a16:creationId xmlns:a16="http://schemas.microsoft.com/office/drawing/2014/main" id="{A9BD0858-4E55-E6BE-A871-52012D2CFA23}"/>
              </a:ext>
            </a:extLst>
          </p:cNvPr>
          <p:cNvSpPr txBox="1"/>
          <p:nvPr/>
        </p:nvSpPr>
        <p:spPr>
          <a:xfrm>
            <a:off x="52064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5" name="Rectangle 4">
            <a:extLst>
              <a:ext uri="{FF2B5EF4-FFF2-40B4-BE49-F238E27FC236}">
                <a16:creationId xmlns:a16="http://schemas.microsoft.com/office/drawing/2014/main" id="{6439CA44-303E-E889-052F-685BA955FC2D}"/>
              </a:ext>
            </a:extLst>
          </p:cNvPr>
          <p:cNvSpPr/>
          <p:nvPr/>
        </p:nvSpPr>
        <p:spPr>
          <a:xfrm>
            <a:off x="5303488" y="1605207"/>
            <a:ext cx="4896883" cy="2942370"/>
          </a:xfrm>
          <a:prstGeom prst="rect">
            <a:avLst/>
          </a:prstGeom>
          <a:solidFill>
            <a:schemeClr val="bg2">
              <a:lumMod val="25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ABF0BE0-5FAF-E215-1411-76B9AD7242F6}"/>
              </a:ext>
            </a:extLst>
          </p:cNvPr>
          <p:cNvSpPr txBox="1"/>
          <p:nvPr/>
        </p:nvSpPr>
        <p:spPr>
          <a:xfrm>
            <a:off x="2194840" y="5270323"/>
            <a:ext cx="1078629" cy="369332"/>
          </a:xfrm>
          <a:prstGeom prst="rect">
            <a:avLst/>
          </a:prstGeom>
          <a:noFill/>
        </p:spPr>
        <p:txBody>
          <a:bodyPr wrap="none" rtlCol="0">
            <a:spAutoFit/>
          </a:bodyPr>
          <a:lstStyle/>
          <a:p>
            <a:r>
              <a:rPr lang="en-US" dirty="0"/>
              <a:t>(working)</a:t>
            </a:r>
          </a:p>
        </p:txBody>
      </p:sp>
      <p:sp>
        <p:nvSpPr>
          <p:cNvPr id="9" name="TextBox 8">
            <a:extLst>
              <a:ext uri="{FF2B5EF4-FFF2-40B4-BE49-F238E27FC236}">
                <a16:creationId xmlns:a16="http://schemas.microsoft.com/office/drawing/2014/main" id="{1B1A2EA5-1E88-0B39-6A5F-E85D6E8C1557}"/>
              </a:ext>
            </a:extLst>
          </p:cNvPr>
          <p:cNvSpPr txBox="1"/>
          <p:nvPr/>
        </p:nvSpPr>
        <p:spPr>
          <a:xfrm>
            <a:off x="2152630" y="1745218"/>
            <a:ext cx="846707" cy="369332"/>
          </a:xfrm>
          <a:prstGeom prst="rect">
            <a:avLst/>
          </a:prstGeom>
          <a:noFill/>
        </p:spPr>
        <p:txBody>
          <a:bodyPr wrap="none" rtlCol="0">
            <a:spAutoFit/>
          </a:bodyPr>
          <a:lstStyle/>
          <a:p>
            <a:r>
              <a:rPr lang="en-US" dirty="0"/>
              <a:t>(initial)</a:t>
            </a:r>
          </a:p>
        </p:txBody>
      </p:sp>
    </p:spTree>
    <p:extLst>
      <p:ext uri="{BB962C8B-B14F-4D97-AF65-F5344CB8AC3E}">
        <p14:creationId xmlns:p14="http://schemas.microsoft.com/office/powerpoint/2010/main" val="178290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24F2-3410-F67C-C9BA-AF31131AD73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A148336-EFC2-4B0B-734D-1FE8EAF927CC}"/>
              </a:ext>
            </a:extLst>
          </p:cNvPr>
          <p:cNvSpPr txBox="1"/>
          <p:nvPr/>
        </p:nvSpPr>
        <p:spPr>
          <a:xfrm>
            <a:off x="247165" y="1574727"/>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 name="Rectangle 1">
            <a:extLst>
              <a:ext uri="{FF2B5EF4-FFF2-40B4-BE49-F238E27FC236}">
                <a16:creationId xmlns:a16="http://schemas.microsoft.com/office/drawing/2014/main" id="{8C348C85-3DF3-20DA-EF7F-C48BD742AE0D}"/>
              </a:ext>
            </a:extLst>
          </p:cNvPr>
          <p:cNvSpPr/>
          <p:nvPr/>
        </p:nvSpPr>
        <p:spPr>
          <a:xfrm>
            <a:off x="3405796" y="2114550"/>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__FF____</a:t>
            </a:r>
          </a:p>
        </p:txBody>
      </p:sp>
      <p:sp>
        <p:nvSpPr>
          <p:cNvPr id="3" name="TextBox 2">
            <a:extLst>
              <a:ext uri="{FF2B5EF4-FFF2-40B4-BE49-F238E27FC236}">
                <a16:creationId xmlns:a16="http://schemas.microsoft.com/office/drawing/2014/main" id="{6E2BE3BB-4FCD-B82A-FDB1-D54B0ADC27EF}"/>
              </a:ext>
            </a:extLst>
          </p:cNvPr>
          <p:cNvSpPr txBox="1"/>
          <p:nvPr/>
        </p:nvSpPr>
        <p:spPr>
          <a:xfrm>
            <a:off x="1830593" y="2114550"/>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0x1468</a:t>
            </a:r>
          </a:p>
          <a:p>
            <a:r>
              <a:rPr lang="en-US" sz="1200" dirty="0">
                <a:solidFill>
                  <a:srgbClr val="FF0000"/>
                </a:solidFill>
                <a:latin typeface="Courier New" panose="02070309020205020404" pitchFamily="49" charset="0"/>
                <a:cs typeface="Courier New" panose="02070309020205020404" pitchFamily="49" charset="0"/>
              </a:rPr>
              <a:t>ROW 3   0x18D0</a:t>
            </a:r>
          </a:p>
          <a:p>
            <a:r>
              <a:rPr lang="en-US" sz="1200" dirty="0">
                <a:solidFill>
                  <a:srgbClr val="FF0000"/>
                </a:solidFill>
                <a:latin typeface="Courier New" panose="02070309020205020404" pitchFamily="49" charset="0"/>
                <a:cs typeface="Courier New" panose="02070309020205020404" pitchFamily="49" charset="0"/>
              </a:rPr>
              <a:t>ROW 4   0x1D38</a:t>
            </a:r>
          </a:p>
          <a:p>
            <a:r>
              <a:rPr lang="en-US" sz="1200" dirty="0">
                <a:solidFill>
                  <a:srgbClr val="FF0000"/>
                </a:solidFill>
                <a:latin typeface="Courier New" panose="02070309020205020404" pitchFamily="49" charset="0"/>
                <a:cs typeface="Courier New" panose="02070309020205020404" pitchFamily="49" charset="0"/>
              </a:rPr>
              <a:t>ROW 5   0x21A0</a:t>
            </a:r>
          </a:p>
          <a:p>
            <a:r>
              <a:rPr lang="en-US" sz="1200" dirty="0">
                <a:solidFill>
                  <a:srgbClr val="FF0000"/>
                </a:solidFill>
                <a:latin typeface="Courier New" panose="02070309020205020404" pitchFamily="49" charset="0"/>
                <a:cs typeface="Courier New" panose="02070309020205020404" pitchFamily="49" charset="0"/>
              </a:rPr>
              <a:t>ROW 6   0x2608</a:t>
            </a:r>
          </a:p>
          <a:p>
            <a:r>
              <a:rPr lang="en-US" sz="1200" dirty="0">
                <a:solidFill>
                  <a:srgbClr val="FF0000"/>
                </a:solidFill>
                <a:latin typeface="Courier New" panose="02070309020205020404" pitchFamily="49" charset="0"/>
                <a:cs typeface="Courier New" panose="02070309020205020404" pitchFamily="49" charset="0"/>
              </a:rPr>
              <a:t>ROW 7   0x2A70</a:t>
            </a:r>
          </a:p>
          <a:p>
            <a:r>
              <a:rPr lang="en-US" sz="1200" dirty="0">
                <a:solidFill>
                  <a:srgbClr val="FF0000"/>
                </a:solidFill>
                <a:latin typeface="Courier New" panose="02070309020205020404" pitchFamily="49" charset="0"/>
                <a:cs typeface="Courier New" panose="02070309020205020404" pitchFamily="49" charset="0"/>
              </a:rPr>
              <a:t>ROW 8   0x2ED8</a:t>
            </a:r>
          </a:p>
          <a:p>
            <a:r>
              <a:rPr lang="en-US" sz="1200" dirty="0">
                <a:solidFill>
                  <a:srgbClr val="FF0000"/>
                </a:solidFill>
                <a:latin typeface="Courier New" panose="02070309020205020404" pitchFamily="49" charset="0"/>
                <a:cs typeface="Courier New" panose="02070309020205020404" pitchFamily="49" charset="0"/>
              </a:rPr>
              <a:t>ROW 9   0x3340</a:t>
            </a:r>
          </a:p>
          <a:p>
            <a:r>
              <a:rPr lang="en-US" sz="1200" dirty="0">
                <a:solidFill>
                  <a:srgbClr val="FF0000"/>
                </a:solidFill>
                <a:latin typeface="Courier New" panose="02070309020205020404" pitchFamily="49" charset="0"/>
                <a:cs typeface="Courier New" panose="02070309020205020404" pitchFamily="49" charset="0"/>
              </a:rPr>
              <a:t>ROW 10  0x37A8</a:t>
            </a:r>
          </a:p>
        </p:txBody>
      </p:sp>
      <p:sp>
        <p:nvSpPr>
          <p:cNvPr id="6" name="TextBox 5">
            <a:extLst>
              <a:ext uri="{FF2B5EF4-FFF2-40B4-BE49-F238E27FC236}">
                <a16:creationId xmlns:a16="http://schemas.microsoft.com/office/drawing/2014/main" id="{07F00E8A-F66D-BA92-B7C3-C319752D04AC}"/>
              </a:ext>
            </a:extLst>
          </p:cNvPr>
          <p:cNvSpPr txBox="1"/>
          <p:nvPr/>
        </p:nvSpPr>
        <p:spPr>
          <a:xfrm>
            <a:off x="10321012" y="2114550"/>
            <a:ext cx="1575203" cy="1938992"/>
          </a:xfrm>
          <a:prstGeom prst="rect">
            <a:avLst/>
          </a:prstGeom>
          <a:noFill/>
        </p:spPr>
        <p:txBody>
          <a:bodyPr wrap="square" rtlCol="0">
            <a:spAutoFit/>
          </a:bodyPr>
          <a:lstStyle/>
          <a:p>
            <a:r>
              <a:rPr lang="en-US" sz="1200" b="1" dirty="0">
                <a:solidFill>
                  <a:srgbClr val="FFFF00"/>
                </a:solidFill>
                <a:latin typeface="Courier New" panose="02070309020205020404" pitchFamily="49" charset="0"/>
                <a:cs typeface="Courier New" panose="02070309020205020404" pitchFamily="49" charset="0"/>
              </a:rPr>
              <a:t>0x1058 </a:t>
            </a:r>
          </a:p>
          <a:p>
            <a:r>
              <a:rPr lang="en-US" sz="1200" b="1" dirty="0">
                <a:solidFill>
                  <a:srgbClr val="FFFF00"/>
                </a:solidFill>
                <a:latin typeface="Courier New" panose="02070309020205020404" pitchFamily="49" charset="0"/>
                <a:cs typeface="Courier New" panose="02070309020205020404" pitchFamily="49" charset="0"/>
              </a:rPr>
              <a:t>0x14C0</a:t>
            </a:r>
          </a:p>
          <a:p>
            <a:r>
              <a:rPr lang="en-US" sz="1200" b="1" dirty="0">
                <a:solidFill>
                  <a:srgbClr val="FFFF00"/>
                </a:solidFill>
                <a:latin typeface="Courier New" panose="02070309020205020404" pitchFamily="49" charset="0"/>
                <a:cs typeface="Courier New" panose="02070309020205020404" pitchFamily="49" charset="0"/>
              </a:rPr>
              <a:t>0x1928</a:t>
            </a:r>
          </a:p>
          <a:p>
            <a:r>
              <a:rPr lang="en-US" sz="1200" b="1" dirty="0">
                <a:solidFill>
                  <a:srgbClr val="FFFF00"/>
                </a:solidFill>
                <a:latin typeface="Courier New" panose="02070309020205020404" pitchFamily="49" charset="0"/>
                <a:cs typeface="Courier New" panose="02070309020205020404" pitchFamily="49" charset="0"/>
              </a:rPr>
              <a:t>0x1D90</a:t>
            </a:r>
          </a:p>
          <a:p>
            <a:r>
              <a:rPr lang="en-US" sz="1200" b="1" dirty="0">
                <a:solidFill>
                  <a:srgbClr val="FFFF00"/>
                </a:solidFill>
                <a:latin typeface="Courier New" panose="02070309020205020404" pitchFamily="49" charset="0"/>
                <a:cs typeface="Courier New" panose="02070309020205020404" pitchFamily="49" charset="0"/>
              </a:rPr>
              <a:t>0x21F8</a:t>
            </a:r>
          </a:p>
          <a:p>
            <a:r>
              <a:rPr lang="en-US" sz="1200" b="1" dirty="0">
                <a:solidFill>
                  <a:srgbClr val="FFFF00"/>
                </a:solidFill>
                <a:latin typeface="Courier New" panose="02070309020205020404" pitchFamily="49" charset="0"/>
                <a:cs typeface="Courier New" panose="02070309020205020404" pitchFamily="49" charset="0"/>
              </a:rPr>
              <a:t>0x2660</a:t>
            </a:r>
          </a:p>
          <a:p>
            <a:r>
              <a:rPr lang="en-US" sz="1200" b="1" dirty="0">
                <a:solidFill>
                  <a:srgbClr val="FFFF00"/>
                </a:solidFill>
                <a:latin typeface="Courier New" panose="02070309020205020404" pitchFamily="49" charset="0"/>
                <a:cs typeface="Courier New" panose="02070309020205020404" pitchFamily="49" charset="0"/>
              </a:rPr>
              <a:t>0x2AC8</a:t>
            </a:r>
          </a:p>
          <a:p>
            <a:r>
              <a:rPr lang="en-US" sz="1200" b="1" dirty="0">
                <a:solidFill>
                  <a:srgbClr val="FFFF00"/>
                </a:solidFill>
                <a:latin typeface="Courier New" panose="02070309020205020404" pitchFamily="49" charset="0"/>
                <a:cs typeface="Courier New" panose="02070309020205020404" pitchFamily="49" charset="0"/>
              </a:rPr>
              <a:t>0x2F30</a:t>
            </a:r>
          </a:p>
          <a:p>
            <a:r>
              <a:rPr lang="en-US" sz="1200" b="1" dirty="0">
                <a:solidFill>
                  <a:srgbClr val="FFFF00"/>
                </a:solidFill>
                <a:latin typeface="Courier New" panose="02070309020205020404" pitchFamily="49" charset="0"/>
                <a:cs typeface="Courier New" panose="02070309020205020404" pitchFamily="49" charset="0"/>
              </a:rPr>
              <a:t>0x3398</a:t>
            </a:r>
          </a:p>
          <a:p>
            <a:r>
              <a:rPr lang="en-US" sz="1200" b="1" dirty="0">
                <a:solidFill>
                  <a:srgbClr val="FFFF00"/>
                </a:solidFill>
                <a:latin typeface="Courier New" panose="02070309020205020404" pitchFamily="49" charset="0"/>
                <a:cs typeface="Courier New" panose="02070309020205020404" pitchFamily="49" charset="0"/>
              </a:rPr>
              <a:t>0x3800</a:t>
            </a:r>
          </a:p>
        </p:txBody>
      </p:sp>
      <p:sp>
        <p:nvSpPr>
          <p:cNvPr id="20" name="TextBox 19">
            <a:extLst>
              <a:ext uri="{FF2B5EF4-FFF2-40B4-BE49-F238E27FC236}">
                <a16:creationId xmlns:a16="http://schemas.microsoft.com/office/drawing/2014/main" id="{DC72CF56-A1EC-2BF8-E506-7FDEBE056116}"/>
              </a:ext>
            </a:extLst>
          </p:cNvPr>
          <p:cNvSpPr txBox="1"/>
          <p:nvPr/>
        </p:nvSpPr>
        <p:spPr>
          <a:xfrm>
            <a:off x="5206417" y="1218345"/>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5" name="Rectangle 4">
            <a:extLst>
              <a:ext uri="{FF2B5EF4-FFF2-40B4-BE49-F238E27FC236}">
                <a16:creationId xmlns:a16="http://schemas.microsoft.com/office/drawing/2014/main" id="{DD598B74-759D-C38F-90BD-095F6E158501}"/>
              </a:ext>
            </a:extLst>
          </p:cNvPr>
          <p:cNvSpPr/>
          <p:nvPr/>
        </p:nvSpPr>
        <p:spPr>
          <a:xfrm>
            <a:off x="5303488" y="1605207"/>
            <a:ext cx="4896883" cy="2942370"/>
          </a:xfrm>
          <a:prstGeom prst="rect">
            <a:avLst/>
          </a:prstGeom>
          <a:solidFill>
            <a:schemeClr val="bg2">
              <a:lumMod val="25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584B550-0799-08A3-1E91-60697BB2A489}"/>
              </a:ext>
            </a:extLst>
          </p:cNvPr>
          <p:cNvSpPr txBox="1"/>
          <p:nvPr/>
        </p:nvSpPr>
        <p:spPr>
          <a:xfrm>
            <a:off x="3405796" y="4692081"/>
            <a:ext cx="7836638" cy="1908215"/>
          </a:xfrm>
          <a:prstGeom prst="rect">
            <a:avLst/>
          </a:prstGeom>
          <a:solidFill>
            <a:srgbClr val="FFC000"/>
          </a:solidFill>
        </p:spPr>
        <p:txBody>
          <a:bodyPr wrap="square" lIns="182880" tIns="182880" rIns="182880" bIns="182880" rtlCol="0">
            <a:spAutoFit/>
          </a:bodyPr>
          <a:lstStyle/>
          <a:p>
            <a:pPr algn="ctr"/>
            <a:r>
              <a:rPr lang="en-US" sz="2000" b="1" dirty="0">
                <a:latin typeface="Courier New" panose="02070309020205020404" pitchFamily="49" charset="0"/>
                <a:cs typeface="Courier New" panose="02070309020205020404" pitchFamily="49" charset="0"/>
              </a:rPr>
              <a:t>Should scroll increment by 1 byte or 2 byte? </a:t>
            </a:r>
          </a:p>
          <a:p>
            <a:pPr algn="ctr"/>
            <a:endParaRPr lang="en-US" sz="2000" b="1" dirty="0">
              <a:latin typeface="Courier New" panose="02070309020205020404" pitchFamily="49" charset="0"/>
              <a:cs typeface="Courier New" panose="02070309020205020404" pitchFamily="49" charset="0"/>
            </a:endParaRPr>
          </a:p>
          <a:p>
            <a:pPr algn="ctr"/>
            <a:r>
              <a:rPr lang="en-US" sz="2000" b="1" dirty="0">
                <a:latin typeface="Courier New" panose="02070309020205020404" pitchFamily="49" charset="0"/>
                <a:cs typeface="Courier New" panose="02070309020205020404" pitchFamily="49" charset="0"/>
              </a:rPr>
              <a:t>Decided to go with 2 byte – easier and less code.</a:t>
            </a:r>
          </a:p>
          <a:p>
            <a:pPr algn="ctr"/>
            <a:endParaRPr lang="en-US" sz="2000" b="1" dirty="0">
              <a:latin typeface="Courier New" panose="02070309020205020404" pitchFamily="49" charset="0"/>
              <a:cs typeface="Courier New" panose="02070309020205020404" pitchFamily="49" charset="0"/>
            </a:endParaRPr>
          </a:p>
          <a:p>
            <a:pPr algn="ctr"/>
            <a:r>
              <a:rPr lang="en-US" sz="2000" b="1" dirty="0">
                <a:solidFill>
                  <a:srgbClr val="FF0000"/>
                </a:solidFill>
                <a:latin typeface="Courier New" panose="02070309020205020404" pitchFamily="49" charset="0"/>
                <a:cs typeface="Courier New" panose="02070309020205020404" pitchFamily="49" charset="0"/>
              </a:rPr>
              <a:t>But will it look “jittery” ?</a:t>
            </a:r>
          </a:p>
        </p:txBody>
      </p:sp>
      <p:sp>
        <p:nvSpPr>
          <p:cNvPr id="8" name="TextBox 7">
            <a:extLst>
              <a:ext uri="{FF2B5EF4-FFF2-40B4-BE49-F238E27FC236}">
                <a16:creationId xmlns:a16="http://schemas.microsoft.com/office/drawing/2014/main" id="{742CD95F-7BE7-6856-F050-88F21C1F8838}"/>
              </a:ext>
            </a:extLst>
          </p:cNvPr>
          <p:cNvSpPr txBox="1"/>
          <p:nvPr/>
        </p:nvSpPr>
        <p:spPr>
          <a:xfrm>
            <a:off x="2152630" y="1745218"/>
            <a:ext cx="846707" cy="369332"/>
          </a:xfrm>
          <a:prstGeom prst="rect">
            <a:avLst/>
          </a:prstGeom>
          <a:noFill/>
        </p:spPr>
        <p:txBody>
          <a:bodyPr wrap="none" rtlCol="0">
            <a:spAutoFit/>
          </a:bodyPr>
          <a:lstStyle/>
          <a:p>
            <a:r>
              <a:rPr lang="en-US" dirty="0"/>
              <a:t>(initial)</a:t>
            </a:r>
          </a:p>
        </p:txBody>
      </p:sp>
    </p:spTree>
    <p:extLst>
      <p:ext uri="{BB962C8B-B14F-4D97-AF65-F5344CB8AC3E}">
        <p14:creationId xmlns:p14="http://schemas.microsoft.com/office/powerpoint/2010/main" val="119638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98A98-3C39-D3EC-0172-A2D7F0273B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562933A-7A19-1AD8-4C80-9CF6A569B8A1}"/>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079C</a:t>
            </a:r>
          </a:p>
        </p:txBody>
      </p:sp>
      <p:sp>
        <p:nvSpPr>
          <p:cNvPr id="5" name="TextBox 4">
            <a:extLst>
              <a:ext uri="{FF2B5EF4-FFF2-40B4-BE49-F238E27FC236}">
                <a16:creationId xmlns:a16="http://schemas.microsoft.com/office/drawing/2014/main" id="{F94A9385-B146-1BA0-2B94-B43BFF22F2BD}"/>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5E75617D-02B5-0CB4-5700-40371F7041B7}"/>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08EA</a:t>
            </a:r>
          </a:p>
        </p:txBody>
      </p:sp>
      <p:sp>
        <p:nvSpPr>
          <p:cNvPr id="7" name="Rectangle 6">
            <a:extLst>
              <a:ext uri="{FF2B5EF4-FFF2-40B4-BE49-F238E27FC236}">
                <a16:creationId xmlns:a16="http://schemas.microsoft.com/office/drawing/2014/main" id="{5C698B55-C104-9322-57C4-96A39465C039}"/>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08F0</a:t>
            </a:r>
          </a:p>
        </p:txBody>
      </p:sp>
      <p:sp>
        <p:nvSpPr>
          <p:cNvPr id="8" name="Rectangle 7">
            <a:extLst>
              <a:ext uri="{FF2B5EF4-FFF2-40B4-BE49-F238E27FC236}">
                <a16:creationId xmlns:a16="http://schemas.microsoft.com/office/drawing/2014/main" id="{A1883A76-2110-DF9B-A0E6-1C7A21E87B58}"/>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0F1E</a:t>
            </a:r>
          </a:p>
        </p:txBody>
      </p:sp>
      <p:sp>
        <p:nvSpPr>
          <p:cNvPr id="9" name="TextBox 8">
            <a:extLst>
              <a:ext uri="{FF2B5EF4-FFF2-40B4-BE49-F238E27FC236}">
                <a16:creationId xmlns:a16="http://schemas.microsoft.com/office/drawing/2014/main" id="{4774F41E-4C45-ED97-1C71-0C937A47E411}"/>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5ADF1F62-3EC8-8263-3B37-F939AC219E54}"/>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888D9A69-7E93-7C83-FE16-2B526EECEC7C}"/>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24C19262-7BB7-1AF1-ECD5-55199A99FFF6}"/>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00FF</a:t>
            </a:r>
          </a:p>
        </p:txBody>
      </p:sp>
      <p:sp>
        <p:nvSpPr>
          <p:cNvPr id="13" name="TextBox 12">
            <a:extLst>
              <a:ext uri="{FF2B5EF4-FFF2-40B4-BE49-F238E27FC236}">
                <a16:creationId xmlns:a16="http://schemas.microsoft.com/office/drawing/2014/main" id="{19B26D5D-C0B1-CC6F-9835-5ACC37C6FDE7}"/>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11F675F6-F082-78DA-F46C-A82616AD54F7}"/>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FFFF</a:t>
            </a:r>
          </a:p>
        </p:txBody>
      </p:sp>
      <p:sp>
        <p:nvSpPr>
          <p:cNvPr id="15" name="Rectangle 14">
            <a:extLst>
              <a:ext uri="{FF2B5EF4-FFF2-40B4-BE49-F238E27FC236}">
                <a16:creationId xmlns:a16="http://schemas.microsoft.com/office/drawing/2014/main" id="{B15A3D34-DB2D-7348-4838-BB4F5D449FAC}"/>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0BFF</a:t>
            </a:r>
          </a:p>
        </p:txBody>
      </p:sp>
      <p:sp>
        <p:nvSpPr>
          <p:cNvPr id="16" name="Rectangle 15">
            <a:extLst>
              <a:ext uri="{FF2B5EF4-FFF2-40B4-BE49-F238E27FC236}">
                <a16:creationId xmlns:a16="http://schemas.microsoft.com/office/drawing/2014/main" id="{7E515A3F-7856-6A8F-5491-663BC3FF2569}"/>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358E9160-8AC3-5DCE-A398-D919803381D4}"/>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B8EAABC8-B81A-35BD-51F2-B59787A3CC34}"/>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C357F089-B52F-5415-EBFB-0C71171F41DF}"/>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AF6B5FD8-891B-29BD-9636-B685DB110596}"/>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1" name="TextBox 20">
            <a:extLst>
              <a:ext uri="{FF2B5EF4-FFF2-40B4-BE49-F238E27FC236}">
                <a16:creationId xmlns:a16="http://schemas.microsoft.com/office/drawing/2014/main" id="{8A7F8961-4BFE-8774-AADA-06F166FEC282}"/>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8291FF10-7741-EA20-1230-31604C56C918}"/>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3" name="Rectangle 22">
            <a:extLst>
              <a:ext uri="{FF2B5EF4-FFF2-40B4-BE49-F238E27FC236}">
                <a16:creationId xmlns:a16="http://schemas.microsoft.com/office/drawing/2014/main" id="{224DD142-8C5B-6524-91CF-AEA4DB9872C5}"/>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42195B41-58C8-02BA-C6E2-99115BF64C12}"/>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3C10</a:t>
            </a:r>
          </a:p>
        </p:txBody>
      </p:sp>
      <p:sp>
        <p:nvSpPr>
          <p:cNvPr id="25" name="TextBox 24">
            <a:extLst>
              <a:ext uri="{FF2B5EF4-FFF2-40B4-BE49-F238E27FC236}">
                <a16:creationId xmlns:a16="http://schemas.microsoft.com/office/drawing/2014/main" id="{7EC9285E-D4BB-3A56-5BA8-EAA825112B58}"/>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6766C461-55F4-0D84-EF6C-303812F865D4}"/>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17045F0D-3E75-F4A4-CC30-CA4ECA6D08C7}"/>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1907E7AA-A137-E42E-8F57-990FC4F29062}"/>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2E1C4F49-1F21-89E3-A298-2684DACB0A23}"/>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CB7175CA-8BEC-9F1C-046E-14C25C7BA91E}"/>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F875D4A0-61E4-C94F-A1CF-5F50DF15A48E}"/>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xx01</a:t>
            </a:r>
          </a:p>
        </p:txBody>
      </p:sp>
      <p:sp>
        <p:nvSpPr>
          <p:cNvPr id="32" name="Rectangle 31">
            <a:extLst>
              <a:ext uri="{FF2B5EF4-FFF2-40B4-BE49-F238E27FC236}">
                <a16:creationId xmlns:a16="http://schemas.microsoft.com/office/drawing/2014/main" id="{D6058213-4078-D714-B446-C342691F68F0}"/>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xx01</a:t>
            </a:r>
          </a:p>
        </p:txBody>
      </p:sp>
      <p:sp>
        <p:nvSpPr>
          <p:cNvPr id="33" name="TextBox 32">
            <a:extLst>
              <a:ext uri="{FF2B5EF4-FFF2-40B4-BE49-F238E27FC236}">
                <a16:creationId xmlns:a16="http://schemas.microsoft.com/office/drawing/2014/main" id="{7404AA68-2F2F-7F57-BA32-AAC9F0895E39}"/>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7270CCE1-6045-3CCB-1D3E-145416A3C6E2}"/>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D151CA8A-7A21-DF39-2BB6-BB409F686C4D}"/>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2EABB3A0-2A27-3C27-C9EB-78950B6F6143}"/>
              </a:ext>
            </a:extLst>
          </p:cNvPr>
          <p:cNvSpPr>
            <a:spLocks noGrp="1"/>
          </p:cNvSpPr>
          <p:nvPr>
            <p:ph idx="1"/>
          </p:nvPr>
        </p:nvSpPr>
        <p:spPr>
          <a:xfrm>
            <a:off x="2801814" y="351693"/>
            <a:ext cx="7057294" cy="3627297"/>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CALCULATE_NEXT: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078C	D531	MOVE   R5, (R3)+</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078E	045C	HTL    R4,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0790	86FF	LBI    R6, NULL_TERM_HI</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0792	C642	SE     R6, R4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0794	A00B	BRA    CALCULATE_LARGE</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0796	86FF	LBI    R6, NULL_TERM_LO</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0798	C652	SE     R6,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079A	A005	BRA    CALCULATE_LARGE</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079C	0203	CALL   </a:t>
            </a:r>
            <a:r>
              <a:rPr lang="pt-BR" sz="1400" b="1" dirty="0">
                <a:latin typeface="Courier New" panose="02070309020205020404" pitchFamily="49" charset="0"/>
                <a:cs typeface="Courier New" panose="02070309020205020404" pitchFamily="49" charset="0"/>
              </a:rPr>
              <a:t>MAINLOOP_INIT, R2  ; (JMP BROKE)</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079E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07A0	08F6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CALCULATE_LARGE: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07A2	...</a:t>
            </a:r>
          </a:p>
        </p:txBody>
      </p:sp>
      <p:sp>
        <p:nvSpPr>
          <p:cNvPr id="3" name="TextBox 2">
            <a:extLst>
              <a:ext uri="{FF2B5EF4-FFF2-40B4-BE49-F238E27FC236}">
                <a16:creationId xmlns:a16="http://schemas.microsoft.com/office/drawing/2014/main" id="{65513CE1-358E-C0FD-B28E-2F8A135F9154}"/>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8" name="Right Brace 37">
            <a:extLst>
              <a:ext uri="{FF2B5EF4-FFF2-40B4-BE49-F238E27FC236}">
                <a16:creationId xmlns:a16="http://schemas.microsoft.com/office/drawing/2014/main" id="{5F1CA4AB-1824-8A62-177E-DDFB0A3B8E4E}"/>
              </a:ext>
            </a:extLst>
          </p:cNvPr>
          <p:cNvSpPr/>
          <p:nvPr/>
        </p:nvSpPr>
        <p:spPr>
          <a:xfrm rot="10800000">
            <a:off x="10066254" y="4525247"/>
            <a:ext cx="154067" cy="304879"/>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Rectangle 40">
            <a:extLst>
              <a:ext uri="{FF2B5EF4-FFF2-40B4-BE49-F238E27FC236}">
                <a16:creationId xmlns:a16="http://schemas.microsoft.com/office/drawing/2014/main" id="{E2EF254E-3E31-BC25-9E2F-4515FE6AFD05}"/>
              </a:ext>
            </a:extLst>
          </p:cNvPr>
          <p:cNvSpPr/>
          <p:nvPr/>
        </p:nvSpPr>
        <p:spPr>
          <a:xfrm>
            <a:off x="9241535" y="4127500"/>
            <a:ext cx="2731009" cy="208094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Courier New" panose="02070309020205020404" pitchFamily="49" charset="0"/>
                <a:cs typeface="Courier New" panose="02070309020205020404" pitchFamily="49" charset="0"/>
              </a:rPr>
              <a:t>…</a:t>
            </a:r>
            <a:br>
              <a:rPr lang="en-US" sz="1000" dirty="0">
                <a:solidFill>
                  <a:schemeClr val="tx1"/>
                </a:solidFill>
                <a:latin typeface="Courier New" panose="02070309020205020404" pitchFamily="49" charset="0"/>
                <a:cs typeface="Courier New" panose="02070309020205020404" pitchFamily="49" charset="0"/>
              </a:rPr>
            </a:br>
            <a:r>
              <a:rPr lang="en-US" sz="1000" dirty="0">
                <a:solidFill>
                  <a:schemeClr val="tx1"/>
                </a:solidFill>
                <a:latin typeface="Courier New" panose="02070309020205020404" pitchFamily="49" charset="0"/>
                <a:cs typeface="Courier New" panose="02070309020205020404" pitchFamily="49" charset="0"/>
              </a:rPr>
              <a:t>0F08  00A8  168	O</a:t>
            </a:r>
          </a:p>
          <a:p>
            <a:r>
              <a:rPr lang="en-US" sz="1000" dirty="0">
                <a:solidFill>
                  <a:schemeClr val="tx1"/>
                </a:solidFill>
                <a:latin typeface="Courier New" panose="02070309020205020404" pitchFamily="49" charset="0"/>
                <a:cs typeface="Courier New" panose="02070309020205020404" pitchFamily="49" charset="0"/>
              </a:rPr>
              <a:t>0F0A  00A8  168	O</a:t>
            </a:r>
          </a:p>
          <a:p>
            <a:r>
              <a:rPr lang="en-US" sz="1000" dirty="0">
                <a:solidFill>
                  <a:schemeClr val="tx1"/>
                </a:solidFill>
                <a:latin typeface="Courier New" panose="02070309020205020404" pitchFamily="49" charset="0"/>
                <a:cs typeface="Courier New" panose="02070309020205020404" pitchFamily="49" charset="0"/>
              </a:rPr>
              <a:t>0F0C  01BC  (footer blank 1)</a:t>
            </a:r>
          </a:p>
          <a:p>
            <a:r>
              <a:rPr lang="en-US" sz="1000" dirty="0">
                <a:solidFill>
                  <a:schemeClr val="tx1"/>
                </a:solidFill>
                <a:latin typeface="Courier New" panose="02070309020205020404" pitchFamily="49" charset="0"/>
                <a:cs typeface="Courier New" panose="02070309020205020404" pitchFamily="49" charset="0"/>
              </a:rPr>
              <a:t>0F0E  01BC  (footer blank 2)</a:t>
            </a:r>
          </a:p>
          <a:p>
            <a:r>
              <a:rPr lang="en-US" sz="1000" dirty="0">
                <a:solidFill>
                  <a:schemeClr val="tx1"/>
                </a:solidFill>
                <a:latin typeface="Courier New" panose="02070309020205020404" pitchFamily="49" charset="0"/>
                <a:cs typeface="Courier New" panose="02070309020205020404" pitchFamily="49" charset="0"/>
              </a:rPr>
              <a:t>0F10  01BC  (footer blank 3)</a:t>
            </a:r>
          </a:p>
          <a:p>
            <a:r>
              <a:rPr lang="en-US" sz="1000" dirty="0">
                <a:solidFill>
                  <a:schemeClr val="tx1"/>
                </a:solidFill>
                <a:latin typeface="Courier New" panose="02070309020205020404" pitchFamily="49" charset="0"/>
                <a:cs typeface="Courier New" panose="02070309020205020404" pitchFamily="49" charset="0"/>
              </a:rPr>
              <a:t>0F12  01BC  (footer blank 4)</a:t>
            </a:r>
          </a:p>
          <a:p>
            <a:r>
              <a:rPr lang="en-US" sz="1000" dirty="0">
                <a:solidFill>
                  <a:schemeClr val="tx1"/>
                </a:solidFill>
                <a:latin typeface="Courier New" panose="02070309020205020404" pitchFamily="49" charset="0"/>
                <a:cs typeface="Courier New" panose="02070309020205020404" pitchFamily="49" charset="0"/>
              </a:rPr>
              <a:t>0F14  01BC  (footer blank 5)</a:t>
            </a:r>
          </a:p>
          <a:p>
            <a:r>
              <a:rPr lang="en-US" sz="1000" dirty="0">
                <a:solidFill>
                  <a:schemeClr val="tx1"/>
                </a:solidFill>
                <a:latin typeface="Courier New" panose="02070309020205020404" pitchFamily="49" charset="0"/>
                <a:cs typeface="Courier New" panose="02070309020205020404" pitchFamily="49" charset="0"/>
              </a:rPr>
              <a:t>0F16  01BC  (footer blank 6)</a:t>
            </a:r>
          </a:p>
          <a:p>
            <a:r>
              <a:rPr lang="en-US" sz="1000" dirty="0">
                <a:solidFill>
                  <a:schemeClr val="tx1"/>
                </a:solidFill>
                <a:latin typeface="Courier New" panose="02070309020205020404" pitchFamily="49" charset="0"/>
                <a:cs typeface="Courier New" panose="02070309020205020404" pitchFamily="49" charset="0"/>
              </a:rPr>
              <a:t>0F18  01BC  (footer blank 7)</a:t>
            </a:r>
          </a:p>
          <a:p>
            <a:r>
              <a:rPr lang="en-US" sz="1000" dirty="0">
                <a:solidFill>
                  <a:schemeClr val="tx1"/>
                </a:solidFill>
                <a:latin typeface="Courier New" panose="02070309020205020404" pitchFamily="49" charset="0"/>
                <a:cs typeface="Courier New" panose="02070309020205020404" pitchFamily="49" charset="0"/>
              </a:rPr>
              <a:t>0F1A  01BC  (footer blank 8)</a:t>
            </a:r>
          </a:p>
          <a:p>
            <a:r>
              <a:rPr lang="en-US" sz="1000" dirty="0">
                <a:solidFill>
                  <a:schemeClr val="tx1"/>
                </a:solidFill>
                <a:latin typeface="Courier New" panose="02070309020205020404" pitchFamily="49" charset="0"/>
                <a:cs typeface="Courier New" panose="02070309020205020404" pitchFamily="49" charset="0"/>
              </a:rPr>
              <a:t>0F1C  FFFF  END OF STRING marker</a:t>
            </a:r>
          </a:p>
          <a:p>
            <a:r>
              <a:rPr lang="en-US" sz="1000" dirty="0">
                <a:solidFill>
                  <a:schemeClr val="tx1"/>
                </a:solidFill>
                <a:latin typeface="Courier New" panose="02070309020205020404" pitchFamily="49" charset="0"/>
                <a:cs typeface="Courier New" panose="02070309020205020404" pitchFamily="49" charset="0"/>
              </a:rPr>
              <a:t>0F1E  FFFF		</a:t>
            </a:r>
          </a:p>
        </p:txBody>
      </p:sp>
      <p:cxnSp>
        <p:nvCxnSpPr>
          <p:cNvPr id="36" name="Straight Arrow Connector 35">
            <a:extLst>
              <a:ext uri="{FF2B5EF4-FFF2-40B4-BE49-F238E27FC236}">
                <a16:creationId xmlns:a16="http://schemas.microsoft.com/office/drawing/2014/main" id="{6CD981EA-1E54-27D4-1CD6-CD2FFD1A5C8C}"/>
              </a:ext>
            </a:extLst>
          </p:cNvPr>
          <p:cNvCxnSpPr>
            <a:cxnSpLocks/>
          </p:cNvCxnSpPr>
          <p:nvPr/>
        </p:nvCxnSpPr>
        <p:spPr>
          <a:xfrm>
            <a:off x="2184400" y="1790700"/>
            <a:ext cx="7143750" cy="41084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621A2CB-7CC5-F96F-2E88-9620A463B7FF}"/>
              </a:ext>
            </a:extLst>
          </p:cNvPr>
          <p:cNvCxnSpPr>
            <a:cxnSpLocks/>
          </p:cNvCxnSpPr>
          <p:nvPr/>
        </p:nvCxnSpPr>
        <p:spPr>
          <a:xfrm>
            <a:off x="2148114" y="2481943"/>
            <a:ext cx="7176861" cy="3409270"/>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17F072AE-D371-D9FA-B55B-70E3D723AC70}"/>
              </a:ext>
            </a:extLst>
          </p:cNvPr>
          <p:cNvSpPr/>
          <p:nvPr/>
        </p:nvSpPr>
        <p:spPr>
          <a:xfrm>
            <a:off x="4639012" y="674006"/>
            <a:ext cx="4758987" cy="1002394"/>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8238434C-7599-7A57-03B4-1392DB51D6CF}"/>
              </a:ext>
            </a:extLst>
          </p:cNvPr>
          <p:cNvCxnSpPr>
            <a:cxnSpLocks/>
          </p:cNvCxnSpPr>
          <p:nvPr/>
        </p:nvCxnSpPr>
        <p:spPr>
          <a:xfrm>
            <a:off x="2203938" y="750277"/>
            <a:ext cx="2473570" cy="19694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2160ACD1-6529-77A3-ABA8-EEC168A89CB3}"/>
              </a:ext>
            </a:extLst>
          </p:cNvPr>
          <p:cNvSpPr/>
          <p:nvPr/>
        </p:nvSpPr>
        <p:spPr>
          <a:xfrm>
            <a:off x="4631199" y="1867877"/>
            <a:ext cx="4758987" cy="500185"/>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6F0C602C-C9A6-B1DE-59E6-7B8F3658B824}"/>
              </a:ext>
            </a:extLst>
          </p:cNvPr>
          <p:cNvSpPr/>
          <p:nvPr/>
        </p:nvSpPr>
        <p:spPr>
          <a:xfrm>
            <a:off x="4616986" y="2583543"/>
            <a:ext cx="4758987" cy="312058"/>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12635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06849-8677-C7F6-C5DA-279BB34BDA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74CE3CF-08A6-F007-C261-2ABD70572FB0}"/>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090E</a:t>
            </a:r>
          </a:p>
        </p:txBody>
      </p:sp>
      <p:sp>
        <p:nvSpPr>
          <p:cNvPr id="5" name="TextBox 4">
            <a:extLst>
              <a:ext uri="{FF2B5EF4-FFF2-40B4-BE49-F238E27FC236}">
                <a16:creationId xmlns:a16="http://schemas.microsoft.com/office/drawing/2014/main" id="{B4A77C30-2D82-2652-1912-7BB53E256C1C}"/>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F8E69BA1-6164-451C-0566-22CECA0DAC4C}"/>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08EA</a:t>
            </a:r>
          </a:p>
        </p:txBody>
      </p:sp>
      <p:sp>
        <p:nvSpPr>
          <p:cNvPr id="7" name="Rectangle 6">
            <a:extLst>
              <a:ext uri="{FF2B5EF4-FFF2-40B4-BE49-F238E27FC236}">
                <a16:creationId xmlns:a16="http://schemas.microsoft.com/office/drawing/2014/main" id="{39521C34-CA7E-562D-E049-F74F0CD674E3}"/>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07A2</a:t>
            </a:r>
          </a:p>
        </p:txBody>
      </p:sp>
      <p:sp>
        <p:nvSpPr>
          <p:cNvPr id="8" name="Rectangle 7">
            <a:extLst>
              <a:ext uri="{FF2B5EF4-FFF2-40B4-BE49-F238E27FC236}">
                <a16:creationId xmlns:a16="http://schemas.microsoft.com/office/drawing/2014/main" id="{2FF03FB2-D4AD-F92B-0191-064C76772571}"/>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0F1E</a:t>
            </a:r>
          </a:p>
        </p:txBody>
      </p:sp>
      <p:sp>
        <p:nvSpPr>
          <p:cNvPr id="9" name="TextBox 8">
            <a:extLst>
              <a:ext uri="{FF2B5EF4-FFF2-40B4-BE49-F238E27FC236}">
                <a16:creationId xmlns:a16="http://schemas.microsoft.com/office/drawing/2014/main" id="{428BD6F5-CC4D-C2D4-3932-2AAAB85DAB28}"/>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24BE3821-5CE0-9439-BE02-0C925E35A850}"/>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440D750E-03DA-5A9E-75AC-0A4D4CE73C36}"/>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0B44539A-8DEB-26B2-CAB9-9D565BE10D2C}"/>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3" name="TextBox 12">
            <a:extLst>
              <a:ext uri="{FF2B5EF4-FFF2-40B4-BE49-F238E27FC236}">
                <a16:creationId xmlns:a16="http://schemas.microsoft.com/office/drawing/2014/main" id="{98165D8C-89A0-2F53-142C-D35FFF6FDC26}"/>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A59E7807-4A11-4DDA-7761-1B8B0DCB03F8}"/>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0D80</a:t>
            </a:r>
          </a:p>
        </p:txBody>
      </p:sp>
      <p:sp>
        <p:nvSpPr>
          <p:cNvPr id="15" name="Rectangle 14">
            <a:extLst>
              <a:ext uri="{FF2B5EF4-FFF2-40B4-BE49-F238E27FC236}">
                <a16:creationId xmlns:a16="http://schemas.microsoft.com/office/drawing/2014/main" id="{73558D51-080F-F098-CBC3-BC90AC98CF87}"/>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0BFF</a:t>
            </a:r>
          </a:p>
        </p:txBody>
      </p:sp>
      <p:sp>
        <p:nvSpPr>
          <p:cNvPr id="16" name="Rectangle 15">
            <a:extLst>
              <a:ext uri="{FF2B5EF4-FFF2-40B4-BE49-F238E27FC236}">
                <a16:creationId xmlns:a16="http://schemas.microsoft.com/office/drawing/2014/main" id="{2FE99AB7-14ED-9461-EB9E-1CDE09ACA3C1}"/>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C61DF4D0-A65A-8A36-F918-1D379D323FBD}"/>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CB99AE26-6887-AA6F-427F-9F773F9188F9}"/>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21F04BDA-F382-0A60-62C3-B5AB426F2493}"/>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1886EC3E-588C-A5DB-583E-DF95C322AC45}"/>
              </a:ext>
            </a:extLst>
          </p:cNvPr>
          <p:cNvSpPr/>
          <p:nvPr/>
        </p:nvSpPr>
        <p:spPr>
          <a:xfrm>
            <a:off x="1384300" y="33152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8240095C-2E7E-0932-BAE5-90F2BF4DC7DC}"/>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CDE834D6-B06F-7680-3BE2-92DD521C5F16}"/>
              </a:ext>
            </a:extLst>
          </p:cNvPr>
          <p:cNvSpPr/>
          <p:nvPr/>
        </p:nvSpPr>
        <p:spPr>
          <a:xfrm>
            <a:off x="1384300" y="36581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302580F0-2933-1C35-3C9A-53A370813140}"/>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A08F64A5-46AA-A332-D14D-1C34B5FB1E2A}"/>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3C10</a:t>
            </a:r>
          </a:p>
        </p:txBody>
      </p:sp>
      <p:sp>
        <p:nvSpPr>
          <p:cNvPr id="25" name="TextBox 24">
            <a:extLst>
              <a:ext uri="{FF2B5EF4-FFF2-40B4-BE49-F238E27FC236}">
                <a16:creationId xmlns:a16="http://schemas.microsoft.com/office/drawing/2014/main" id="{D653C543-5EE3-9E8F-4DED-DFD70782246E}"/>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AB2CBCB9-76B1-7001-1F5C-1BB770A2304B}"/>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21D44101-07F9-1BDB-E965-97328F4B619E}"/>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F8ACC7FA-0F83-66B0-52DE-D7B61F3A3775}"/>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D896C5D8-A79C-DEF0-6AC2-7752C51CB64F}"/>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9D3D3DAF-9FC0-BDDC-22E7-ACE8971852FC}"/>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274BD503-B61A-4CFE-5F8F-05780B50FA1F}"/>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0601</a:t>
            </a:r>
          </a:p>
        </p:txBody>
      </p:sp>
      <p:sp>
        <p:nvSpPr>
          <p:cNvPr id="32" name="Rectangle 31">
            <a:extLst>
              <a:ext uri="{FF2B5EF4-FFF2-40B4-BE49-F238E27FC236}">
                <a16:creationId xmlns:a16="http://schemas.microsoft.com/office/drawing/2014/main" id="{78E2FE6E-91BC-AA06-2EC9-956419B61A04}"/>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1201</a:t>
            </a:r>
          </a:p>
        </p:txBody>
      </p:sp>
      <p:sp>
        <p:nvSpPr>
          <p:cNvPr id="33" name="TextBox 32">
            <a:extLst>
              <a:ext uri="{FF2B5EF4-FFF2-40B4-BE49-F238E27FC236}">
                <a16:creationId xmlns:a16="http://schemas.microsoft.com/office/drawing/2014/main" id="{5582DF56-9228-EC2E-E0BC-D053DF58D4AF}"/>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C0763659-0EE8-AC22-629E-8F67C98F2E90}"/>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900FB123-6960-F213-A561-4F4FFBEA45A5}"/>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D1E53BB3-229C-E9FD-FDFF-51408747C0DC}"/>
              </a:ext>
            </a:extLst>
          </p:cNvPr>
          <p:cNvSpPr>
            <a:spLocks noGrp="1"/>
          </p:cNvSpPr>
          <p:nvPr>
            <p:ph idx="1"/>
          </p:nvPr>
        </p:nvSpPr>
        <p:spPr>
          <a:xfrm>
            <a:off x="2801814" y="351693"/>
            <a:ext cx="6787664" cy="3775807"/>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MAINLOOP_INIT: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08F6	09A4	MOVE   R9, R10 </a:t>
            </a:r>
            <a:r>
              <a:rPr lang="pt-BR" sz="1400" dirty="0">
                <a:latin typeface="Courier New" panose="02070309020205020404" pitchFamily="49" charset="0"/>
                <a:cs typeface="Courier New" panose="02070309020205020404" pitchFamily="49" charset="0"/>
                <a:sym typeface="Wingdings" panose="05000000000000000000" pitchFamily="2" charset="2"/>
              </a:rPr>
              <a:t> R9 = R10   (copy </a:t>
            </a:r>
            <a:r>
              <a:rPr lang="pt-BR" sz="1400" dirty="0" err="1">
                <a:latin typeface="Courier New" panose="02070309020205020404" pitchFamily="49" charset="0"/>
                <a:cs typeface="Courier New" panose="02070309020205020404" pitchFamily="49" charset="0"/>
                <a:sym typeface="Wingdings" panose="05000000000000000000" pitchFamily="2" charset="2"/>
              </a:rPr>
              <a:t>length</a:t>
            </a:r>
            <a:r>
              <a:rPr lang="pt-BR" sz="1400" dirty="0">
                <a:latin typeface="Courier New" panose="02070309020205020404" pitchFamily="49" charset="0"/>
                <a:cs typeface="Courier New" panose="02070309020205020404" pitchFamily="49" charset="0"/>
                <a:sym typeface="Wingdings" panose="05000000000000000000" pitchFamily="2" charset="2"/>
              </a:rPr>
              <a: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08F8	F93F	SUBI   R9, #64 </a:t>
            </a:r>
            <a:r>
              <a:rPr lang="pt-BR" sz="1400" dirty="0">
                <a:latin typeface="Courier New" panose="02070309020205020404" pitchFamily="49" charset="0"/>
                <a:cs typeface="Courier New" panose="02070309020205020404" pitchFamily="49" charset="0"/>
                <a:sym typeface="Wingdings" panose="05000000000000000000" pitchFamily="2" charset="2"/>
              </a:rPr>
              <a:t> R9 = R9 – 64  (sub. 64)</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08FA	8800	LBI    R8, 0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 0  (split </a:t>
            </a:r>
            <a:r>
              <a:rPr lang="pt-BR" sz="1400" dirty="0" err="1">
                <a:latin typeface="Courier New" panose="02070309020205020404" pitchFamily="49" charset="0"/>
                <a:cs typeface="Courier New" panose="02070309020205020404" pitchFamily="49" charset="0"/>
                <a:sym typeface="Wingdings" panose="05000000000000000000" pitchFamily="2" charset="2"/>
              </a:rPr>
              <a:t>to</a:t>
            </a:r>
            <a:r>
              <a:rPr lang="pt-BR" sz="1400" dirty="0">
                <a:latin typeface="Courier New" panose="02070309020205020404" pitchFamily="49" charset="0"/>
                <a:cs typeface="Courier New" panose="02070309020205020404" pitchFamily="49" charset="0"/>
                <a:sym typeface="Wingdings" panose="05000000000000000000" pitchFamily="2" charset="2"/>
              </a:rPr>
              <a:t> R8/R9)</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08FC	088D	LTH    R8, R8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R8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08FE	089C	HTL    R8, R9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R9</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0900	E08C	SHR    R8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&gt;&gt; 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0902	E09C	SHR    R9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&gt;&gt; 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0904	D401	LWI    R4, TITLE_STRING      (shift </a:t>
            </a:r>
            <a:r>
              <a:rPr lang="pt-BR" sz="1400" dirty="0" err="1">
                <a:latin typeface="Courier New" panose="02070309020205020404" pitchFamily="49" charset="0"/>
                <a:cs typeface="Courier New" panose="02070309020205020404" pitchFamily="49" charset="0"/>
              </a:rPr>
              <a:t>Hi</a:t>
            </a:r>
            <a:r>
              <a:rPr lang="pt-BR" sz="1400" dirty="0">
                <a:latin typeface="Courier New" panose="02070309020205020404" pitchFamily="49" charset="0"/>
                <a:cs typeface="Courier New" panose="02070309020205020404" pitchFamily="49" charset="0"/>
              </a:rPr>
              <a:t> &amp; </a:t>
            </a:r>
            <a:r>
              <a:rPr lang="pt-BR" sz="1400" dirty="0" err="1">
                <a:latin typeface="Courier New" panose="02070309020205020404" pitchFamily="49" charset="0"/>
                <a:cs typeface="Courier New" panose="02070309020205020404" pitchFamily="49" charset="0"/>
              </a:rPr>
              <a:t>Lo</a:t>
            </a:r>
            <a:r>
              <a:rPr lang="pt-BR" sz="1400" dirty="0">
                <a:latin typeface="Courier New" panose="02070309020205020404" pitchFamily="49" charset="0"/>
                <a:cs typeface="Courier New" panose="02070309020205020404" pitchFamily="49" charset="0"/>
              </a:rPr>
              <a: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0906	0CBE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0908	D501	LWI    R5, TITLE_STRING_TEMP</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090A	0D80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090C	5458	MOVE   (R5), R4 </a:t>
            </a:r>
            <a:r>
              <a:rPr lang="pt-BR" sz="1400" dirty="0">
                <a:latin typeface="Courier New" panose="02070309020205020404" pitchFamily="49" charset="0"/>
                <a:cs typeface="Courier New" panose="02070309020205020404" pitchFamily="49" charset="0"/>
                <a:sym typeface="Wingdings" panose="05000000000000000000" pitchFamily="2" charset="2"/>
              </a:rPr>
              <a:t> MEM[R5] = R4</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MAINLOOP_INIT2: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090E	...</a:t>
            </a:r>
          </a:p>
        </p:txBody>
      </p:sp>
      <p:sp>
        <p:nvSpPr>
          <p:cNvPr id="3" name="TextBox 2">
            <a:extLst>
              <a:ext uri="{FF2B5EF4-FFF2-40B4-BE49-F238E27FC236}">
                <a16:creationId xmlns:a16="http://schemas.microsoft.com/office/drawing/2014/main" id="{F3EDF6D7-B2A2-452E-0C7B-5060A8140EB2}"/>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7" name="Rectangle 36">
            <a:extLst>
              <a:ext uri="{FF2B5EF4-FFF2-40B4-BE49-F238E27FC236}">
                <a16:creationId xmlns:a16="http://schemas.microsoft.com/office/drawing/2014/main" id="{D57FAE0F-2E2C-9B4E-9C16-CFAD7B450357}"/>
              </a:ext>
            </a:extLst>
          </p:cNvPr>
          <p:cNvSpPr/>
          <p:nvPr/>
        </p:nvSpPr>
        <p:spPr>
          <a:xfrm>
            <a:off x="4639012" y="674006"/>
            <a:ext cx="4891850" cy="2901532"/>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F6929E6-2076-5C1C-9ED3-F86AA2CABDC0}"/>
              </a:ext>
            </a:extLst>
          </p:cNvPr>
          <p:cNvSpPr txBox="1"/>
          <p:nvPr/>
        </p:nvSpPr>
        <p:spPr>
          <a:xfrm>
            <a:off x="2801814" y="4317484"/>
            <a:ext cx="6413417" cy="1477328"/>
          </a:xfrm>
          <a:prstGeom prst="rect">
            <a:avLst/>
          </a:prstGeom>
          <a:solidFill>
            <a:srgbClr val="FFC000"/>
          </a:solidFill>
        </p:spPr>
        <p:txBody>
          <a:bodyPr wrap="square" rtlCol="0">
            <a:spAutoFit/>
          </a:bodyPr>
          <a:lstStyle/>
          <a:p>
            <a:r>
              <a:rPr lang="en-US" dirty="0">
                <a:latin typeface="Courier New" panose="02070309020205020404" pitchFamily="49" charset="0"/>
                <a:cs typeface="Courier New" panose="02070309020205020404" pitchFamily="49" charset="0"/>
              </a:rPr>
              <a:t>0x0468 = 0000 0100 0110 1000          (  R9)</a:t>
            </a:r>
          </a:p>
          <a:p>
            <a:r>
              <a:rPr lang="en-US" dirty="0">
                <a:latin typeface="Courier New" panose="02070309020205020404" pitchFamily="49" charset="0"/>
                <a:cs typeface="Courier New" panose="02070309020205020404" pitchFamily="49" charset="0"/>
              </a:rPr>
              <a:t>         0000 0100 0010 1000 = 0x042B (- 64)</a:t>
            </a:r>
          </a:p>
          <a:p>
            <a:r>
              <a:rPr lang="en-US" dirty="0">
                <a:latin typeface="Courier New" panose="02070309020205020404" pitchFamily="49" charset="0"/>
                <a:cs typeface="Courier New" panose="02070309020205020404" pitchFamily="49" charset="0"/>
              </a:rPr>
              <a:t>         0000 0010 0001 0100 = 0x0214</a:t>
            </a:r>
          </a:p>
          <a:p>
            <a:r>
              <a:rPr lang="en-US" dirty="0">
                <a:latin typeface="Courier New" panose="02070309020205020404" pitchFamily="49" charset="0"/>
                <a:cs typeface="Courier New" panose="02070309020205020404" pitchFamily="49" charset="0"/>
              </a:rPr>
              <a:t>         (R8 &gt;&gt; 1) (R9 &gt;&gt; 1)</a:t>
            </a:r>
          </a:p>
          <a:p>
            <a:endParaRPr lang="en-US" dirty="0">
              <a:latin typeface="Courier New" panose="02070309020205020404" pitchFamily="49" charset="0"/>
              <a:cs typeface="Courier New" panose="02070309020205020404" pitchFamily="49" charset="0"/>
            </a:endParaRPr>
          </a:p>
        </p:txBody>
      </p:sp>
      <p:sp>
        <p:nvSpPr>
          <p:cNvPr id="40" name="TextBox 39">
            <a:extLst>
              <a:ext uri="{FF2B5EF4-FFF2-40B4-BE49-F238E27FC236}">
                <a16:creationId xmlns:a16="http://schemas.microsoft.com/office/drawing/2014/main" id="{A9DB238E-6F51-6D40-BEB2-67396AB81F90}"/>
              </a:ext>
            </a:extLst>
          </p:cNvPr>
          <p:cNvSpPr txBox="1"/>
          <p:nvPr/>
        </p:nvSpPr>
        <p:spPr>
          <a:xfrm>
            <a:off x="9589478" y="369208"/>
            <a:ext cx="2485292" cy="5078313"/>
          </a:xfrm>
          <a:prstGeom prst="rect">
            <a:avLst/>
          </a:prstGeom>
          <a:noFill/>
        </p:spPr>
        <p:txBody>
          <a:bodyPr wrap="square" rtlCol="0">
            <a:spAutoFit/>
          </a:bodyPr>
          <a:lstStyle/>
          <a:p>
            <a:r>
              <a:rPr lang="en-US" dirty="0"/>
              <a:t>To avoid scrolling past the last edge of the big letters, we need to decide how many “scroll steps” is appropriate for this banner.</a:t>
            </a:r>
          </a:p>
          <a:p>
            <a:endParaRPr lang="en-US" dirty="0"/>
          </a:p>
          <a:p>
            <a:r>
              <a:rPr lang="en-US" dirty="0"/>
              <a:t>We take the total number of expanded per-row length, subtract one screen width of columns (64 for this system), then divide by two since we are stepping 2-bytes per scroll.</a:t>
            </a:r>
          </a:p>
          <a:p>
            <a:endParaRPr lang="en-US" dirty="0"/>
          </a:p>
          <a:p>
            <a:r>
              <a:rPr lang="en-US" b="1" dirty="0"/>
              <a:t>STEPS = (LEN – 64) / 2</a:t>
            </a:r>
          </a:p>
        </p:txBody>
      </p:sp>
      <p:sp>
        <p:nvSpPr>
          <p:cNvPr id="42" name="Rectangle 41">
            <a:extLst>
              <a:ext uri="{FF2B5EF4-FFF2-40B4-BE49-F238E27FC236}">
                <a16:creationId xmlns:a16="http://schemas.microsoft.com/office/drawing/2014/main" id="{5A5EDCC4-8953-9D94-E570-2074377338C8}"/>
              </a:ext>
            </a:extLst>
          </p:cNvPr>
          <p:cNvSpPr/>
          <p:nvPr/>
        </p:nvSpPr>
        <p:spPr>
          <a:xfrm>
            <a:off x="1840523" y="3326939"/>
            <a:ext cx="293077" cy="66377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0901194-ACB6-0A46-F3C4-4BC860EEA710}"/>
              </a:ext>
            </a:extLst>
          </p:cNvPr>
          <p:cNvSpPr/>
          <p:nvPr/>
        </p:nvSpPr>
        <p:spPr>
          <a:xfrm>
            <a:off x="7397261" y="4909555"/>
            <a:ext cx="574431" cy="260322"/>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2718BD5E-16E9-7A75-6901-526F4C74B0E9}"/>
              </a:ext>
            </a:extLst>
          </p:cNvPr>
          <p:cNvSpPr txBox="1"/>
          <p:nvPr/>
        </p:nvSpPr>
        <p:spPr>
          <a:xfrm>
            <a:off x="8398976" y="5953397"/>
            <a:ext cx="3053884" cy="523220"/>
          </a:xfrm>
          <a:prstGeom prst="rect">
            <a:avLst/>
          </a:prstGeom>
          <a:solidFill>
            <a:srgbClr val="FFC000"/>
          </a:solidFill>
        </p:spPr>
        <p:txBody>
          <a:bodyPr wrap="square" rtlCol="0">
            <a:spAutoFit/>
          </a:bodyPr>
          <a:lstStyle/>
          <a:p>
            <a:pPr algn="ctr"/>
            <a:r>
              <a:rPr lang="en-US" sz="1400" dirty="0">
                <a:latin typeface="Courier New" panose="02070309020205020404" pitchFamily="49" charset="0"/>
                <a:cs typeface="Courier New" panose="02070309020205020404" pitchFamily="49" charset="0"/>
              </a:rPr>
              <a:t>SHIFT-RIGHT operation used to divide by 2.</a:t>
            </a:r>
            <a:endParaRPr lang="en-US" sz="1400" dirty="0">
              <a:solidFill>
                <a:srgbClr val="FF0000"/>
              </a:solidFill>
              <a:latin typeface="Courier New" panose="02070309020205020404" pitchFamily="49" charset="0"/>
              <a:cs typeface="Courier New" panose="02070309020205020404" pitchFamily="49" charset="0"/>
            </a:endParaRPr>
          </a:p>
        </p:txBody>
      </p:sp>
      <p:cxnSp>
        <p:nvCxnSpPr>
          <p:cNvPr id="45" name="Straight Arrow Connector 44">
            <a:extLst>
              <a:ext uri="{FF2B5EF4-FFF2-40B4-BE49-F238E27FC236}">
                <a16:creationId xmlns:a16="http://schemas.microsoft.com/office/drawing/2014/main" id="{1C8896D0-D7A3-3CC2-B607-940E98045D6B}"/>
              </a:ext>
            </a:extLst>
          </p:cNvPr>
          <p:cNvCxnSpPr>
            <a:cxnSpLocks/>
          </p:cNvCxnSpPr>
          <p:nvPr/>
        </p:nvCxnSpPr>
        <p:spPr>
          <a:xfrm>
            <a:off x="2203938" y="750277"/>
            <a:ext cx="882162" cy="31054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0869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96A49-DD8A-9821-85CA-EF5D684D47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DD1A5D-AAB2-DC4B-28C3-285CDB65DC82}"/>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090E</a:t>
            </a:r>
          </a:p>
        </p:txBody>
      </p:sp>
      <p:sp>
        <p:nvSpPr>
          <p:cNvPr id="5" name="TextBox 4">
            <a:extLst>
              <a:ext uri="{FF2B5EF4-FFF2-40B4-BE49-F238E27FC236}">
                <a16:creationId xmlns:a16="http://schemas.microsoft.com/office/drawing/2014/main" id="{9D40F28F-9E62-8B84-04B0-095BFEADEB6B}"/>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1F3C4D2A-F98B-7D69-2261-7B84F29713D5}"/>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08EA</a:t>
            </a:r>
          </a:p>
        </p:txBody>
      </p:sp>
      <p:sp>
        <p:nvSpPr>
          <p:cNvPr id="7" name="Rectangle 6">
            <a:extLst>
              <a:ext uri="{FF2B5EF4-FFF2-40B4-BE49-F238E27FC236}">
                <a16:creationId xmlns:a16="http://schemas.microsoft.com/office/drawing/2014/main" id="{9D11DF48-F06E-C6A1-CF72-B6B07D54A814}"/>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07A2</a:t>
            </a:r>
          </a:p>
        </p:txBody>
      </p:sp>
      <p:sp>
        <p:nvSpPr>
          <p:cNvPr id="8" name="Rectangle 7">
            <a:extLst>
              <a:ext uri="{FF2B5EF4-FFF2-40B4-BE49-F238E27FC236}">
                <a16:creationId xmlns:a16="http://schemas.microsoft.com/office/drawing/2014/main" id="{C68A192C-D2C4-8E43-5C26-8EC4A06C411C}"/>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0F1E</a:t>
            </a:r>
          </a:p>
        </p:txBody>
      </p:sp>
      <p:sp>
        <p:nvSpPr>
          <p:cNvPr id="9" name="TextBox 8">
            <a:extLst>
              <a:ext uri="{FF2B5EF4-FFF2-40B4-BE49-F238E27FC236}">
                <a16:creationId xmlns:a16="http://schemas.microsoft.com/office/drawing/2014/main" id="{9B2B62A0-E8BA-2998-FB4D-1CBD58AFF4BB}"/>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502AB359-E30B-0056-6B4C-E006572B67C2}"/>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2B3262B0-5CD8-21DB-D32B-2158294A688A}"/>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40BDC279-B621-259C-281E-40CFD07D3567}"/>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3" name="TextBox 12">
            <a:extLst>
              <a:ext uri="{FF2B5EF4-FFF2-40B4-BE49-F238E27FC236}">
                <a16:creationId xmlns:a16="http://schemas.microsoft.com/office/drawing/2014/main" id="{B3BD4C0A-7699-9E92-5D92-2D764107EF3D}"/>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82969B15-1BAD-7B53-0229-07BA51018ADD}"/>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0D80</a:t>
            </a:r>
          </a:p>
        </p:txBody>
      </p:sp>
      <p:sp>
        <p:nvSpPr>
          <p:cNvPr id="15" name="Rectangle 14">
            <a:extLst>
              <a:ext uri="{FF2B5EF4-FFF2-40B4-BE49-F238E27FC236}">
                <a16:creationId xmlns:a16="http://schemas.microsoft.com/office/drawing/2014/main" id="{BBC4681A-3C05-106E-D256-BCC4F633AF56}"/>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0BFF</a:t>
            </a:r>
          </a:p>
        </p:txBody>
      </p:sp>
      <p:sp>
        <p:nvSpPr>
          <p:cNvPr id="16" name="Rectangle 15">
            <a:extLst>
              <a:ext uri="{FF2B5EF4-FFF2-40B4-BE49-F238E27FC236}">
                <a16:creationId xmlns:a16="http://schemas.microsoft.com/office/drawing/2014/main" id="{A5CE83BF-36BE-5D42-A1AE-6C8E30642971}"/>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A5568C30-681F-5875-FCE5-F31BA6898A82}"/>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04AA0083-AF2B-CD24-E0F6-2B12BDAA6B02}"/>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AB936DE2-CAA9-6FB1-C49C-219945A9BCDA}"/>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542E846C-2B6D-CB6A-8FA0-3B90D4CBC5CC}"/>
              </a:ext>
            </a:extLst>
          </p:cNvPr>
          <p:cNvSpPr/>
          <p:nvPr/>
        </p:nvSpPr>
        <p:spPr>
          <a:xfrm>
            <a:off x="1384300" y="33152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FDB54F32-83AE-31E3-79DD-E37E8CF5913C}"/>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191851DD-6CA7-6BD6-DFF6-D9C9E71763C5}"/>
              </a:ext>
            </a:extLst>
          </p:cNvPr>
          <p:cNvSpPr/>
          <p:nvPr/>
        </p:nvSpPr>
        <p:spPr>
          <a:xfrm>
            <a:off x="1384300" y="36581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98D20C5F-D49B-CF1E-DD94-3ABA085A3AE8}"/>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678CF62E-AC39-9491-3D2E-B217BE20EF57}"/>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3C10</a:t>
            </a:r>
          </a:p>
        </p:txBody>
      </p:sp>
      <p:sp>
        <p:nvSpPr>
          <p:cNvPr id="25" name="TextBox 24">
            <a:extLst>
              <a:ext uri="{FF2B5EF4-FFF2-40B4-BE49-F238E27FC236}">
                <a16:creationId xmlns:a16="http://schemas.microsoft.com/office/drawing/2014/main" id="{A9CCD26F-5E80-185A-F407-7B66D6E95F2C}"/>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D1C58679-F77C-67DA-9D60-32A64D97B878}"/>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6007BF52-84F1-467D-3B4B-E230B8EE7FC6}"/>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FE2CC475-6C5C-7FB6-3BBB-81D115C20A09}"/>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B9611DEA-B73E-1C71-FAC1-297B9365B957}"/>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30634F23-61A8-C4E0-2DE8-550F412831EB}"/>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7E6D4AD3-1574-2751-61AA-EAAC8F82BCC2}"/>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0601</a:t>
            </a:r>
          </a:p>
        </p:txBody>
      </p:sp>
      <p:sp>
        <p:nvSpPr>
          <p:cNvPr id="32" name="Rectangle 31">
            <a:extLst>
              <a:ext uri="{FF2B5EF4-FFF2-40B4-BE49-F238E27FC236}">
                <a16:creationId xmlns:a16="http://schemas.microsoft.com/office/drawing/2014/main" id="{6B279340-157D-F6A3-F0B6-C999320D5833}"/>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1201</a:t>
            </a:r>
          </a:p>
        </p:txBody>
      </p:sp>
      <p:sp>
        <p:nvSpPr>
          <p:cNvPr id="33" name="TextBox 32">
            <a:extLst>
              <a:ext uri="{FF2B5EF4-FFF2-40B4-BE49-F238E27FC236}">
                <a16:creationId xmlns:a16="http://schemas.microsoft.com/office/drawing/2014/main" id="{8330AD90-E74C-394C-D124-79825C32BCDE}"/>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379C77DE-4490-8857-F0C5-1F27A29565CB}"/>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B6580AAF-A188-CD0F-5925-2F6A720AAA76}"/>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C40E6347-8CCE-4696-6BF6-00107231E972}"/>
              </a:ext>
            </a:extLst>
          </p:cNvPr>
          <p:cNvSpPr>
            <a:spLocks noGrp="1"/>
          </p:cNvSpPr>
          <p:nvPr>
            <p:ph idx="1"/>
          </p:nvPr>
        </p:nvSpPr>
        <p:spPr>
          <a:xfrm>
            <a:off x="2801814" y="351693"/>
            <a:ext cx="6787664" cy="3775807"/>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MAINLOOP_INIT: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08F6	09A4	MOVE   R9, R10 </a:t>
            </a:r>
            <a:r>
              <a:rPr lang="pt-BR" sz="1400" dirty="0">
                <a:latin typeface="Courier New" panose="02070309020205020404" pitchFamily="49" charset="0"/>
                <a:cs typeface="Courier New" panose="02070309020205020404" pitchFamily="49" charset="0"/>
                <a:sym typeface="Wingdings" panose="05000000000000000000" pitchFamily="2" charset="2"/>
              </a:rPr>
              <a:t> R9 = R10   (copy </a:t>
            </a:r>
            <a:r>
              <a:rPr lang="pt-BR" sz="1400" dirty="0" err="1">
                <a:latin typeface="Courier New" panose="02070309020205020404" pitchFamily="49" charset="0"/>
                <a:cs typeface="Courier New" panose="02070309020205020404" pitchFamily="49" charset="0"/>
                <a:sym typeface="Wingdings" panose="05000000000000000000" pitchFamily="2" charset="2"/>
              </a:rPr>
              <a:t>length</a:t>
            </a:r>
            <a:r>
              <a:rPr lang="pt-BR" sz="1400" dirty="0">
                <a:latin typeface="Courier New" panose="02070309020205020404" pitchFamily="49" charset="0"/>
                <a:cs typeface="Courier New" panose="02070309020205020404" pitchFamily="49" charset="0"/>
                <a:sym typeface="Wingdings" panose="05000000000000000000" pitchFamily="2" charset="2"/>
              </a:rPr>
              <a: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08F8	F93F	SUBI   R9, #64 </a:t>
            </a:r>
            <a:r>
              <a:rPr lang="pt-BR" sz="1400" dirty="0">
                <a:latin typeface="Courier New" panose="02070309020205020404" pitchFamily="49" charset="0"/>
                <a:cs typeface="Courier New" panose="02070309020205020404" pitchFamily="49" charset="0"/>
                <a:sym typeface="Wingdings" panose="05000000000000000000" pitchFamily="2" charset="2"/>
              </a:rPr>
              <a:t> R9 = R9 – 64  (sub. 64)</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08FA	8800	LBI    R8, 0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 0  (split </a:t>
            </a:r>
            <a:r>
              <a:rPr lang="pt-BR" sz="1400" dirty="0" err="1">
                <a:latin typeface="Courier New" panose="02070309020205020404" pitchFamily="49" charset="0"/>
                <a:cs typeface="Courier New" panose="02070309020205020404" pitchFamily="49" charset="0"/>
                <a:sym typeface="Wingdings" panose="05000000000000000000" pitchFamily="2" charset="2"/>
              </a:rPr>
              <a:t>to</a:t>
            </a:r>
            <a:r>
              <a:rPr lang="pt-BR" sz="1400" dirty="0">
                <a:latin typeface="Courier New" panose="02070309020205020404" pitchFamily="49" charset="0"/>
                <a:cs typeface="Courier New" panose="02070309020205020404" pitchFamily="49" charset="0"/>
                <a:sym typeface="Wingdings" panose="05000000000000000000" pitchFamily="2" charset="2"/>
              </a:rPr>
              <a:t> R8/R9)</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08FC	088D	LTH    R8, R8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R8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08FE	089C	HTL    R8, R9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R9</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0900	E08C	SHR    R8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 &gt;&gt; 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0902	E09C	SHR    R9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 &gt;&gt; 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0904	D401	LWI    R4, TITLE_STRING      (shift </a:t>
            </a:r>
            <a:r>
              <a:rPr lang="pt-BR" sz="1400" dirty="0" err="1">
                <a:latin typeface="Courier New" panose="02070309020205020404" pitchFamily="49" charset="0"/>
                <a:cs typeface="Courier New" panose="02070309020205020404" pitchFamily="49" charset="0"/>
              </a:rPr>
              <a:t>Hi</a:t>
            </a:r>
            <a:r>
              <a:rPr lang="pt-BR" sz="1400" dirty="0">
                <a:latin typeface="Courier New" panose="02070309020205020404" pitchFamily="49" charset="0"/>
                <a:cs typeface="Courier New" panose="02070309020205020404" pitchFamily="49" charset="0"/>
              </a:rPr>
              <a:t> &amp; </a:t>
            </a:r>
            <a:r>
              <a:rPr lang="pt-BR" sz="1400" dirty="0" err="1">
                <a:latin typeface="Courier New" panose="02070309020205020404" pitchFamily="49" charset="0"/>
                <a:cs typeface="Courier New" panose="02070309020205020404" pitchFamily="49" charset="0"/>
              </a:rPr>
              <a:t>Lo</a:t>
            </a:r>
            <a:r>
              <a:rPr lang="pt-BR" sz="1400" dirty="0">
                <a:latin typeface="Courier New" panose="02070309020205020404" pitchFamily="49" charset="0"/>
                <a:cs typeface="Courier New" panose="02070309020205020404" pitchFamily="49" charset="0"/>
              </a:rPr>
              <a: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0906	0CBE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0908	D501	LWI    R5, TITLE_STRING_TEMP</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090A	0D80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090C	5458	MOVE   (R5), R4 </a:t>
            </a:r>
            <a:r>
              <a:rPr lang="pt-BR" sz="1400" dirty="0">
                <a:latin typeface="Courier New" panose="02070309020205020404" pitchFamily="49" charset="0"/>
                <a:cs typeface="Courier New" panose="02070309020205020404" pitchFamily="49" charset="0"/>
                <a:sym typeface="Wingdings" panose="05000000000000000000" pitchFamily="2" charset="2"/>
              </a:rPr>
              <a:t> MEM[R5] = R4</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MAINLOOP_INIT2: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090E	...</a:t>
            </a:r>
          </a:p>
        </p:txBody>
      </p:sp>
      <p:sp>
        <p:nvSpPr>
          <p:cNvPr id="3" name="TextBox 2">
            <a:extLst>
              <a:ext uri="{FF2B5EF4-FFF2-40B4-BE49-F238E27FC236}">
                <a16:creationId xmlns:a16="http://schemas.microsoft.com/office/drawing/2014/main" id="{01BC3279-2781-6A6D-E195-95083A1CF6E2}"/>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7" name="Rectangle 36">
            <a:extLst>
              <a:ext uri="{FF2B5EF4-FFF2-40B4-BE49-F238E27FC236}">
                <a16:creationId xmlns:a16="http://schemas.microsoft.com/office/drawing/2014/main" id="{AA791508-DF6F-D49E-2E19-A319B73FA579}"/>
              </a:ext>
            </a:extLst>
          </p:cNvPr>
          <p:cNvSpPr/>
          <p:nvPr/>
        </p:nvSpPr>
        <p:spPr>
          <a:xfrm>
            <a:off x="4639012" y="674006"/>
            <a:ext cx="4891850" cy="2901532"/>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878CD88-268E-4FFA-9C8D-3EE488158A15}"/>
              </a:ext>
            </a:extLst>
          </p:cNvPr>
          <p:cNvSpPr txBox="1"/>
          <p:nvPr/>
        </p:nvSpPr>
        <p:spPr>
          <a:xfrm>
            <a:off x="4778353" y="3776702"/>
            <a:ext cx="7003339" cy="1200329"/>
          </a:xfrm>
          <a:prstGeom prst="rect">
            <a:avLst/>
          </a:prstGeom>
          <a:solidFill>
            <a:srgbClr val="FFC000"/>
          </a:solidFill>
        </p:spPr>
        <p:txBody>
          <a:bodyPr wrap="square" rtlCol="0">
            <a:spAutoFit/>
          </a:bodyPr>
          <a:lstStyle/>
          <a:p>
            <a:r>
              <a:rPr lang="en-US" dirty="0">
                <a:latin typeface="Courier New" panose="02070309020205020404" pitchFamily="49" charset="0"/>
                <a:cs typeface="Courier New" panose="02070309020205020404" pitchFamily="49" charset="0"/>
              </a:rPr>
              <a:t>We initialize TITLE_STRING_TEMP to the initial value of the @TITLE_STRING (address).  At the end of its scrolling, TITLE_STRING_TEMP will get reset back to @TITLE_STRING.</a:t>
            </a:r>
          </a:p>
        </p:txBody>
      </p:sp>
      <p:cxnSp>
        <p:nvCxnSpPr>
          <p:cNvPr id="38" name="Straight Arrow Connector 37">
            <a:extLst>
              <a:ext uri="{FF2B5EF4-FFF2-40B4-BE49-F238E27FC236}">
                <a16:creationId xmlns:a16="http://schemas.microsoft.com/office/drawing/2014/main" id="{64BE39D8-8F89-FB30-B7BD-902550980E62}"/>
              </a:ext>
            </a:extLst>
          </p:cNvPr>
          <p:cNvCxnSpPr>
            <a:cxnSpLocks/>
          </p:cNvCxnSpPr>
          <p:nvPr/>
        </p:nvCxnSpPr>
        <p:spPr>
          <a:xfrm>
            <a:off x="2192215" y="2119313"/>
            <a:ext cx="2485293" cy="3308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7BDE716-A2C3-63CA-FD4E-1E0AEBE295ED}"/>
              </a:ext>
            </a:extLst>
          </p:cNvPr>
          <p:cNvCxnSpPr>
            <a:cxnSpLocks/>
          </p:cNvCxnSpPr>
          <p:nvPr/>
        </p:nvCxnSpPr>
        <p:spPr>
          <a:xfrm>
            <a:off x="2192215" y="2414954"/>
            <a:ext cx="2485293" cy="4923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4027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C6B29-3BA5-F51F-A807-D395F15153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1A51BC2-CE27-2898-4FAF-E587B5EFC4D8}"/>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091C</a:t>
            </a:r>
          </a:p>
        </p:txBody>
      </p:sp>
      <p:sp>
        <p:nvSpPr>
          <p:cNvPr id="5" name="TextBox 4">
            <a:extLst>
              <a:ext uri="{FF2B5EF4-FFF2-40B4-BE49-F238E27FC236}">
                <a16:creationId xmlns:a16="http://schemas.microsoft.com/office/drawing/2014/main" id="{7ACEAD42-14C9-A160-02D4-6C34882BD3B5}"/>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FDA0B069-4136-6EC1-A690-AF7E4A31DAFB}"/>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08EA</a:t>
            </a:r>
          </a:p>
        </p:txBody>
      </p:sp>
      <p:sp>
        <p:nvSpPr>
          <p:cNvPr id="7" name="Rectangle 6">
            <a:extLst>
              <a:ext uri="{FF2B5EF4-FFF2-40B4-BE49-F238E27FC236}">
                <a16:creationId xmlns:a16="http://schemas.microsoft.com/office/drawing/2014/main" id="{9C61E84C-025E-B239-BF24-6EA399D990CC}"/>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07A2</a:t>
            </a:r>
          </a:p>
        </p:txBody>
      </p:sp>
      <p:sp>
        <p:nvSpPr>
          <p:cNvPr id="8" name="Rectangle 7">
            <a:extLst>
              <a:ext uri="{FF2B5EF4-FFF2-40B4-BE49-F238E27FC236}">
                <a16:creationId xmlns:a16="http://schemas.microsoft.com/office/drawing/2014/main" id="{5A0C2D38-CB37-CF91-6B9F-3E7436B177E1}"/>
              </a:ext>
            </a:extLst>
          </p:cNvPr>
          <p:cNvSpPr/>
          <p:nvPr/>
        </p:nvSpPr>
        <p:spPr>
          <a:xfrm>
            <a:off x="1384300" y="15875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9" name="TextBox 8">
            <a:extLst>
              <a:ext uri="{FF2B5EF4-FFF2-40B4-BE49-F238E27FC236}">
                <a16:creationId xmlns:a16="http://schemas.microsoft.com/office/drawing/2014/main" id="{03E6C7A8-B42E-C671-B625-DC484F6410DD}"/>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29397C92-077D-FD5B-3A22-E3E822A89F89}"/>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0A63C4B0-9E70-19D4-6F72-8450DF6ECCB9}"/>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59BD6CD8-1B28-A4D0-9766-EAA0AD78C2D0}"/>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0C96</a:t>
            </a:r>
          </a:p>
        </p:txBody>
      </p:sp>
      <p:sp>
        <p:nvSpPr>
          <p:cNvPr id="13" name="TextBox 12">
            <a:extLst>
              <a:ext uri="{FF2B5EF4-FFF2-40B4-BE49-F238E27FC236}">
                <a16:creationId xmlns:a16="http://schemas.microsoft.com/office/drawing/2014/main" id="{758C95DA-582A-C272-6CFC-429483D1AC9B}"/>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180F4F75-A678-0707-D0DF-77C7EB5CC9C0}"/>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15" name="Rectangle 14">
            <a:extLst>
              <a:ext uri="{FF2B5EF4-FFF2-40B4-BE49-F238E27FC236}">
                <a16:creationId xmlns:a16="http://schemas.microsoft.com/office/drawing/2014/main" id="{25D73A32-26BC-89A2-7B11-C7E56293A564}"/>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0BFF</a:t>
            </a:r>
          </a:p>
        </p:txBody>
      </p:sp>
      <p:sp>
        <p:nvSpPr>
          <p:cNvPr id="16" name="Rectangle 15">
            <a:extLst>
              <a:ext uri="{FF2B5EF4-FFF2-40B4-BE49-F238E27FC236}">
                <a16:creationId xmlns:a16="http://schemas.microsoft.com/office/drawing/2014/main" id="{9184BADC-7D5A-44D9-70D8-B93F4598D47F}"/>
              </a:ext>
            </a:extLst>
          </p:cNvPr>
          <p:cNvSpPr/>
          <p:nvPr/>
        </p:nvSpPr>
        <p:spPr>
          <a:xfrm>
            <a:off x="1384300" y="29591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000A</a:t>
            </a:r>
          </a:p>
        </p:txBody>
      </p:sp>
      <p:sp>
        <p:nvSpPr>
          <p:cNvPr id="17" name="TextBox 16">
            <a:extLst>
              <a:ext uri="{FF2B5EF4-FFF2-40B4-BE49-F238E27FC236}">
                <a16:creationId xmlns:a16="http://schemas.microsoft.com/office/drawing/2014/main" id="{D6658013-1441-9B9D-26D5-21AB651E2251}"/>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29EF6BFB-520A-FEF9-149E-CFDF4CF67E66}"/>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BA181DB8-A3DB-AB73-9A0A-583EDEE6D81C}"/>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90341E85-5C5D-75E3-C8E2-31E6E09DEBBC}"/>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1F7184BA-55EB-24A4-64DD-1B12F72DB6DE}"/>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12C1B535-73B8-FFC8-E36B-7996892F41C4}"/>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5FA3622D-1829-BF8D-F6D3-E42A6EE8AF71}"/>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0468</a:t>
            </a:r>
          </a:p>
        </p:txBody>
      </p:sp>
      <p:sp>
        <p:nvSpPr>
          <p:cNvPr id="24" name="Rectangle 23">
            <a:extLst>
              <a:ext uri="{FF2B5EF4-FFF2-40B4-BE49-F238E27FC236}">
                <a16:creationId xmlns:a16="http://schemas.microsoft.com/office/drawing/2014/main" id="{88FCF425-E0F8-81C0-CECA-80FB4F49622D}"/>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3C10</a:t>
            </a:r>
          </a:p>
        </p:txBody>
      </p:sp>
      <p:sp>
        <p:nvSpPr>
          <p:cNvPr id="25" name="TextBox 24">
            <a:extLst>
              <a:ext uri="{FF2B5EF4-FFF2-40B4-BE49-F238E27FC236}">
                <a16:creationId xmlns:a16="http://schemas.microsoft.com/office/drawing/2014/main" id="{9A5C9355-C8AA-098E-4ECA-379143D976EC}"/>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EECD3E0C-1993-E96A-2C7D-25CF2DAF0873}"/>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9661569C-FD3E-135B-3F2D-9225FC30E6DD}"/>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9E88CB78-FFB7-4411-DBE6-934B019E7293}"/>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802BD9AF-1F27-952E-5932-ED59E198568B}"/>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BF8FD0E4-9397-86F5-6DAB-4879B71D8076}"/>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AAF5CFFB-A642-6E3F-9135-85DDF19E57C6}"/>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0601</a:t>
            </a:r>
          </a:p>
        </p:txBody>
      </p:sp>
      <p:sp>
        <p:nvSpPr>
          <p:cNvPr id="32" name="Rectangle 31">
            <a:extLst>
              <a:ext uri="{FF2B5EF4-FFF2-40B4-BE49-F238E27FC236}">
                <a16:creationId xmlns:a16="http://schemas.microsoft.com/office/drawing/2014/main" id="{5631E10D-FD6C-1054-59E1-A82AFCCD9276}"/>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1201</a:t>
            </a:r>
          </a:p>
        </p:txBody>
      </p:sp>
      <p:sp>
        <p:nvSpPr>
          <p:cNvPr id="33" name="TextBox 32">
            <a:extLst>
              <a:ext uri="{FF2B5EF4-FFF2-40B4-BE49-F238E27FC236}">
                <a16:creationId xmlns:a16="http://schemas.microsoft.com/office/drawing/2014/main" id="{3C4D186D-1B46-F48B-9B42-0C51B1ED56A7}"/>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EA046A9B-B4DD-A750-31A5-A015F904EAB2}"/>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D08D6F75-EFA5-7438-66C6-5EC6B6E7D527}"/>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0EFED93E-4F7B-6330-FDDB-64B9BB9E2181}"/>
              </a:ext>
            </a:extLst>
          </p:cNvPr>
          <p:cNvSpPr>
            <a:spLocks noGrp="1"/>
          </p:cNvSpPr>
          <p:nvPr>
            <p:ph idx="1"/>
          </p:nvPr>
        </p:nvSpPr>
        <p:spPr>
          <a:xfrm>
            <a:off x="2801814" y="351693"/>
            <a:ext cx="7303478" cy="2729605"/>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MAINLOOP_INIT2:</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090E	8300	LBI    R3, #0	</a:t>
            </a:r>
            <a:r>
              <a:rPr lang="en-US" sz="1400" dirty="0">
                <a:latin typeface="Courier New" panose="02070309020205020404" pitchFamily="49" charset="0"/>
                <a:cs typeface="Courier New" panose="02070309020205020404" pitchFamily="49" charset="0"/>
                <a:sym typeface="Wingdings" panose="05000000000000000000" pitchFamily="2" charset="2"/>
              </a:rPr>
              <a:t> Lo R3 = 0</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0910	033D	LTH    R3, R3	</a:t>
            </a:r>
            <a:r>
              <a:rPr lang="en-US" sz="1400" dirty="0">
                <a:latin typeface="Courier New" panose="02070309020205020404" pitchFamily="49" charset="0"/>
                <a:cs typeface="Courier New" panose="02070309020205020404" pitchFamily="49" charset="0"/>
                <a:sym typeface="Wingdings" panose="05000000000000000000" pitchFamily="2" charset="2"/>
              </a:rPr>
              <a:t> Hi R3 = Lo R3</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0912	D401	LWI    R4, WORKING_ADDRESS </a:t>
            </a:r>
            <a:r>
              <a:rPr lang="en-US" sz="1400" dirty="0">
                <a:latin typeface="Courier New" panose="02070309020205020404" pitchFamily="49" charset="0"/>
                <a:cs typeface="Courier New" panose="02070309020205020404" pitchFamily="49" charset="0"/>
                <a:sym typeface="Wingdings" panose="05000000000000000000" pitchFamily="2" charset="2"/>
              </a:rPr>
              <a:t> R4 = @WORK_ADDR</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0914	0C96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0916	D501	LWI    R5, WORKING_ADDRESSI </a:t>
            </a:r>
            <a:r>
              <a:rPr lang="en-US" sz="1400" dirty="0">
                <a:latin typeface="Courier New" panose="02070309020205020404" pitchFamily="49" charset="0"/>
                <a:cs typeface="Courier New" panose="02070309020205020404" pitchFamily="49" charset="0"/>
                <a:sym typeface="Wingdings" panose="05000000000000000000" pitchFamily="2" charset="2"/>
              </a:rPr>
              <a:t> R5 = @WORK_ADDRI</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0918	0CAA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091A	870A	LBI    R7, #10	</a:t>
            </a:r>
            <a:r>
              <a:rPr lang="en-US" sz="1400" dirty="0">
                <a:latin typeface="Courier New" panose="02070309020205020404" pitchFamily="49" charset="0"/>
                <a:cs typeface="Courier New" panose="02070309020205020404" pitchFamily="49" charset="0"/>
                <a:sym typeface="Wingdings" panose="05000000000000000000" pitchFamily="2" charset="2"/>
              </a:rPr>
              <a:t> Lo R7 = 10 (decimal)</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REPEAT_RESET: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091C	...</a:t>
            </a:r>
          </a:p>
        </p:txBody>
      </p:sp>
      <p:sp>
        <p:nvSpPr>
          <p:cNvPr id="3" name="TextBox 2">
            <a:extLst>
              <a:ext uri="{FF2B5EF4-FFF2-40B4-BE49-F238E27FC236}">
                <a16:creationId xmlns:a16="http://schemas.microsoft.com/office/drawing/2014/main" id="{C9340BD1-F23F-62BA-F1C7-11181A40AA8A}"/>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40" name="TextBox 39">
            <a:extLst>
              <a:ext uri="{FF2B5EF4-FFF2-40B4-BE49-F238E27FC236}">
                <a16:creationId xmlns:a16="http://schemas.microsoft.com/office/drawing/2014/main" id="{7922D15C-8080-049D-2A4D-24C51FC7EDF0}"/>
              </a:ext>
            </a:extLst>
          </p:cNvPr>
          <p:cNvSpPr txBox="1"/>
          <p:nvPr/>
        </p:nvSpPr>
        <p:spPr>
          <a:xfrm>
            <a:off x="3788418" y="3407192"/>
            <a:ext cx="7817427" cy="2308324"/>
          </a:xfrm>
          <a:prstGeom prst="rect">
            <a:avLst/>
          </a:prstGeom>
          <a:solidFill>
            <a:srgbClr val="FFC000"/>
          </a:solidFill>
        </p:spPr>
        <p:txBody>
          <a:bodyPr wrap="square" rtlCol="0">
            <a:spAutoFit/>
          </a:bodyPr>
          <a:lstStyle/>
          <a:p>
            <a:r>
              <a:rPr lang="en-US" b="1" dirty="0">
                <a:latin typeface="Courier New" panose="02070309020205020404" pitchFamily="49" charset="0"/>
                <a:cs typeface="Courier New" panose="02070309020205020404" pitchFamily="49" charset="0"/>
              </a:rPr>
              <a:t>R3</a:t>
            </a:r>
            <a:r>
              <a:rPr lang="en-US" dirty="0">
                <a:latin typeface="Courier New" panose="02070309020205020404" pitchFamily="49" charset="0"/>
                <a:cs typeface="Courier New" panose="02070309020205020404" pitchFamily="49" charset="0"/>
              </a:rPr>
              <a:t> will be used as our scene “step counter” to monitor for when we’ve reached near the edge.</a:t>
            </a:r>
          </a:p>
          <a:p>
            <a:endParaRPr lang="en-US"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R4</a:t>
            </a:r>
            <a:r>
              <a:rPr lang="en-US" dirty="0">
                <a:latin typeface="Courier New" panose="02070309020205020404" pitchFamily="49" charset="0"/>
                <a:cs typeface="Courier New" panose="02070309020205020404" pitchFamily="49" charset="0"/>
              </a:rPr>
              <a:t> points to the array of addresses for each of the </a:t>
            </a:r>
            <a:r>
              <a:rPr lang="en-US" dirty="0" err="1">
                <a:latin typeface="Courier New" panose="02070309020205020404" pitchFamily="49" charset="0"/>
                <a:cs typeface="Courier New" panose="02070309020205020404" pitchFamily="49" charset="0"/>
              </a:rPr>
              <a:t>big_letter</a:t>
            </a:r>
            <a:r>
              <a:rPr lang="en-US" dirty="0">
                <a:latin typeface="Courier New" panose="02070309020205020404" pitchFamily="49" charset="0"/>
                <a:cs typeface="Courier New" panose="02070309020205020404" pitchFamily="49" charset="0"/>
              </a:rPr>
              <a:t> rows (used for the copy made on next page).</a:t>
            </a:r>
          </a:p>
          <a:p>
            <a:endParaRPr lang="en-US"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R7</a:t>
            </a:r>
            <a:r>
              <a:rPr lang="en-US" dirty="0">
                <a:latin typeface="Courier New" panose="02070309020205020404" pitchFamily="49" charset="0"/>
                <a:cs typeface="Courier New" panose="02070309020205020404" pitchFamily="49" charset="0"/>
              </a:rPr>
              <a:t> is a loop counter to keep count of how many rows we have copied so far (counting down from 10).</a:t>
            </a:r>
          </a:p>
        </p:txBody>
      </p:sp>
      <p:sp>
        <p:nvSpPr>
          <p:cNvPr id="41" name="Rectangle 40">
            <a:extLst>
              <a:ext uri="{FF2B5EF4-FFF2-40B4-BE49-F238E27FC236}">
                <a16:creationId xmlns:a16="http://schemas.microsoft.com/office/drawing/2014/main" id="{E7C8DEEE-A7F8-9F72-58D0-8644FD1A17CA}"/>
              </a:ext>
            </a:extLst>
          </p:cNvPr>
          <p:cNvSpPr/>
          <p:nvPr/>
        </p:nvSpPr>
        <p:spPr>
          <a:xfrm>
            <a:off x="4639011" y="674006"/>
            <a:ext cx="5302157" cy="1729225"/>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8B59ECEB-613A-2A5E-F284-3ADFA87DA48C}"/>
              </a:ext>
            </a:extLst>
          </p:cNvPr>
          <p:cNvCxnSpPr>
            <a:cxnSpLocks/>
          </p:cNvCxnSpPr>
          <p:nvPr/>
        </p:nvCxnSpPr>
        <p:spPr>
          <a:xfrm>
            <a:off x="2203938" y="750277"/>
            <a:ext cx="901212" cy="18976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1967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F1E81-0633-974B-750A-2C0C54D576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DDC2132-58FE-D6E7-54F9-D41E84F23CB1}"/>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092E</a:t>
            </a:r>
          </a:p>
        </p:txBody>
      </p:sp>
      <p:sp>
        <p:nvSpPr>
          <p:cNvPr id="5" name="TextBox 4">
            <a:extLst>
              <a:ext uri="{FF2B5EF4-FFF2-40B4-BE49-F238E27FC236}">
                <a16:creationId xmlns:a16="http://schemas.microsoft.com/office/drawing/2014/main" id="{93A135D5-078E-2B2C-570E-BF2995F1A93F}"/>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CE47D75A-D8F9-7B33-63CC-D37811AEFE25}"/>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0926</a:t>
            </a:r>
          </a:p>
        </p:txBody>
      </p:sp>
      <p:sp>
        <p:nvSpPr>
          <p:cNvPr id="7" name="Rectangle 6">
            <a:extLst>
              <a:ext uri="{FF2B5EF4-FFF2-40B4-BE49-F238E27FC236}">
                <a16:creationId xmlns:a16="http://schemas.microsoft.com/office/drawing/2014/main" id="{E33A22A3-008D-C483-1507-8AC7B1119B5B}"/>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07A2</a:t>
            </a:r>
          </a:p>
        </p:txBody>
      </p:sp>
      <p:sp>
        <p:nvSpPr>
          <p:cNvPr id="8" name="Rectangle 7">
            <a:extLst>
              <a:ext uri="{FF2B5EF4-FFF2-40B4-BE49-F238E27FC236}">
                <a16:creationId xmlns:a16="http://schemas.microsoft.com/office/drawing/2014/main" id="{58F7A773-F305-1CB6-52C1-2E1C306D2730}"/>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9" name="TextBox 8">
            <a:extLst>
              <a:ext uri="{FF2B5EF4-FFF2-40B4-BE49-F238E27FC236}">
                <a16:creationId xmlns:a16="http://schemas.microsoft.com/office/drawing/2014/main" id="{2AAF6A3C-3362-EA6A-EE65-F37D330FE7BD}"/>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2392D494-BBBB-B63E-C487-FA270093311F}"/>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62525610-BA37-0B76-6858-E13350BD5E59}"/>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6CA22B4A-EF43-BB71-FF23-406E38305D4A}"/>
              </a:ext>
            </a:extLst>
          </p:cNvPr>
          <p:cNvSpPr/>
          <p:nvPr/>
        </p:nvSpPr>
        <p:spPr>
          <a:xfrm>
            <a:off x="1384300" y="19304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3" name="TextBox 12">
            <a:extLst>
              <a:ext uri="{FF2B5EF4-FFF2-40B4-BE49-F238E27FC236}">
                <a16:creationId xmlns:a16="http://schemas.microsoft.com/office/drawing/2014/main" id="{43E95585-7C6A-D37D-0D10-DF191019C798}"/>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638A4E64-5EF9-6915-DB95-679BABB46A87}"/>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5" name="Rectangle 14">
            <a:extLst>
              <a:ext uri="{FF2B5EF4-FFF2-40B4-BE49-F238E27FC236}">
                <a16:creationId xmlns:a16="http://schemas.microsoft.com/office/drawing/2014/main" id="{BF8E594B-CC1B-BBDC-2B51-7A3E0DC03284}"/>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37A8</a:t>
            </a:r>
          </a:p>
        </p:txBody>
      </p:sp>
      <p:sp>
        <p:nvSpPr>
          <p:cNvPr id="16" name="Rectangle 15">
            <a:extLst>
              <a:ext uri="{FF2B5EF4-FFF2-40B4-BE49-F238E27FC236}">
                <a16:creationId xmlns:a16="http://schemas.microsoft.com/office/drawing/2014/main" id="{6587D736-BEE3-61C0-BF55-6D4AB2E1265B}"/>
              </a:ext>
            </a:extLst>
          </p:cNvPr>
          <p:cNvSpPr/>
          <p:nvPr/>
        </p:nvSpPr>
        <p:spPr>
          <a:xfrm>
            <a:off x="1384300" y="29591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28AAE999-1A9A-749D-B738-112364EAC662}"/>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6BBFB9E1-1847-3066-D8B8-32C9B60ECBC8}"/>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56F8D0D6-AE77-B1F1-14D5-15EC05182CA4}"/>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E9D88D92-0BBE-1901-3C96-003BC0FEE3F3}"/>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C4AFD8EE-2E8B-0927-70E1-84D18B4B6C12}"/>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78FBD276-EA2A-DD08-4780-F02EFA3D203D}"/>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DEAE4456-21B1-BF08-FCB0-42B28B5A2805}"/>
              </a:ext>
            </a:extLst>
          </p:cNvPr>
          <p:cNvSpPr/>
          <p:nvPr/>
        </p:nvSpPr>
        <p:spPr>
          <a:xfrm>
            <a:off x="1384300" y="40010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0480</a:t>
            </a:r>
          </a:p>
        </p:txBody>
      </p:sp>
      <p:sp>
        <p:nvSpPr>
          <p:cNvPr id="24" name="Rectangle 23">
            <a:extLst>
              <a:ext uri="{FF2B5EF4-FFF2-40B4-BE49-F238E27FC236}">
                <a16:creationId xmlns:a16="http://schemas.microsoft.com/office/drawing/2014/main" id="{1473A573-6490-05B5-6DBA-C5CE76ADB601}"/>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3C10</a:t>
            </a:r>
          </a:p>
        </p:txBody>
      </p:sp>
      <p:sp>
        <p:nvSpPr>
          <p:cNvPr id="25" name="TextBox 24">
            <a:extLst>
              <a:ext uri="{FF2B5EF4-FFF2-40B4-BE49-F238E27FC236}">
                <a16:creationId xmlns:a16="http://schemas.microsoft.com/office/drawing/2014/main" id="{7F1ACC33-F4B6-C2EB-433B-02A473A19B17}"/>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1E85F547-01F9-302E-86E0-558E67A937A8}"/>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BAFF7AB6-B688-6F8C-0675-6679EDE837C4}"/>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E90FB56A-753D-069B-E8E6-BE07BA7D36D5}"/>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C2C03F33-4943-E544-C82B-0F32AF799588}"/>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35778DCB-CA3F-F11E-4F2C-E23E99D77D0A}"/>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31" name="Rectangle 30">
            <a:extLst>
              <a:ext uri="{FF2B5EF4-FFF2-40B4-BE49-F238E27FC236}">
                <a16:creationId xmlns:a16="http://schemas.microsoft.com/office/drawing/2014/main" id="{1EF5540A-4558-4209-C246-45C35BD039BF}"/>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0601</a:t>
            </a:r>
          </a:p>
        </p:txBody>
      </p:sp>
      <p:sp>
        <p:nvSpPr>
          <p:cNvPr id="32" name="Rectangle 31">
            <a:extLst>
              <a:ext uri="{FF2B5EF4-FFF2-40B4-BE49-F238E27FC236}">
                <a16:creationId xmlns:a16="http://schemas.microsoft.com/office/drawing/2014/main" id="{DB5A7A00-BF94-5034-0FCA-55C44143D67A}"/>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1201</a:t>
            </a:r>
          </a:p>
        </p:txBody>
      </p:sp>
      <p:sp>
        <p:nvSpPr>
          <p:cNvPr id="33" name="TextBox 32">
            <a:extLst>
              <a:ext uri="{FF2B5EF4-FFF2-40B4-BE49-F238E27FC236}">
                <a16:creationId xmlns:a16="http://schemas.microsoft.com/office/drawing/2014/main" id="{2D676F6B-48BF-0610-596C-42C8B355F8A0}"/>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58BC1CE4-1ECE-44B0-C081-DFE303F04040}"/>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5320C12E-0BD6-329E-621C-3D0F383DCA1F}"/>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13D6E092-A175-98EE-E801-526065533E81}"/>
              </a:ext>
            </a:extLst>
          </p:cNvPr>
          <p:cNvSpPr>
            <a:spLocks noGrp="1"/>
          </p:cNvSpPr>
          <p:nvPr>
            <p:ph idx="1"/>
          </p:nvPr>
        </p:nvSpPr>
        <p:spPr>
          <a:xfrm>
            <a:off x="2801814" y="351693"/>
            <a:ext cx="6869724" cy="4660402"/>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REPEAT_RESET:</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091C	D651	MOVE   R6, (R5)+    </a:t>
            </a:r>
            <a:r>
              <a:rPr lang="en-US" sz="1400" dirty="0">
                <a:latin typeface="Courier New" panose="02070309020205020404" pitchFamily="49" charset="0"/>
                <a:cs typeface="Courier New" panose="02070309020205020404" pitchFamily="49" charset="0"/>
                <a:sym typeface="Wingdings" panose="05000000000000000000" pitchFamily="2" charset="2"/>
              </a:rPr>
              <a:t> R6 = MEM[R5], R5=R5+2</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091E	5641	MOVE   (R4)+, R6 	   </a:t>
            </a:r>
            <a:r>
              <a:rPr lang="en-US" sz="1400" dirty="0">
                <a:latin typeface="Courier New" panose="02070309020205020404" pitchFamily="49" charset="0"/>
                <a:cs typeface="Courier New" panose="02070309020205020404" pitchFamily="49" charset="0"/>
                <a:sym typeface="Wingdings" panose="05000000000000000000" pitchFamily="2" charset="2"/>
              </a:rPr>
              <a:t> MEM[R4] = R6, R4=R4+2</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0920	0771	DEC    R7	   </a:t>
            </a:r>
            <a:r>
              <a:rPr lang="en-US" sz="1400" dirty="0">
                <a:latin typeface="Courier New" panose="02070309020205020404" pitchFamily="49" charset="0"/>
                <a:cs typeface="Courier New" panose="02070309020205020404" pitchFamily="49" charset="0"/>
                <a:sym typeface="Wingdings" panose="05000000000000000000" pitchFamily="2" charset="2"/>
              </a:rPr>
              <a:t> R7 = R7-1</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0922	C703	SZ     R7	   </a:t>
            </a:r>
            <a:r>
              <a:rPr lang="en-US" sz="1400" dirty="0">
                <a:latin typeface="Courier New" panose="02070309020205020404" pitchFamily="49" charset="0"/>
                <a:cs typeface="Courier New" panose="02070309020205020404" pitchFamily="49" charset="0"/>
                <a:sym typeface="Wingdings" panose="05000000000000000000" pitchFamily="2" charset="2"/>
              </a:rPr>
              <a:t> Skip if (R7 == 0)</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0924	F009	BRA    REPEAT_RESET</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0926	D401	LWI    R4, TITLE_STRING_TEMP</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0928	0D80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092A	D448	MOVE   R4, (R4)	   </a:t>
            </a:r>
            <a:r>
              <a:rPr lang="en-US" sz="1400" dirty="0">
                <a:latin typeface="Courier New" panose="02070309020205020404" pitchFamily="49" charset="0"/>
                <a:cs typeface="Courier New" panose="02070309020205020404" pitchFamily="49" charset="0"/>
                <a:sym typeface="Wingdings" panose="05000000000000000000" pitchFamily="2" charset="2"/>
              </a:rPr>
              <a:t> R4 = MEM[R4]</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092C	8A80	LBI    R10, #128    </a:t>
            </a:r>
            <a:r>
              <a:rPr lang="en-US" sz="1400" dirty="0">
                <a:latin typeface="Courier New" panose="02070309020205020404" pitchFamily="49" charset="0"/>
                <a:cs typeface="Courier New" panose="02070309020205020404" pitchFamily="49" charset="0"/>
                <a:sym typeface="Wingdings" panose="05000000000000000000" pitchFamily="2" charset="2"/>
              </a:rPr>
              <a:t> Lo R10 = 0x80</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MAINLOOP: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092E	860A	LBI    R6, #10</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0930	DE01	LWI    R14, FIRST_BANNER_ROW</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0932	0280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0934	DD01	LWI    R13, WORKING_ADDRESS</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0936	0C96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MAINLOOP_A: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0938	...</a:t>
            </a:r>
          </a:p>
        </p:txBody>
      </p:sp>
      <p:sp>
        <p:nvSpPr>
          <p:cNvPr id="3" name="TextBox 2">
            <a:extLst>
              <a:ext uri="{FF2B5EF4-FFF2-40B4-BE49-F238E27FC236}">
                <a16:creationId xmlns:a16="http://schemas.microsoft.com/office/drawing/2014/main" id="{CD3CDD63-F0BF-3331-4C75-C999AD7898F5}"/>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652B56BD-FD23-A778-53F9-92D675DF1163}"/>
              </a:ext>
            </a:extLst>
          </p:cNvPr>
          <p:cNvSpPr/>
          <p:nvPr/>
        </p:nvSpPr>
        <p:spPr>
          <a:xfrm>
            <a:off x="4639011" y="674006"/>
            <a:ext cx="4938743" cy="2258662"/>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Brace 36">
            <a:extLst>
              <a:ext uri="{FF2B5EF4-FFF2-40B4-BE49-F238E27FC236}">
                <a16:creationId xmlns:a16="http://schemas.microsoft.com/office/drawing/2014/main" id="{D23E3BC4-64D9-BE6C-B2AF-7643AA4EBFAC}"/>
              </a:ext>
            </a:extLst>
          </p:cNvPr>
          <p:cNvSpPr/>
          <p:nvPr/>
        </p:nvSpPr>
        <p:spPr>
          <a:xfrm>
            <a:off x="9479986" y="673644"/>
            <a:ext cx="547232" cy="1143434"/>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ED1ECF82-9EEF-280B-CFA8-190BD65A9917}"/>
              </a:ext>
            </a:extLst>
          </p:cNvPr>
          <p:cNvSpPr txBox="1"/>
          <p:nvPr/>
        </p:nvSpPr>
        <p:spPr>
          <a:xfrm>
            <a:off x="10027218" y="462992"/>
            <a:ext cx="2047552" cy="1569660"/>
          </a:xfrm>
          <a:prstGeom prst="rect">
            <a:avLst/>
          </a:prstGeom>
          <a:noFill/>
        </p:spPr>
        <p:txBody>
          <a:bodyPr wrap="square" rtlCol="0">
            <a:spAutoFit/>
          </a:bodyPr>
          <a:lstStyle/>
          <a:p>
            <a:r>
              <a:rPr lang="en-US" sz="1600" dirty="0"/>
              <a:t>Reset all 10 entries of WORKING_ADDRESS back to the starting values stored in the WORKING_ADDRESS_I array.</a:t>
            </a:r>
            <a:endParaRPr lang="en-US" sz="1600" b="1" dirty="0"/>
          </a:p>
        </p:txBody>
      </p:sp>
      <p:sp>
        <p:nvSpPr>
          <p:cNvPr id="39" name="Rectangle 38">
            <a:extLst>
              <a:ext uri="{FF2B5EF4-FFF2-40B4-BE49-F238E27FC236}">
                <a16:creationId xmlns:a16="http://schemas.microsoft.com/office/drawing/2014/main" id="{0EFC80A5-E3DD-5263-3C52-3716BACDB7DB}"/>
              </a:ext>
            </a:extLst>
          </p:cNvPr>
          <p:cNvSpPr/>
          <p:nvPr/>
        </p:nvSpPr>
        <p:spPr>
          <a:xfrm>
            <a:off x="11128251" y="2678470"/>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2" name="TextBox 41">
            <a:extLst>
              <a:ext uri="{FF2B5EF4-FFF2-40B4-BE49-F238E27FC236}">
                <a16:creationId xmlns:a16="http://schemas.microsoft.com/office/drawing/2014/main" id="{FCAD7F6C-143C-2B4E-1146-266281A4F19D}"/>
              </a:ext>
            </a:extLst>
          </p:cNvPr>
          <p:cNvSpPr txBox="1"/>
          <p:nvPr/>
        </p:nvSpPr>
        <p:spPr>
          <a:xfrm>
            <a:off x="10408597" y="2678470"/>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43" name="Rectangle 42">
            <a:extLst>
              <a:ext uri="{FF2B5EF4-FFF2-40B4-BE49-F238E27FC236}">
                <a16:creationId xmlns:a16="http://schemas.microsoft.com/office/drawing/2014/main" id="{8F1CB6AD-841C-2F98-7FE1-CE35523AB29F}"/>
              </a:ext>
            </a:extLst>
          </p:cNvPr>
          <p:cNvSpPr/>
          <p:nvPr/>
        </p:nvSpPr>
        <p:spPr>
          <a:xfrm>
            <a:off x="11128223" y="4602849"/>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4" name="TextBox 43">
            <a:extLst>
              <a:ext uri="{FF2B5EF4-FFF2-40B4-BE49-F238E27FC236}">
                <a16:creationId xmlns:a16="http://schemas.microsoft.com/office/drawing/2014/main" id="{A5C0DFD2-3CB9-C692-48CA-B7DD9BE6EEB9}"/>
              </a:ext>
            </a:extLst>
          </p:cNvPr>
          <p:cNvSpPr txBox="1"/>
          <p:nvPr/>
        </p:nvSpPr>
        <p:spPr>
          <a:xfrm>
            <a:off x="10407040" y="4602849"/>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0CAA</a:t>
            </a:r>
          </a:p>
          <a:p>
            <a:r>
              <a:rPr lang="nn-NO" sz="1200" dirty="0">
                <a:latin typeface="Courier New" panose="02070309020205020404" pitchFamily="49" charset="0"/>
                <a:cs typeface="Courier New" panose="02070309020205020404" pitchFamily="49" charset="0"/>
              </a:rPr>
              <a:t>0CAC</a:t>
            </a:r>
          </a:p>
          <a:p>
            <a:r>
              <a:rPr lang="nn-NO" sz="1200" dirty="0">
                <a:latin typeface="Courier New" panose="02070309020205020404" pitchFamily="49" charset="0"/>
                <a:cs typeface="Courier New" panose="02070309020205020404" pitchFamily="49" charset="0"/>
              </a:rPr>
              <a:t>0CAE</a:t>
            </a:r>
          </a:p>
          <a:p>
            <a:r>
              <a:rPr lang="nn-NO" sz="1200" dirty="0">
                <a:latin typeface="Courier New" panose="02070309020205020404" pitchFamily="49" charset="0"/>
                <a:cs typeface="Courier New" panose="02070309020205020404" pitchFamily="49" charset="0"/>
              </a:rPr>
              <a:t>0CB0</a:t>
            </a:r>
          </a:p>
          <a:p>
            <a:r>
              <a:rPr lang="nn-NO" sz="1200" dirty="0">
                <a:latin typeface="Courier New" panose="02070309020205020404" pitchFamily="49" charset="0"/>
                <a:cs typeface="Courier New" panose="02070309020205020404" pitchFamily="49" charset="0"/>
              </a:rPr>
              <a:t>0CB2</a:t>
            </a:r>
          </a:p>
          <a:p>
            <a:r>
              <a:rPr lang="nn-NO" sz="1200" dirty="0">
                <a:latin typeface="Courier New" panose="02070309020205020404" pitchFamily="49" charset="0"/>
                <a:cs typeface="Courier New" panose="02070309020205020404" pitchFamily="49" charset="0"/>
              </a:rPr>
              <a:t>0CB4</a:t>
            </a:r>
          </a:p>
          <a:p>
            <a:r>
              <a:rPr lang="nn-NO" sz="1200" dirty="0">
                <a:latin typeface="Courier New" panose="02070309020205020404" pitchFamily="49" charset="0"/>
                <a:cs typeface="Courier New" panose="02070309020205020404" pitchFamily="49" charset="0"/>
              </a:rPr>
              <a:t>0CB6</a:t>
            </a:r>
          </a:p>
          <a:p>
            <a:r>
              <a:rPr lang="nn-NO" sz="1200" dirty="0">
                <a:latin typeface="Courier New" panose="02070309020205020404" pitchFamily="49" charset="0"/>
                <a:cs typeface="Courier New" panose="02070309020205020404" pitchFamily="49" charset="0"/>
              </a:rPr>
              <a:t>0CB8</a:t>
            </a:r>
          </a:p>
          <a:p>
            <a:r>
              <a:rPr lang="nn-NO" sz="1200" dirty="0">
                <a:latin typeface="Courier New" panose="02070309020205020404" pitchFamily="49" charset="0"/>
                <a:cs typeface="Courier New" panose="02070309020205020404" pitchFamily="49" charset="0"/>
              </a:rPr>
              <a:t>0CBA</a:t>
            </a:r>
          </a:p>
          <a:p>
            <a:r>
              <a:rPr lang="nn-NO" sz="1200" dirty="0">
                <a:latin typeface="Courier New" panose="02070309020205020404" pitchFamily="49" charset="0"/>
                <a:cs typeface="Courier New" panose="02070309020205020404" pitchFamily="49" charset="0"/>
              </a:rPr>
              <a:t>0CBC</a:t>
            </a:r>
          </a:p>
        </p:txBody>
      </p:sp>
      <p:cxnSp>
        <p:nvCxnSpPr>
          <p:cNvPr id="46" name="Straight Arrow Connector 45">
            <a:extLst>
              <a:ext uri="{FF2B5EF4-FFF2-40B4-BE49-F238E27FC236}">
                <a16:creationId xmlns:a16="http://schemas.microsoft.com/office/drawing/2014/main" id="{F81C4229-B571-0991-9078-A7963BA86FB8}"/>
              </a:ext>
            </a:extLst>
          </p:cNvPr>
          <p:cNvCxnSpPr>
            <a:cxnSpLocks/>
            <a:stCxn id="44" idx="1"/>
            <a:endCxn id="42" idx="1"/>
          </p:cNvCxnSpPr>
          <p:nvPr/>
        </p:nvCxnSpPr>
        <p:spPr>
          <a:xfrm rot="10800000" flipH="1">
            <a:off x="10407039" y="3647967"/>
            <a:ext cx="1557" cy="1924379"/>
          </a:xfrm>
          <a:prstGeom prst="curvedConnector3">
            <a:avLst>
              <a:gd name="adj1" fmla="val -1468208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DE8BFAB-00A3-C106-0806-04F5A537B985}"/>
              </a:ext>
            </a:extLst>
          </p:cNvPr>
          <p:cNvSpPr txBox="1"/>
          <p:nvPr/>
        </p:nvSpPr>
        <p:spPr>
          <a:xfrm>
            <a:off x="2623974" y="4904254"/>
            <a:ext cx="7225403" cy="1569660"/>
          </a:xfrm>
          <a:prstGeom prst="rect">
            <a:avLst/>
          </a:prstGeom>
          <a:solidFill>
            <a:srgbClr val="FFC000"/>
          </a:solidFill>
        </p:spPr>
        <p:txBody>
          <a:bodyPr wrap="square" rtlCol="0">
            <a:spAutoFit/>
          </a:bodyPr>
          <a:lstStyle/>
          <a:p>
            <a:r>
              <a:rPr lang="en-US" sz="1600" b="1" dirty="0">
                <a:latin typeface="Courier New" panose="02070309020205020404" pitchFamily="49" charset="0"/>
                <a:cs typeface="Courier New" panose="02070309020205020404" pitchFamily="49" charset="0"/>
              </a:rPr>
              <a:t>R4</a:t>
            </a:r>
            <a:r>
              <a:rPr lang="en-US" sz="1600" dirty="0">
                <a:latin typeface="Courier New" panose="02070309020205020404" pitchFamily="49" charset="0"/>
                <a:cs typeface="Courier New" panose="02070309020205020404" pitchFamily="49" charset="0"/>
              </a:rPr>
              <a:t> now restored to where we were in the single row “title string” being scrolled.</a:t>
            </a:r>
          </a:p>
          <a:p>
            <a:endParaRPr lang="en-US" sz="1600"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R10</a:t>
            </a:r>
            <a:r>
              <a:rPr lang="en-US" sz="1600" dirty="0">
                <a:latin typeface="Courier New" panose="02070309020205020404" pitchFamily="49" charset="0"/>
                <a:cs typeface="Courier New" panose="02070309020205020404" pitchFamily="49" charset="0"/>
              </a:rPr>
              <a:t> is used to determine when to “reset” the single row “title string” scroll.  We scroll the main string (64 chars) and then 64-blanks (so 128 steps).</a:t>
            </a:r>
          </a:p>
        </p:txBody>
      </p:sp>
      <p:cxnSp>
        <p:nvCxnSpPr>
          <p:cNvPr id="49" name="Straight Arrow Connector 48">
            <a:extLst>
              <a:ext uri="{FF2B5EF4-FFF2-40B4-BE49-F238E27FC236}">
                <a16:creationId xmlns:a16="http://schemas.microsoft.com/office/drawing/2014/main" id="{63A49C37-1172-D574-ECAC-220F1E284F7E}"/>
              </a:ext>
            </a:extLst>
          </p:cNvPr>
          <p:cNvCxnSpPr>
            <a:cxnSpLocks/>
          </p:cNvCxnSpPr>
          <p:nvPr/>
        </p:nvCxnSpPr>
        <p:spPr>
          <a:xfrm>
            <a:off x="2203938" y="750277"/>
            <a:ext cx="853587" cy="24120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9539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E3C7-A97D-7D5F-BDA1-064472AEB8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F98ED3-8763-DC64-BCE2-42DCF16857D1}"/>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0938</a:t>
            </a:r>
          </a:p>
        </p:txBody>
      </p:sp>
      <p:sp>
        <p:nvSpPr>
          <p:cNvPr id="5" name="TextBox 4">
            <a:extLst>
              <a:ext uri="{FF2B5EF4-FFF2-40B4-BE49-F238E27FC236}">
                <a16:creationId xmlns:a16="http://schemas.microsoft.com/office/drawing/2014/main" id="{B0C4C3BA-B38D-4C0B-63C6-59B2F3EAD938}"/>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8C73BAB4-BE9A-B048-C6C7-387385F6BF4C}"/>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0926</a:t>
            </a:r>
          </a:p>
        </p:txBody>
      </p:sp>
      <p:sp>
        <p:nvSpPr>
          <p:cNvPr id="7" name="Rectangle 6">
            <a:extLst>
              <a:ext uri="{FF2B5EF4-FFF2-40B4-BE49-F238E27FC236}">
                <a16:creationId xmlns:a16="http://schemas.microsoft.com/office/drawing/2014/main" id="{8C221177-EFDA-DFCD-1E20-9B091C8E5352}"/>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07A2</a:t>
            </a:r>
          </a:p>
        </p:txBody>
      </p:sp>
      <p:sp>
        <p:nvSpPr>
          <p:cNvPr id="8" name="Rectangle 7">
            <a:extLst>
              <a:ext uri="{FF2B5EF4-FFF2-40B4-BE49-F238E27FC236}">
                <a16:creationId xmlns:a16="http://schemas.microsoft.com/office/drawing/2014/main" id="{2A992174-A35D-F8D2-61DA-B4DC5E66CECE}"/>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9" name="TextBox 8">
            <a:extLst>
              <a:ext uri="{FF2B5EF4-FFF2-40B4-BE49-F238E27FC236}">
                <a16:creationId xmlns:a16="http://schemas.microsoft.com/office/drawing/2014/main" id="{03066DEA-34D5-BDE6-2BA7-7DA5BD95CEC7}"/>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8F36D269-4F38-4AF5-FC65-485235727B48}"/>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97AD25A6-DE76-3677-1D50-2EDB04D20963}"/>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F3659B02-482F-32D5-9167-CD549285B637}"/>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3" name="TextBox 12">
            <a:extLst>
              <a:ext uri="{FF2B5EF4-FFF2-40B4-BE49-F238E27FC236}">
                <a16:creationId xmlns:a16="http://schemas.microsoft.com/office/drawing/2014/main" id="{8693D2AA-A073-D71C-109F-B740167B7069}"/>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09442E7F-E06F-AE72-FD4D-192F7A917278}"/>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5" name="Rectangle 14">
            <a:extLst>
              <a:ext uri="{FF2B5EF4-FFF2-40B4-BE49-F238E27FC236}">
                <a16:creationId xmlns:a16="http://schemas.microsoft.com/office/drawing/2014/main" id="{4DD3FE2D-2514-865A-5491-211DE50E693B}"/>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t>
            </a:r>
            <a:r>
              <a:rPr lang="en-US" b="1" dirty="0">
                <a:solidFill>
                  <a:srgbClr val="FF0000"/>
                </a:solidFill>
                <a:latin typeface="Courier New" panose="02070309020205020404" pitchFamily="49" charset="0"/>
                <a:cs typeface="Courier New" panose="02070309020205020404" pitchFamily="49" charset="0"/>
              </a:rPr>
              <a:t>0A</a:t>
            </a:r>
          </a:p>
        </p:txBody>
      </p:sp>
      <p:sp>
        <p:nvSpPr>
          <p:cNvPr id="16" name="Rectangle 15">
            <a:extLst>
              <a:ext uri="{FF2B5EF4-FFF2-40B4-BE49-F238E27FC236}">
                <a16:creationId xmlns:a16="http://schemas.microsoft.com/office/drawing/2014/main" id="{65B74B7F-3015-8DD5-F550-B5026B49FC36}"/>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1769D77F-4144-13B0-F2C1-1D6A228207F5}"/>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659DC8E4-AAFA-88FD-321A-5FE18C83523E}"/>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8C29F938-19BB-54A3-DB99-7644FCE5848E}"/>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9001ABDB-0803-728C-1053-4C287EEC8E17}"/>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1F5B3F60-B991-F600-A1DD-D5D59FC6CF79}"/>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5D64021D-BB4D-1D8F-28F1-40A61D14B73B}"/>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1CEF6AF9-899A-B4FE-801E-7415B0645B1F}"/>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0480</a:t>
            </a:r>
          </a:p>
        </p:txBody>
      </p:sp>
      <p:sp>
        <p:nvSpPr>
          <p:cNvPr id="24" name="Rectangle 23">
            <a:extLst>
              <a:ext uri="{FF2B5EF4-FFF2-40B4-BE49-F238E27FC236}">
                <a16:creationId xmlns:a16="http://schemas.microsoft.com/office/drawing/2014/main" id="{A187813F-7A03-189D-2EEE-C7649027E6F5}"/>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3C10</a:t>
            </a:r>
          </a:p>
        </p:txBody>
      </p:sp>
      <p:sp>
        <p:nvSpPr>
          <p:cNvPr id="25" name="TextBox 24">
            <a:extLst>
              <a:ext uri="{FF2B5EF4-FFF2-40B4-BE49-F238E27FC236}">
                <a16:creationId xmlns:a16="http://schemas.microsoft.com/office/drawing/2014/main" id="{0E3FB5BD-CEC0-464C-B8F2-50F4E28B8E23}"/>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1A8B636C-A111-60AE-7680-BE79B7726C21}"/>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CC4BFFFB-C4BC-5018-E88C-C237451CC3F7}"/>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6CAF33A4-7BFC-0AFE-A487-917FC6B44300}"/>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29" name="TextBox 28">
            <a:extLst>
              <a:ext uri="{FF2B5EF4-FFF2-40B4-BE49-F238E27FC236}">
                <a16:creationId xmlns:a16="http://schemas.microsoft.com/office/drawing/2014/main" id="{EDFABF7D-5863-539D-B905-2C9B4E8A7C4C}"/>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FD9EE51D-6261-DA89-EFB9-62B2B96DC343}"/>
              </a:ext>
            </a:extLst>
          </p:cNvPr>
          <p:cNvSpPr/>
          <p:nvPr/>
        </p:nvSpPr>
        <p:spPr>
          <a:xfrm>
            <a:off x="1384300" y="50297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0C96</a:t>
            </a:r>
          </a:p>
        </p:txBody>
      </p:sp>
      <p:sp>
        <p:nvSpPr>
          <p:cNvPr id="31" name="Rectangle 30">
            <a:extLst>
              <a:ext uri="{FF2B5EF4-FFF2-40B4-BE49-F238E27FC236}">
                <a16:creationId xmlns:a16="http://schemas.microsoft.com/office/drawing/2014/main" id="{37C8F5A5-137E-C77A-C504-BB4A7B9BC270}"/>
              </a:ext>
            </a:extLst>
          </p:cNvPr>
          <p:cNvSpPr/>
          <p:nvPr/>
        </p:nvSpPr>
        <p:spPr>
          <a:xfrm>
            <a:off x="1384300" y="53726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0280</a:t>
            </a:r>
          </a:p>
        </p:txBody>
      </p:sp>
      <p:sp>
        <p:nvSpPr>
          <p:cNvPr id="32" name="Rectangle 31">
            <a:extLst>
              <a:ext uri="{FF2B5EF4-FFF2-40B4-BE49-F238E27FC236}">
                <a16:creationId xmlns:a16="http://schemas.microsoft.com/office/drawing/2014/main" id="{570ACB20-07BB-679B-5B27-31B5B6550BCE}"/>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1201</a:t>
            </a:r>
          </a:p>
        </p:txBody>
      </p:sp>
      <p:sp>
        <p:nvSpPr>
          <p:cNvPr id="33" name="TextBox 32">
            <a:extLst>
              <a:ext uri="{FF2B5EF4-FFF2-40B4-BE49-F238E27FC236}">
                <a16:creationId xmlns:a16="http://schemas.microsoft.com/office/drawing/2014/main" id="{2A4EE29A-91F1-90D1-F711-87774E572B04}"/>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94B9F375-EB50-214B-0A75-6D2A1DE5605B}"/>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1FF068EF-C611-3FCB-9CA4-C062AFA34A57}"/>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EE705DF7-A9FE-3B27-11F7-F2914D2AE102}"/>
              </a:ext>
            </a:extLst>
          </p:cNvPr>
          <p:cNvSpPr>
            <a:spLocks noGrp="1"/>
          </p:cNvSpPr>
          <p:nvPr>
            <p:ph idx="1"/>
          </p:nvPr>
        </p:nvSpPr>
        <p:spPr>
          <a:xfrm>
            <a:off x="2801814" y="351693"/>
            <a:ext cx="6869724" cy="4660402"/>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REPEAT_RESET:</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091C	D651	MOVE   R6, (R5)+    </a:t>
            </a:r>
            <a:r>
              <a:rPr lang="en-US" sz="1400" dirty="0">
                <a:latin typeface="Courier New" panose="02070309020205020404" pitchFamily="49" charset="0"/>
                <a:cs typeface="Courier New" panose="02070309020205020404" pitchFamily="49" charset="0"/>
                <a:sym typeface="Wingdings" panose="05000000000000000000" pitchFamily="2" charset="2"/>
              </a:rPr>
              <a:t> R6 = MEM[R5], R5=R5+2</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091E	5641	MOVE   (R4)+, R6 	   </a:t>
            </a:r>
            <a:r>
              <a:rPr lang="en-US" sz="1400" dirty="0">
                <a:latin typeface="Courier New" panose="02070309020205020404" pitchFamily="49" charset="0"/>
                <a:cs typeface="Courier New" panose="02070309020205020404" pitchFamily="49" charset="0"/>
                <a:sym typeface="Wingdings" panose="05000000000000000000" pitchFamily="2" charset="2"/>
              </a:rPr>
              <a:t> MEM[R4] = R6, R4=R4+2</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0920	0771	DEC    R7	   </a:t>
            </a:r>
            <a:r>
              <a:rPr lang="en-US" sz="1400" dirty="0">
                <a:latin typeface="Courier New" panose="02070309020205020404" pitchFamily="49" charset="0"/>
                <a:cs typeface="Courier New" panose="02070309020205020404" pitchFamily="49" charset="0"/>
                <a:sym typeface="Wingdings" panose="05000000000000000000" pitchFamily="2" charset="2"/>
              </a:rPr>
              <a:t> R7 = R7-1</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0922	C703	SZ     R7	   </a:t>
            </a:r>
            <a:r>
              <a:rPr lang="en-US" sz="1400" dirty="0">
                <a:latin typeface="Courier New" panose="02070309020205020404" pitchFamily="49" charset="0"/>
                <a:cs typeface="Courier New" panose="02070309020205020404" pitchFamily="49" charset="0"/>
                <a:sym typeface="Wingdings" panose="05000000000000000000" pitchFamily="2" charset="2"/>
              </a:rPr>
              <a:t> Skip if (R7 == 0)</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0924	F009	BRA    REPEAT_RESET</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0926	D401	LWI    R4, TITLE_STRING_TEMP</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0928	0D80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092A	D448	MOVE   R4, (R4)	   </a:t>
            </a:r>
            <a:r>
              <a:rPr lang="en-US" sz="1400" dirty="0">
                <a:latin typeface="Courier New" panose="02070309020205020404" pitchFamily="49" charset="0"/>
                <a:cs typeface="Courier New" panose="02070309020205020404" pitchFamily="49" charset="0"/>
                <a:sym typeface="Wingdings" panose="05000000000000000000" pitchFamily="2" charset="2"/>
              </a:rPr>
              <a:t> R4 = MEM[R4]</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092C	8A80	LBI    R10, #128    </a:t>
            </a:r>
            <a:r>
              <a:rPr lang="en-US" sz="1400" dirty="0">
                <a:latin typeface="Courier New" panose="02070309020205020404" pitchFamily="49" charset="0"/>
                <a:cs typeface="Courier New" panose="02070309020205020404" pitchFamily="49" charset="0"/>
                <a:sym typeface="Wingdings" panose="05000000000000000000" pitchFamily="2" charset="2"/>
              </a:rPr>
              <a:t> Lo R10 = 0x80</a:t>
            </a:r>
            <a:endParaRPr lang="en-US"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MAINLOOP: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092E	860A	LBI    R6, #10</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0930	DE01	LWI    R14, FIRST_BANNER_ROW</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0932	0280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0934	DD01	LWI    R13, WORKING_ADDRESS</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0936	0C96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MAINLOOP_A: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0938	...</a:t>
            </a:r>
          </a:p>
        </p:txBody>
      </p:sp>
      <p:sp>
        <p:nvSpPr>
          <p:cNvPr id="3" name="TextBox 2">
            <a:extLst>
              <a:ext uri="{FF2B5EF4-FFF2-40B4-BE49-F238E27FC236}">
                <a16:creationId xmlns:a16="http://schemas.microsoft.com/office/drawing/2014/main" id="{6B50CB75-80A3-CE0B-1074-A0A1F5B2D5EE}"/>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09CEE15F-348B-6E6B-FACF-A98940E3E185}"/>
              </a:ext>
            </a:extLst>
          </p:cNvPr>
          <p:cNvSpPr/>
          <p:nvPr/>
        </p:nvSpPr>
        <p:spPr>
          <a:xfrm>
            <a:off x="4639011" y="3057524"/>
            <a:ext cx="4938743" cy="1259959"/>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Brace 36">
            <a:extLst>
              <a:ext uri="{FF2B5EF4-FFF2-40B4-BE49-F238E27FC236}">
                <a16:creationId xmlns:a16="http://schemas.microsoft.com/office/drawing/2014/main" id="{4D18C8B4-53BE-633A-185F-F7CAD5CEF0F3}"/>
              </a:ext>
            </a:extLst>
          </p:cNvPr>
          <p:cNvSpPr/>
          <p:nvPr/>
        </p:nvSpPr>
        <p:spPr>
          <a:xfrm>
            <a:off x="9479986" y="673644"/>
            <a:ext cx="547232" cy="1143434"/>
          </a:xfrm>
          <a:prstGeom prst="rightBrace">
            <a:avLst>
              <a:gd name="adj1" fmla="val 413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B3BD5051-CE92-90C9-2682-337F002BFE45}"/>
              </a:ext>
            </a:extLst>
          </p:cNvPr>
          <p:cNvSpPr txBox="1"/>
          <p:nvPr/>
        </p:nvSpPr>
        <p:spPr>
          <a:xfrm>
            <a:off x="10027218" y="462992"/>
            <a:ext cx="2047552" cy="1569660"/>
          </a:xfrm>
          <a:prstGeom prst="rect">
            <a:avLst/>
          </a:prstGeom>
          <a:noFill/>
        </p:spPr>
        <p:txBody>
          <a:bodyPr wrap="square" rtlCol="0">
            <a:spAutoFit/>
          </a:bodyPr>
          <a:lstStyle/>
          <a:p>
            <a:r>
              <a:rPr lang="en-US" sz="1600" dirty="0"/>
              <a:t>Reset all 10 entries of WORKING_ADDRESS back to the starting values stored in the WORKING_ADDRESS_I array.</a:t>
            </a:r>
            <a:endParaRPr lang="en-US" sz="1600" b="1" dirty="0"/>
          </a:p>
        </p:txBody>
      </p:sp>
      <p:sp>
        <p:nvSpPr>
          <p:cNvPr id="39" name="Rectangle 38">
            <a:extLst>
              <a:ext uri="{FF2B5EF4-FFF2-40B4-BE49-F238E27FC236}">
                <a16:creationId xmlns:a16="http://schemas.microsoft.com/office/drawing/2014/main" id="{76F6CCD8-DC3E-4C00-6D1B-FCC1393084A1}"/>
              </a:ext>
            </a:extLst>
          </p:cNvPr>
          <p:cNvSpPr/>
          <p:nvPr/>
        </p:nvSpPr>
        <p:spPr>
          <a:xfrm>
            <a:off x="11128251" y="2678470"/>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2" name="TextBox 41">
            <a:extLst>
              <a:ext uri="{FF2B5EF4-FFF2-40B4-BE49-F238E27FC236}">
                <a16:creationId xmlns:a16="http://schemas.microsoft.com/office/drawing/2014/main" id="{C4644572-44F8-A742-E9E1-B9006BE68A63}"/>
              </a:ext>
            </a:extLst>
          </p:cNvPr>
          <p:cNvSpPr txBox="1"/>
          <p:nvPr/>
        </p:nvSpPr>
        <p:spPr>
          <a:xfrm>
            <a:off x="10408597" y="2678470"/>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48" name="TextBox 47">
            <a:extLst>
              <a:ext uri="{FF2B5EF4-FFF2-40B4-BE49-F238E27FC236}">
                <a16:creationId xmlns:a16="http://schemas.microsoft.com/office/drawing/2014/main" id="{5EA2A450-E7F8-D022-6E28-1B8C8491440F}"/>
              </a:ext>
            </a:extLst>
          </p:cNvPr>
          <p:cNvSpPr txBox="1"/>
          <p:nvPr/>
        </p:nvSpPr>
        <p:spPr>
          <a:xfrm>
            <a:off x="2623974" y="4904254"/>
            <a:ext cx="7400130" cy="1323439"/>
          </a:xfrm>
          <a:prstGeom prst="rect">
            <a:avLst/>
          </a:prstGeom>
          <a:solidFill>
            <a:srgbClr val="FFC000"/>
          </a:solidFill>
        </p:spPr>
        <p:txBody>
          <a:bodyPr wrap="square" rtlCol="0">
            <a:spAutoFit/>
          </a:bodyPr>
          <a:lstStyle/>
          <a:p>
            <a:r>
              <a:rPr lang="en-US" sz="1600" b="1" dirty="0">
                <a:latin typeface="Courier New" panose="02070309020205020404" pitchFamily="49" charset="0"/>
                <a:cs typeface="Courier New" panose="02070309020205020404" pitchFamily="49" charset="0"/>
              </a:rPr>
              <a:t>R6</a:t>
            </a:r>
            <a:r>
              <a:rPr lang="en-US" sz="1600" dirty="0">
                <a:latin typeface="Courier New" panose="02070309020205020404" pitchFamily="49" charset="0"/>
                <a:cs typeface="Courier New" panose="02070309020205020404" pitchFamily="49" charset="0"/>
              </a:rPr>
              <a:t> now used as 10-iteration loop counter (number of rows).</a:t>
            </a:r>
          </a:p>
          <a:p>
            <a:endParaRPr lang="en-US" sz="1600"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R13</a:t>
            </a:r>
            <a:r>
              <a:rPr lang="en-US" sz="1600" dirty="0">
                <a:latin typeface="Courier New" panose="02070309020205020404" pitchFamily="49" charset="0"/>
                <a:cs typeface="Courier New" panose="02070309020205020404" pitchFamily="49" charset="0"/>
              </a:rPr>
              <a:t> is first entry of the addresses used for each row.</a:t>
            </a:r>
          </a:p>
          <a:p>
            <a:endParaRPr lang="en-US" sz="1600"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R14 </a:t>
            </a:r>
            <a:r>
              <a:rPr lang="en-US" sz="1600" dirty="0">
                <a:latin typeface="Courier New" panose="02070309020205020404" pitchFamily="49" charset="0"/>
                <a:cs typeface="Courier New" panose="02070309020205020404" pitchFamily="49" charset="0"/>
              </a:rPr>
              <a:t>is starting row on the CRT screen of where to output.</a:t>
            </a:r>
          </a:p>
        </p:txBody>
      </p:sp>
      <p:cxnSp>
        <p:nvCxnSpPr>
          <p:cNvPr id="40" name="Straight Arrow Connector 39">
            <a:extLst>
              <a:ext uri="{FF2B5EF4-FFF2-40B4-BE49-F238E27FC236}">
                <a16:creationId xmlns:a16="http://schemas.microsoft.com/office/drawing/2014/main" id="{96C4F7C9-112F-8353-8E6F-D711189B44C7}"/>
              </a:ext>
            </a:extLst>
          </p:cNvPr>
          <p:cNvCxnSpPr>
            <a:cxnSpLocks/>
          </p:cNvCxnSpPr>
          <p:nvPr/>
        </p:nvCxnSpPr>
        <p:spPr>
          <a:xfrm>
            <a:off x="2203938" y="750277"/>
            <a:ext cx="853587" cy="38598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160439F-3B02-2C72-2E4C-9178991EC25F}"/>
              </a:ext>
            </a:extLst>
          </p:cNvPr>
          <p:cNvCxnSpPr/>
          <p:nvPr/>
        </p:nvCxnSpPr>
        <p:spPr>
          <a:xfrm flipV="1">
            <a:off x="7748954" y="2778369"/>
            <a:ext cx="2659643" cy="1200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7887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8C5CB-CC6A-4D44-A7C1-3105F8F331C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A1058D-0E3A-35A2-7E79-CB77C56C8872}"/>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093C</a:t>
            </a:r>
          </a:p>
        </p:txBody>
      </p:sp>
      <p:sp>
        <p:nvSpPr>
          <p:cNvPr id="5" name="TextBox 4">
            <a:extLst>
              <a:ext uri="{FF2B5EF4-FFF2-40B4-BE49-F238E27FC236}">
                <a16:creationId xmlns:a16="http://schemas.microsoft.com/office/drawing/2014/main" id="{DE3996AA-B5C9-11F2-92D4-E6C315C89AE4}"/>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5BBCBF8C-CD23-8013-7BBB-EA6D063D84C5}"/>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0926</a:t>
            </a:r>
          </a:p>
        </p:txBody>
      </p:sp>
      <p:sp>
        <p:nvSpPr>
          <p:cNvPr id="7" name="Rectangle 6">
            <a:extLst>
              <a:ext uri="{FF2B5EF4-FFF2-40B4-BE49-F238E27FC236}">
                <a16:creationId xmlns:a16="http://schemas.microsoft.com/office/drawing/2014/main" id="{270C70DB-5E1B-92F7-AA9A-2A5383FAC15F}"/>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07A2</a:t>
            </a:r>
          </a:p>
        </p:txBody>
      </p:sp>
      <p:sp>
        <p:nvSpPr>
          <p:cNvPr id="8" name="Rectangle 7">
            <a:extLst>
              <a:ext uri="{FF2B5EF4-FFF2-40B4-BE49-F238E27FC236}">
                <a16:creationId xmlns:a16="http://schemas.microsoft.com/office/drawing/2014/main" id="{8F9CFF91-E1AE-445A-3C2F-50EA1E84EBCC}"/>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9" name="TextBox 8">
            <a:extLst>
              <a:ext uri="{FF2B5EF4-FFF2-40B4-BE49-F238E27FC236}">
                <a16:creationId xmlns:a16="http://schemas.microsoft.com/office/drawing/2014/main" id="{26B0FC9F-ED42-3AC7-ED23-B97BD870AA8E}"/>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C26ABD2A-5391-2BA2-B68A-FF7A71C094C7}"/>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0C6CA17C-C436-8D23-5391-9037AD81D888}"/>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2C4E600B-2E58-3303-38EE-C73DC007BDD3}"/>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3" name="TextBox 12">
            <a:extLst>
              <a:ext uri="{FF2B5EF4-FFF2-40B4-BE49-F238E27FC236}">
                <a16:creationId xmlns:a16="http://schemas.microsoft.com/office/drawing/2014/main" id="{A4D45355-3825-0D35-7B2E-08B978E0BBD7}"/>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F4ABB592-9C68-FD68-E020-E2DA13F85F5E}"/>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5" name="Rectangle 14">
            <a:extLst>
              <a:ext uri="{FF2B5EF4-FFF2-40B4-BE49-F238E27FC236}">
                <a16:creationId xmlns:a16="http://schemas.microsoft.com/office/drawing/2014/main" id="{938D7AD0-B792-9AEB-16CC-985607F103D0}"/>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t>
            </a:r>
            <a:r>
              <a:rPr lang="en-US" b="1" dirty="0">
                <a:solidFill>
                  <a:srgbClr val="FF0000"/>
                </a:solidFill>
                <a:latin typeface="Courier New" panose="02070309020205020404" pitchFamily="49" charset="0"/>
                <a:cs typeface="Courier New" panose="02070309020205020404" pitchFamily="49" charset="0"/>
              </a:rPr>
              <a:t>0A</a:t>
            </a:r>
          </a:p>
        </p:txBody>
      </p:sp>
      <p:sp>
        <p:nvSpPr>
          <p:cNvPr id="16" name="Rectangle 15">
            <a:extLst>
              <a:ext uri="{FF2B5EF4-FFF2-40B4-BE49-F238E27FC236}">
                <a16:creationId xmlns:a16="http://schemas.microsoft.com/office/drawing/2014/main" id="{11F1E7B4-42C2-910B-07AA-DF7D34738CFF}"/>
              </a:ext>
            </a:extLst>
          </p:cNvPr>
          <p:cNvSpPr/>
          <p:nvPr/>
        </p:nvSpPr>
        <p:spPr>
          <a:xfrm>
            <a:off x="1384300" y="29591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b="1" dirty="0">
                <a:solidFill>
                  <a:srgbClr val="FF0000"/>
                </a:solidFill>
                <a:latin typeface="Courier New" panose="02070309020205020404" pitchFamily="49" charset="0"/>
                <a:cs typeface="Courier New" panose="02070309020205020404" pitchFamily="49" charset="0"/>
              </a:rPr>
              <a:t>20</a:t>
            </a:r>
          </a:p>
        </p:txBody>
      </p:sp>
      <p:sp>
        <p:nvSpPr>
          <p:cNvPr id="17" name="TextBox 16">
            <a:extLst>
              <a:ext uri="{FF2B5EF4-FFF2-40B4-BE49-F238E27FC236}">
                <a16:creationId xmlns:a16="http://schemas.microsoft.com/office/drawing/2014/main" id="{A2EC0DAC-10DD-F6DD-8C71-1665D4C4DBEF}"/>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642C0F26-B8AA-F784-CE90-4050A47CD069}"/>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541A9AE2-BAB0-A647-1DBD-8610B1129EBD}"/>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29B25FC1-EF37-3D29-D06E-CF9952BB901D}"/>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10B507F6-B55B-5BB8-4381-6888490DD246}"/>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B749834E-5C09-18C5-4E18-05661266EC38}"/>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5D3D57D0-9568-D00F-D040-2C997462BF70}"/>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0480</a:t>
            </a:r>
          </a:p>
        </p:txBody>
      </p:sp>
      <p:sp>
        <p:nvSpPr>
          <p:cNvPr id="24" name="Rectangle 23">
            <a:extLst>
              <a:ext uri="{FF2B5EF4-FFF2-40B4-BE49-F238E27FC236}">
                <a16:creationId xmlns:a16="http://schemas.microsoft.com/office/drawing/2014/main" id="{11257D88-ACCE-86E4-E3E7-7D020D88B42B}"/>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3C10</a:t>
            </a:r>
          </a:p>
        </p:txBody>
      </p:sp>
      <p:sp>
        <p:nvSpPr>
          <p:cNvPr id="25" name="TextBox 24">
            <a:extLst>
              <a:ext uri="{FF2B5EF4-FFF2-40B4-BE49-F238E27FC236}">
                <a16:creationId xmlns:a16="http://schemas.microsoft.com/office/drawing/2014/main" id="{AD92BE1F-227D-04BC-DE33-6B2B22905B26}"/>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46EF27EA-1C2B-9CA3-7543-141B89718BDB}"/>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4A7DAA14-4966-6E99-5E59-2F44E3722720}"/>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87E18DDB-26BB-A84D-D10D-6CBF360745D4}"/>
              </a:ext>
            </a:extLst>
          </p:cNvPr>
          <p:cNvSpPr/>
          <p:nvPr/>
        </p:nvSpPr>
        <p:spPr>
          <a:xfrm>
            <a:off x="1384300" y="46868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1000</a:t>
            </a:r>
          </a:p>
        </p:txBody>
      </p:sp>
      <p:sp>
        <p:nvSpPr>
          <p:cNvPr id="29" name="TextBox 28">
            <a:extLst>
              <a:ext uri="{FF2B5EF4-FFF2-40B4-BE49-F238E27FC236}">
                <a16:creationId xmlns:a16="http://schemas.microsoft.com/office/drawing/2014/main" id="{4B8B5FF3-3248-91F6-80EA-7CC779D5D3E3}"/>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13014F81-74F6-EC16-F39F-FA28F0FBFFEF}"/>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0C96</a:t>
            </a:r>
          </a:p>
        </p:txBody>
      </p:sp>
      <p:sp>
        <p:nvSpPr>
          <p:cNvPr id="31" name="Rectangle 30">
            <a:extLst>
              <a:ext uri="{FF2B5EF4-FFF2-40B4-BE49-F238E27FC236}">
                <a16:creationId xmlns:a16="http://schemas.microsoft.com/office/drawing/2014/main" id="{989C9D92-8FCD-ED59-0E13-8E0B69581FB5}"/>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0280</a:t>
            </a:r>
          </a:p>
        </p:txBody>
      </p:sp>
      <p:sp>
        <p:nvSpPr>
          <p:cNvPr id="32" name="Rectangle 31">
            <a:extLst>
              <a:ext uri="{FF2B5EF4-FFF2-40B4-BE49-F238E27FC236}">
                <a16:creationId xmlns:a16="http://schemas.microsoft.com/office/drawing/2014/main" id="{F95D3FB4-5158-FD8A-5D0E-5464F49C639B}"/>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1201</a:t>
            </a:r>
          </a:p>
        </p:txBody>
      </p:sp>
      <p:sp>
        <p:nvSpPr>
          <p:cNvPr id="33" name="TextBox 32">
            <a:extLst>
              <a:ext uri="{FF2B5EF4-FFF2-40B4-BE49-F238E27FC236}">
                <a16:creationId xmlns:a16="http://schemas.microsoft.com/office/drawing/2014/main" id="{5D028B87-F3B8-21BE-E8B5-DAFDB3D5278B}"/>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9BBAE496-55B4-6ACB-4D0D-DD45A405CDB8}"/>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88419CF0-9A3E-F9E1-B9BD-D1B57FC40B7F}"/>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F61C7E58-3A02-D703-CAD5-216608B271E1}"/>
              </a:ext>
            </a:extLst>
          </p:cNvPr>
          <p:cNvSpPr>
            <a:spLocks noGrp="1"/>
          </p:cNvSpPr>
          <p:nvPr>
            <p:ph idx="1"/>
          </p:nvPr>
        </p:nvSpPr>
        <p:spPr>
          <a:xfrm>
            <a:off x="2801814" y="351693"/>
            <a:ext cx="7186248" cy="4660402"/>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MAINLOOP_A: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0938	8720	LBI    R7, #32	   </a:t>
            </a:r>
            <a:r>
              <a:rPr lang="pt-BR" sz="1400" dirty="0">
                <a:latin typeface="Courier New" panose="02070309020205020404" pitchFamily="49" charset="0"/>
                <a:cs typeface="Courier New" panose="02070309020205020404" pitchFamily="49" charset="0"/>
                <a:sym typeface="Wingdings" panose="05000000000000000000" pitchFamily="2" charset="2"/>
              </a:rPr>
              <a:t> R7 = 32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093A	DCD8	MOVE   R12, (R13)   </a:t>
            </a:r>
            <a:r>
              <a:rPr lang="pt-BR" sz="1400" dirty="0">
                <a:latin typeface="Courier New" panose="02070309020205020404" pitchFamily="49" charset="0"/>
                <a:cs typeface="Courier New" panose="02070309020205020404" pitchFamily="49" charset="0"/>
                <a:sym typeface="Wingdings" panose="05000000000000000000" pitchFamily="2" charset="2"/>
              </a:rPr>
              <a:t> R12 = MEM[R13]</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MAINLOOP_B: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093C	DBC1	MOVE   R11, (R12)+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093E	5BE1	MOVE   (R14)+, R11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0940	0771	DEC    R7</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0942	C703	SZ     R7</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0944	F009	BRA    MAINLOOP_B</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0946	DCD8	MOVE   R12, (R13)</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0948	0CC3	INC2   R12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094A	5CD1	MOVE   (R13)+, R12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094C	0661	DEC    R6</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094E	C603	SZ     R6</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0950	F019	BRA    MAINLOOP_A</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0952	0203	CALL   </a:t>
            </a:r>
            <a:r>
              <a:rPr lang="pt-BR" sz="1400" dirty="0" err="1">
                <a:latin typeface="Courier New" panose="02070309020205020404" pitchFamily="49" charset="0"/>
                <a:cs typeface="Courier New" panose="02070309020205020404" pitchFamily="49" charset="0"/>
              </a:rPr>
              <a:t>SmallDelay</a:t>
            </a:r>
            <a:r>
              <a:rPr lang="pt-BR" sz="1400" dirty="0">
                <a:latin typeface="Courier New" panose="02070309020205020404" pitchFamily="49" charset="0"/>
                <a:cs typeface="Courier New" panose="02070309020205020404" pitchFamily="49" charset="0"/>
              </a:rPr>
              <a:t>, R2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0954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0956	09AC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0958	...</a:t>
            </a:r>
            <a:endParaRPr lang="pt-BR" sz="1400"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76A5F8EC-8FE7-CF66-3E32-E65E0705DF4F}"/>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6A88155B-37C1-A6CA-49AF-94A89A7C9E0F}"/>
              </a:ext>
            </a:extLst>
          </p:cNvPr>
          <p:cNvSpPr/>
          <p:nvPr/>
        </p:nvSpPr>
        <p:spPr>
          <a:xfrm>
            <a:off x="4639011" y="666750"/>
            <a:ext cx="4938743" cy="470389"/>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3825A5B-F47C-CCB3-D49B-D0D7B0990B80}"/>
              </a:ext>
            </a:extLst>
          </p:cNvPr>
          <p:cNvSpPr/>
          <p:nvPr/>
        </p:nvSpPr>
        <p:spPr>
          <a:xfrm>
            <a:off x="11128251" y="2678470"/>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1000</a:t>
            </a:r>
          </a:p>
          <a:p>
            <a:r>
              <a:rPr lang="en-US" sz="1200" dirty="0">
                <a:latin typeface="Courier New" panose="02070309020205020404" pitchFamily="49" charset="0"/>
                <a:cs typeface="Courier New" panose="02070309020205020404" pitchFamily="49" charset="0"/>
              </a:rPr>
              <a:t>1468</a:t>
            </a:r>
          </a:p>
          <a:p>
            <a:r>
              <a:rPr lang="en-US" sz="1200" dirty="0">
                <a:latin typeface="Courier New" panose="02070309020205020404" pitchFamily="49" charset="0"/>
                <a:cs typeface="Courier New" panose="02070309020205020404" pitchFamily="49" charset="0"/>
              </a:rPr>
              <a:t>18D0</a:t>
            </a:r>
          </a:p>
          <a:p>
            <a:r>
              <a:rPr lang="en-US" sz="1200" dirty="0">
                <a:latin typeface="Courier New" panose="02070309020205020404" pitchFamily="49" charset="0"/>
                <a:cs typeface="Courier New" panose="02070309020205020404" pitchFamily="49" charset="0"/>
              </a:rPr>
              <a:t>1D38</a:t>
            </a:r>
          </a:p>
          <a:p>
            <a:r>
              <a:rPr lang="en-US" sz="1200" dirty="0">
                <a:latin typeface="Courier New" panose="02070309020205020404" pitchFamily="49" charset="0"/>
                <a:cs typeface="Courier New" panose="02070309020205020404" pitchFamily="49" charset="0"/>
              </a:rPr>
              <a:t>21A0</a:t>
            </a:r>
          </a:p>
          <a:p>
            <a:r>
              <a:rPr lang="en-US" sz="1200" dirty="0">
                <a:latin typeface="Courier New" panose="02070309020205020404" pitchFamily="49" charset="0"/>
                <a:cs typeface="Courier New" panose="02070309020205020404" pitchFamily="49" charset="0"/>
              </a:rPr>
              <a:t>2608</a:t>
            </a:r>
          </a:p>
          <a:p>
            <a:r>
              <a:rPr lang="en-US" sz="1200" dirty="0">
                <a:latin typeface="Courier New" panose="02070309020205020404" pitchFamily="49" charset="0"/>
                <a:cs typeface="Courier New" panose="02070309020205020404" pitchFamily="49" charset="0"/>
              </a:rPr>
              <a:t>2A70</a:t>
            </a:r>
          </a:p>
          <a:p>
            <a:r>
              <a:rPr lang="en-US" sz="1200" dirty="0">
                <a:latin typeface="Courier New" panose="02070309020205020404" pitchFamily="49" charset="0"/>
                <a:cs typeface="Courier New" panose="02070309020205020404" pitchFamily="49" charset="0"/>
              </a:rPr>
              <a:t>2ED8</a:t>
            </a:r>
          </a:p>
          <a:p>
            <a:r>
              <a:rPr lang="en-US" sz="1200" dirty="0">
                <a:latin typeface="Courier New" panose="02070309020205020404" pitchFamily="49" charset="0"/>
                <a:cs typeface="Courier New" panose="02070309020205020404" pitchFamily="49" charset="0"/>
              </a:rPr>
              <a:t>3340</a:t>
            </a:r>
          </a:p>
          <a:p>
            <a:r>
              <a:rPr lang="en-US" sz="1200" dirty="0">
                <a:latin typeface="Courier New" panose="02070309020205020404" pitchFamily="49" charset="0"/>
                <a:cs typeface="Courier New" panose="02070309020205020404" pitchFamily="49" charset="0"/>
              </a:rPr>
              <a:t>37A8</a:t>
            </a:r>
          </a:p>
        </p:txBody>
      </p:sp>
      <p:sp>
        <p:nvSpPr>
          <p:cNvPr id="43" name="TextBox 42">
            <a:extLst>
              <a:ext uri="{FF2B5EF4-FFF2-40B4-BE49-F238E27FC236}">
                <a16:creationId xmlns:a16="http://schemas.microsoft.com/office/drawing/2014/main" id="{96639CFA-B5F1-524C-B545-0C74D4C3D5F6}"/>
              </a:ext>
            </a:extLst>
          </p:cNvPr>
          <p:cNvSpPr txBox="1"/>
          <p:nvPr/>
        </p:nvSpPr>
        <p:spPr>
          <a:xfrm>
            <a:off x="10408597" y="2678470"/>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cxnSp>
        <p:nvCxnSpPr>
          <p:cNvPr id="44" name="Straight Arrow Connector 43">
            <a:extLst>
              <a:ext uri="{FF2B5EF4-FFF2-40B4-BE49-F238E27FC236}">
                <a16:creationId xmlns:a16="http://schemas.microsoft.com/office/drawing/2014/main" id="{77CDB9FA-0BCD-1C9D-C76E-A5C9848C7180}"/>
              </a:ext>
            </a:extLst>
          </p:cNvPr>
          <p:cNvCxnSpPr>
            <a:cxnSpLocks/>
          </p:cNvCxnSpPr>
          <p:nvPr/>
        </p:nvCxnSpPr>
        <p:spPr>
          <a:xfrm>
            <a:off x="8721969" y="1019908"/>
            <a:ext cx="2464191" cy="1776632"/>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09083CC-6A27-E3C0-766C-B3070B2563E5}"/>
              </a:ext>
            </a:extLst>
          </p:cNvPr>
          <p:cNvCxnSpPr>
            <a:cxnSpLocks/>
          </p:cNvCxnSpPr>
          <p:nvPr/>
        </p:nvCxnSpPr>
        <p:spPr>
          <a:xfrm>
            <a:off x="2203938" y="750277"/>
            <a:ext cx="856762" cy="6848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DC185AB-61C6-7C8D-6B79-3AB43A5EA273}"/>
              </a:ext>
            </a:extLst>
          </p:cNvPr>
          <p:cNvSpPr txBox="1"/>
          <p:nvPr/>
        </p:nvSpPr>
        <p:spPr>
          <a:xfrm>
            <a:off x="2623974" y="4904254"/>
            <a:ext cx="8183726" cy="1077218"/>
          </a:xfrm>
          <a:prstGeom prst="rect">
            <a:avLst/>
          </a:prstGeom>
          <a:solidFill>
            <a:srgbClr val="FFC000"/>
          </a:solidFill>
        </p:spPr>
        <p:txBody>
          <a:bodyPr wrap="square" rtlCol="0">
            <a:spAutoFit/>
          </a:bodyPr>
          <a:lstStyle/>
          <a:p>
            <a:r>
              <a:rPr lang="en-US" sz="1600" b="1" dirty="0">
                <a:latin typeface="Courier New" panose="02070309020205020404" pitchFamily="49" charset="0"/>
                <a:cs typeface="Courier New" panose="02070309020205020404" pitchFamily="49" charset="0"/>
              </a:rPr>
              <a:t>R6 </a:t>
            </a:r>
            <a:r>
              <a:rPr lang="en-US" sz="1600" dirty="0">
                <a:latin typeface="Courier New" panose="02070309020205020404" pitchFamily="49" charset="0"/>
                <a:cs typeface="Courier New" panose="02070309020205020404" pitchFamily="49" charset="0"/>
              </a:rPr>
              <a:t>for number of rows, </a:t>
            </a:r>
            <a:r>
              <a:rPr lang="en-US" sz="1600" b="1" dirty="0">
                <a:latin typeface="Courier New" panose="02070309020205020404" pitchFamily="49" charset="0"/>
                <a:cs typeface="Courier New" panose="02070309020205020404" pitchFamily="49" charset="0"/>
              </a:rPr>
              <a:t>R7</a:t>
            </a:r>
            <a:r>
              <a:rPr lang="en-US" sz="1600" dirty="0">
                <a:latin typeface="Courier New" panose="02070309020205020404" pitchFamily="49" charset="0"/>
                <a:cs typeface="Courier New" panose="02070309020205020404" pitchFamily="49" charset="0"/>
              </a:rPr>
              <a:t> for number of 2-byte groups to copy.</a:t>
            </a:r>
          </a:p>
          <a:p>
            <a:endParaRPr lang="en-US" sz="1600" dirty="0">
              <a:latin typeface="Courier New" panose="02070309020205020404" pitchFamily="49" charset="0"/>
              <a:cs typeface="Courier New" panose="02070309020205020404" pitchFamily="49" charset="0"/>
            </a:endParaRPr>
          </a:p>
          <a:p>
            <a:r>
              <a:rPr lang="en-US" sz="1600" b="1" dirty="0">
                <a:latin typeface="Courier New" panose="02070309020205020404" pitchFamily="49" charset="0"/>
                <a:cs typeface="Courier New" panose="02070309020205020404" pitchFamily="49" charset="0"/>
              </a:rPr>
              <a:t>R12 </a:t>
            </a:r>
            <a:r>
              <a:rPr lang="en-US" sz="1600" dirty="0">
                <a:latin typeface="Courier New" panose="02070309020205020404" pitchFamily="49" charset="0"/>
                <a:cs typeface="Courier New" panose="02070309020205020404" pitchFamily="49" charset="0"/>
              </a:rPr>
              <a:t>is the address of the starting row of the banner portion to be copied onto the screen.</a:t>
            </a:r>
          </a:p>
        </p:txBody>
      </p:sp>
    </p:spTree>
    <p:extLst>
      <p:ext uri="{BB962C8B-B14F-4D97-AF65-F5344CB8AC3E}">
        <p14:creationId xmlns:p14="http://schemas.microsoft.com/office/powerpoint/2010/main" val="6181832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2CE98-5DBB-EF09-3ABE-5138749BC41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2CE2784-6F80-B35F-A83F-53E3CDF375DF}"/>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0958</a:t>
            </a:r>
          </a:p>
        </p:txBody>
      </p:sp>
      <p:sp>
        <p:nvSpPr>
          <p:cNvPr id="5" name="TextBox 4">
            <a:extLst>
              <a:ext uri="{FF2B5EF4-FFF2-40B4-BE49-F238E27FC236}">
                <a16:creationId xmlns:a16="http://schemas.microsoft.com/office/drawing/2014/main" id="{5B4D7A7F-788C-4194-5740-34EA03D52705}"/>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255D40BC-0096-F471-01B7-4735ED2D71CE}"/>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09F0</a:t>
            </a:r>
          </a:p>
        </p:txBody>
      </p:sp>
      <p:sp>
        <p:nvSpPr>
          <p:cNvPr id="7" name="Rectangle 6">
            <a:extLst>
              <a:ext uri="{FF2B5EF4-FFF2-40B4-BE49-F238E27FC236}">
                <a16:creationId xmlns:a16="http://schemas.microsoft.com/office/drawing/2014/main" id="{822EBD25-DCD7-8223-D6A7-E2414932E750}"/>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09F8</a:t>
            </a:r>
          </a:p>
        </p:txBody>
      </p:sp>
      <p:sp>
        <p:nvSpPr>
          <p:cNvPr id="8" name="Rectangle 7">
            <a:extLst>
              <a:ext uri="{FF2B5EF4-FFF2-40B4-BE49-F238E27FC236}">
                <a16:creationId xmlns:a16="http://schemas.microsoft.com/office/drawing/2014/main" id="{09B3AF7B-A821-E914-EBAB-7018511FB714}"/>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9" name="TextBox 8">
            <a:extLst>
              <a:ext uri="{FF2B5EF4-FFF2-40B4-BE49-F238E27FC236}">
                <a16:creationId xmlns:a16="http://schemas.microsoft.com/office/drawing/2014/main" id="{EB48D222-0065-7558-705D-37F03B73B5EE}"/>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ABE82862-1352-4AC0-CA62-35316DD27A1A}"/>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7404D375-FA5B-1AEF-19D6-A9C333AABEA2}"/>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F26E5A54-452C-9EC6-0025-BB5C1ED1C414}"/>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3" name="TextBox 12">
            <a:extLst>
              <a:ext uri="{FF2B5EF4-FFF2-40B4-BE49-F238E27FC236}">
                <a16:creationId xmlns:a16="http://schemas.microsoft.com/office/drawing/2014/main" id="{F22F66D3-9234-6687-5A35-4D34844D5067}"/>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D0C5D126-1233-68B6-D2AC-D561C6BAF098}"/>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0CBE</a:t>
            </a:r>
          </a:p>
        </p:txBody>
      </p:sp>
      <p:sp>
        <p:nvSpPr>
          <p:cNvPr id="15" name="Rectangle 14">
            <a:extLst>
              <a:ext uri="{FF2B5EF4-FFF2-40B4-BE49-F238E27FC236}">
                <a16:creationId xmlns:a16="http://schemas.microsoft.com/office/drawing/2014/main" id="{3AC97048-5486-86C4-2BBF-4B087DE61F59}"/>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t>
            </a:r>
            <a:r>
              <a:rPr lang="en-US" b="1" dirty="0">
                <a:solidFill>
                  <a:srgbClr val="FF0000"/>
                </a:solidFill>
                <a:latin typeface="Courier New" panose="02070309020205020404" pitchFamily="49" charset="0"/>
                <a:cs typeface="Courier New" panose="02070309020205020404" pitchFamily="49" charset="0"/>
              </a:rPr>
              <a:t>00</a:t>
            </a:r>
          </a:p>
        </p:txBody>
      </p:sp>
      <p:sp>
        <p:nvSpPr>
          <p:cNvPr id="16" name="Rectangle 15">
            <a:extLst>
              <a:ext uri="{FF2B5EF4-FFF2-40B4-BE49-F238E27FC236}">
                <a16:creationId xmlns:a16="http://schemas.microsoft.com/office/drawing/2014/main" id="{6170D47C-ED2D-954F-C133-B84CDA9CECD0}"/>
              </a:ext>
            </a:extLst>
          </p:cNvPr>
          <p:cNvSpPr/>
          <p:nvPr/>
        </p:nvSpPr>
        <p:spPr>
          <a:xfrm>
            <a:off x="1384300" y="29591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b="1" dirty="0">
                <a:solidFill>
                  <a:srgbClr val="FF0000"/>
                </a:solidFill>
                <a:latin typeface="Courier New" panose="02070309020205020404" pitchFamily="49" charset="0"/>
                <a:cs typeface="Courier New" panose="02070309020205020404" pitchFamily="49" charset="0"/>
              </a:rPr>
              <a:t>00</a:t>
            </a:r>
          </a:p>
        </p:txBody>
      </p:sp>
      <p:sp>
        <p:nvSpPr>
          <p:cNvPr id="17" name="TextBox 16">
            <a:extLst>
              <a:ext uri="{FF2B5EF4-FFF2-40B4-BE49-F238E27FC236}">
                <a16:creationId xmlns:a16="http://schemas.microsoft.com/office/drawing/2014/main" id="{BEE43719-003F-AAAF-49B9-9A67BCBCF99E}"/>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E5AA6358-F479-94C0-AB90-47C1F066EA0E}"/>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BFFB59E7-06C6-1840-CAD5-4FE50D44EFEA}"/>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347CF638-F1BF-1A7B-7BB6-3D2C20A21FE9}"/>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9CA456F1-8DC8-8E5C-8A57-5A5C6310E4F1}"/>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E34F58A9-E0C1-A146-47F0-A86BC85535D2}"/>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877DFC30-2E90-F9D4-30A5-0320327BFE6B}"/>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0480</a:t>
            </a:r>
          </a:p>
        </p:txBody>
      </p:sp>
      <p:sp>
        <p:nvSpPr>
          <p:cNvPr id="24" name="Rectangle 23">
            <a:extLst>
              <a:ext uri="{FF2B5EF4-FFF2-40B4-BE49-F238E27FC236}">
                <a16:creationId xmlns:a16="http://schemas.microsoft.com/office/drawing/2014/main" id="{A23E85A0-72B3-08C8-6B0C-B174FD3980A4}"/>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5" name="TextBox 24">
            <a:extLst>
              <a:ext uri="{FF2B5EF4-FFF2-40B4-BE49-F238E27FC236}">
                <a16:creationId xmlns:a16="http://schemas.microsoft.com/office/drawing/2014/main" id="{78DCAD80-A334-9F52-0F49-2233A9ECD7FA}"/>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0D198256-D75D-8D79-9A98-9593A578844E}"/>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7EAA2427-0C4E-1741-FF0F-A843C217B381}"/>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5D979455-40C6-6B28-C620-E187EA0E62ED}"/>
              </a:ext>
            </a:extLst>
          </p:cNvPr>
          <p:cNvSpPr/>
          <p:nvPr/>
        </p:nvSpPr>
        <p:spPr>
          <a:xfrm>
            <a:off x="1384300" y="46868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0100</a:t>
            </a:r>
          </a:p>
        </p:txBody>
      </p:sp>
      <p:sp>
        <p:nvSpPr>
          <p:cNvPr id="29" name="TextBox 28">
            <a:extLst>
              <a:ext uri="{FF2B5EF4-FFF2-40B4-BE49-F238E27FC236}">
                <a16:creationId xmlns:a16="http://schemas.microsoft.com/office/drawing/2014/main" id="{A557BB37-ED17-E45F-4112-25FC68C35868}"/>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8A65F041-E03B-F6DB-DAFC-6E4B7F834AFE}"/>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31" name="Rectangle 30">
            <a:extLst>
              <a:ext uri="{FF2B5EF4-FFF2-40B4-BE49-F238E27FC236}">
                <a16:creationId xmlns:a16="http://schemas.microsoft.com/office/drawing/2014/main" id="{70F4095A-632D-9B41-59E8-A08084C01D83}"/>
              </a:ext>
            </a:extLst>
          </p:cNvPr>
          <p:cNvSpPr/>
          <p:nvPr/>
        </p:nvSpPr>
        <p:spPr>
          <a:xfrm>
            <a:off x="1384300" y="53726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0500</a:t>
            </a:r>
          </a:p>
        </p:txBody>
      </p:sp>
      <p:sp>
        <p:nvSpPr>
          <p:cNvPr id="32" name="Rectangle 31">
            <a:extLst>
              <a:ext uri="{FF2B5EF4-FFF2-40B4-BE49-F238E27FC236}">
                <a16:creationId xmlns:a16="http://schemas.microsoft.com/office/drawing/2014/main" id="{7B06B961-9C83-8BD6-DD2F-786671EB7340}"/>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1201</a:t>
            </a:r>
          </a:p>
        </p:txBody>
      </p:sp>
      <p:sp>
        <p:nvSpPr>
          <p:cNvPr id="33" name="TextBox 32">
            <a:extLst>
              <a:ext uri="{FF2B5EF4-FFF2-40B4-BE49-F238E27FC236}">
                <a16:creationId xmlns:a16="http://schemas.microsoft.com/office/drawing/2014/main" id="{3D089A36-4161-8CFC-5BC5-DE9B0C607895}"/>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948F5A0F-FEAF-3F61-0ED8-AC1BF65429B2}"/>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FA4D6108-694C-1DC0-4B53-0F05EDD70CF4}"/>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CC069B72-3E9A-20F3-323C-780D2F23E65E}"/>
              </a:ext>
            </a:extLst>
          </p:cNvPr>
          <p:cNvSpPr>
            <a:spLocks noGrp="1"/>
          </p:cNvSpPr>
          <p:nvPr>
            <p:ph idx="1"/>
          </p:nvPr>
        </p:nvSpPr>
        <p:spPr>
          <a:xfrm>
            <a:off x="2801814" y="351693"/>
            <a:ext cx="7167686" cy="4660402"/>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MAINLOOP_A: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0938	8720	LBI    R7, #32	   </a:t>
            </a:r>
            <a:r>
              <a:rPr lang="pt-BR" sz="1400" dirty="0">
                <a:latin typeface="Courier New" panose="02070309020205020404" pitchFamily="49" charset="0"/>
                <a:cs typeface="Courier New" panose="02070309020205020404" pitchFamily="49" charset="0"/>
                <a:sym typeface="Wingdings" panose="05000000000000000000" pitchFamily="2" charset="2"/>
              </a:rPr>
              <a:t> R7 = 32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093A	DCD8	MOVE   R12, (R13)   </a:t>
            </a:r>
            <a:r>
              <a:rPr lang="pt-BR" sz="1400" dirty="0">
                <a:latin typeface="Courier New" panose="02070309020205020404" pitchFamily="49" charset="0"/>
                <a:cs typeface="Courier New" panose="02070309020205020404" pitchFamily="49" charset="0"/>
                <a:sym typeface="Wingdings" panose="05000000000000000000" pitchFamily="2" charset="2"/>
              </a:rPr>
              <a:t> R12 = MEM[R13]</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MAINLOOP_B: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093C	DBC1	MOVE   R11, (R12)+  </a:t>
            </a:r>
            <a:r>
              <a:rPr lang="pt-BR" sz="1400" dirty="0">
                <a:latin typeface="Courier New" panose="02070309020205020404" pitchFamily="49" charset="0"/>
                <a:cs typeface="Courier New" panose="02070309020205020404" pitchFamily="49" charset="0"/>
                <a:sym typeface="Wingdings" panose="05000000000000000000" pitchFamily="2" charset="2"/>
              </a:rPr>
              <a:t> R11=MEM[R12], R12=R12+2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093E	5BE1	MOVE   (R14)+, R11  </a:t>
            </a:r>
            <a:r>
              <a:rPr lang="pt-BR" sz="1400" dirty="0">
                <a:latin typeface="Courier New" panose="02070309020205020404" pitchFamily="49" charset="0"/>
                <a:cs typeface="Courier New" panose="02070309020205020404" pitchFamily="49" charset="0"/>
                <a:sym typeface="Wingdings" panose="05000000000000000000" pitchFamily="2" charset="2"/>
              </a:rPr>
              <a:t> MEM[R14]=R11, R14=R14+2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0940	0771	DEC    R7           </a:t>
            </a:r>
            <a:r>
              <a:rPr lang="pt-BR" sz="1400" dirty="0">
                <a:latin typeface="Courier New" panose="02070309020205020404" pitchFamily="49" charset="0"/>
                <a:cs typeface="Courier New" panose="02070309020205020404" pitchFamily="49" charset="0"/>
                <a:sym typeface="Wingdings" panose="05000000000000000000" pitchFamily="2" charset="2"/>
              </a:rPr>
              <a:t> R7 = R7-1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0942	C703	SZ     R7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(R7 == 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0944	F009	BRA    MAINLOOP_B  ; (</a:t>
            </a:r>
            <a:r>
              <a:rPr lang="pt-BR" sz="1400" dirty="0" err="1">
                <a:latin typeface="Courier New" panose="02070309020205020404" pitchFamily="49" charset="0"/>
                <a:cs typeface="Courier New" panose="02070309020205020404" pitchFamily="49" charset="0"/>
              </a:rPr>
              <a:t>next</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column</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this</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row</a:t>
            </a:r>
            <a:r>
              <a:rPr lang="pt-BR" sz="1400" dirty="0">
                <a:latin typeface="Courier New" panose="02070309020205020404" pitchFamily="49" charset="0"/>
                <a:cs typeface="Courier New" panose="02070309020205020404" pitchFamily="49" charset="0"/>
              </a:rPr>
              <a: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0946	DCD8	MOVE   R12, (R13)   </a:t>
            </a:r>
            <a:r>
              <a:rPr lang="pt-BR" sz="1400" dirty="0">
                <a:latin typeface="Courier New" panose="02070309020205020404" pitchFamily="49" charset="0"/>
                <a:cs typeface="Courier New" panose="02070309020205020404" pitchFamily="49" charset="0"/>
                <a:sym typeface="Wingdings" panose="05000000000000000000" pitchFamily="2" charset="2"/>
              </a:rPr>
              <a:t> R12 = MEM[R13]</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0948	0CC3	INC2   R12          </a:t>
            </a:r>
            <a:r>
              <a:rPr lang="pt-BR" sz="1400" dirty="0">
                <a:latin typeface="Courier New" panose="02070309020205020404" pitchFamily="49" charset="0"/>
                <a:cs typeface="Courier New" panose="02070309020205020404" pitchFamily="49" charset="0"/>
                <a:sym typeface="Wingdings" panose="05000000000000000000" pitchFamily="2" charset="2"/>
              </a:rPr>
              <a:t> R12 = R12+2  (shift </a:t>
            </a:r>
            <a:r>
              <a:rPr lang="pt-BR" sz="1400" dirty="0" err="1">
                <a:latin typeface="Courier New" panose="02070309020205020404" pitchFamily="49" charset="0"/>
                <a:cs typeface="Courier New" panose="02070309020205020404" pitchFamily="49" charset="0"/>
                <a:sym typeface="Wingdings" panose="05000000000000000000" pitchFamily="2" charset="2"/>
              </a:rPr>
              <a:t>row</a:t>
            </a:r>
            <a:r>
              <a:rPr lang="pt-BR" sz="1400" dirty="0">
                <a:latin typeface="Courier New" panose="02070309020205020404" pitchFamily="49" charset="0"/>
                <a:cs typeface="Courier New" panose="02070309020205020404" pitchFamily="49" charset="0"/>
                <a:sym typeface="Wingdings" panose="05000000000000000000" pitchFamily="2" charset="2"/>
              </a:rPr>
              <a: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094A	5CD1	MOVE   (R13)+, R12  </a:t>
            </a:r>
            <a:r>
              <a:rPr lang="pt-BR" sz="1400" dirty="0">
                <a:latin typeface="Courier New" panose="02070309020205020404" pitchFamily="49" charset="0"/>
                <a:cs typeface="Courier New" panose="02070309020205020404" pitchFamily="49" charset="0"/>
                <a:sym typeface="Wingdings" panose="05000000000000000000" pitchFamily="2" charset="2"/>
              </a:rPr>
              <a:t> MEM[R13]=R12, R13=R13+2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094C	0661	DEC    R6           </a:t>
            </a:r>
            <a:r>
              <a:rPr lang="pt-BR" sz="1400" dirty="0">
                <a:latin typeface="Courier New" panose="02070309020205020404" pitchFamily="49" charset="0"/>
                <a:cs typeface="Courier New" panose="02070309020205020404" pitchFamily="49" charset="0"/>
                <a:sym typeface="Wingdings" panose="05000000000000000000" pitchFamily="2" charset="2"/>
              </a:rPr>
              <a:t> R6 = R6-1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094E	C603	SZ     R6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(R6 == 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0950	F019	BRA    MAINLOOP_A  ; (</a:t>
            </a:r>
            <a:r>
              <a:rPr lang="pt-BR" sz="1400" dirty="0" err="1">
                <a:latin typeface="Courier New" panose="02070309020205020404" pitchFamily="49" charset="0"/>
                <a:cs typeface="Courier New" panose="02070309020205020404" pitchFamily="49" charset="0"/>
              </a:rPr>
              <a:t>next</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row</a:t>
            </a:r>
            <a:r>
              <a:rPr lang="pt-BR" sz="1400" dirty="0">
                <a:latin typeface="Courier New" panose="02070309020205020404" pitchFamily="49" charset="0"/>
                <a:cs typeface="Courier New" panose="02070309020205020404" pitchFamily="49" charset="0"/>
              </a:rPr>
              <a: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0952	0203	CALL   </a:t>
            </a:r>
            <a:r>
              <a:rPr lang="pt-BR" sz="1400" dirty="0" err="1">
                <a:latin typeface="Courier New" panose="02070309020205020404" pitchFamily="49" charset="0"/>
                <a:cs typeface="Courier New" panose="02070309020205020404" pitchFamily="49" charset="0"/>
              </a:rPr>
              <a:t>SmallDelay</a:t>
            </a:r>
            <a:r>
              <a:rPr lang="pt-BR" sz="1400" dirty="0">
                <a:latin typeface="Courier New" panose="02070309020205020404" pitchFamily="49" charset="0"/>
                <a:cs typeface="Courier New" panose="02070309020205020404" pitchFamily="49" charset="0"/>
              </a:rPr>
              <a:t>, R2   ; (uses R12)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0954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0956	09AC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0958	...</a:t>
            </a:r>
            <a:endParaRPr lang="pt-BR" sz="1400"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323E9437-DA05-C677-5499-FF8B122C75C0}"/>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AAB0CB8D-6424-BEF2-885C-3300FB5E6FC0}"/>
              </a:ext>
            </a:extLst>
          </p:cNvPr>
          <p:cNvSpPr/>
          <p:nvPr/>
        </p:nvSpPr>
        <p:spPr>
          <a:xfrm>
            <a:off x="4639011" y="1377950"/>
            <a:ext cx="5165389" cy="3371850"/>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7138350F-9B56-B4DA-9F9D-8248EAFE512F}"/>
              </a:ext>
            </a:extLst>
          </p:cNvPr>
          <p:cNvSpPr/>
          <p:nvPr/>
        </p:nvSpPr>
        <p:spPr>
          <a:xfrm>
            <a:off x="11128251" y="2678470"/>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1002</a:t>
            </a:r>
          </a:p>
          <a:p>
            <a:r>
              <a:rPr lang="en-US" sz="1200" dirty="0">
                <a:latin typeface="Courier New" panose="02070309020205020404" pitchFamily="49" charset="0"/>
                <a:cs typeface="Courier New" panose="02070309020205020404" pitchFamily="49" charset="0"/>
              </a:rPr>
              <a:t>146A</a:t>
            </a:r>
          </a:p>
          <a:p>
            <a:r>
              <a:rPr lang="en-US" sz="1200" dirty="0">
                <a:latin typeface="Courier New" panose="02070309020205020404" pitchFamily="49" charset="0"/>
                <a:cs typeface="Courier New" panose="02070309020205020404" pitchFamily="49" charset="0"/>
              </a:rPr>
              <a:t>18D2</a:t>
            </a:r>
          </a:p>
          <a:p>
            <a:r>
              <a:rPr lang="en-US" sz="1200" dirty="0">
                <a:latin typeface="Courier New" panose="02070309020205020404" pitchFamily="49" charset="0"/>
                <a:cs typeface="Courier New" panose="02070309020205020404" pitchFamily="49" charset="0"/>
              </a:rPr>
              <a:t>1D3A</a:t>
            </a:r>
          </a:p>
          <a:p>
            <a:r>
              <a:rPr lang="en-US" sz="1200" dirty="0">
                <a:latin typeface="Courier New" panose="02070309020205020404" pitchFamily="49" charset="0"/>
                <a:cs typeface="Courier New" panose="02070309020205020404" pitchFamily="49" charset="0"/>
              </a:rPr>
              <a:t>21A2</a:t>
            </a:r>
          </a:p>
          <a:p>
            <a:r>
              <a:rPr lang="en-US" sz="1200" dirty="0">
                <a:latin typeface="Courier New" panose="02070309020205020404" pitchFamily="49" charset="0"/>
                <a:cs typeface="Courier New" panose="02070309020205020404" pitchFamily="49" charset="0"/>
              </a:rPr>
              <a:t>260A</a:t>
            </a:r>
          </a:p>
          <a:p>
            <a:r>
              <a:rPr lang="en-US" sz="1200" dirty="0">
                <a:latin typeface="Courier New" panose="02070309020205020404" pitchFamily="49" charset="0"/>
                <a:cs typeface="Courier New" panose="02070309020205020404" pitchFamily="49" charset="0"/>
              </a:rPr>
              <a:t>2A72</a:t>
            </a:r>
          </a:p>
          <a:p>
            <a:r>
              <a:rPr lang="en-US" sz="1200" dirty="0">
                <a:latin typeface="Courier New" panose="02070309020205020404" pitchFamily="49" charset="0"/>
                <a:cs typeface="Courier New" panose="02070309020205020404" pitchFamily="49" charset="0"/>
              </a:rPr>
              <a:t>2EDA</a:t>
            </a:r>
          </a:p>
          <a:p>
            <a:r>
              <a:rPr lang="en-US" sz="1200" dirty="0">
                <a:latin typeface="Courier New" panose="02070309020205020404" pitchFamily="49" charset="0"/>
                <a:cs typeface="Courier New" panose="02070309020205020404" pitchFamily="49" charset="0"/>
              </a:rPr>
              <a:t>3342</a:t>
            </a:r>
          </a:p>
          <a:p>
            <a:r>
              <a:rPr lang="en-US" sz="1200" dirty="0">
                <a:latin typeface="Courier New" panose="02070309020205020404" pitchFamily="49" charset="0"/>
                <a:cs typeface="Courier New" panose="02070309020205020404" pitchFamily="49" charset="0"/>
              </a:rPr>
              <a:t>37AA</a:t>
            </a:r>
          </a:p>
        </p:txBody>
      </p:sp>
      <p:sp>
        <p:nvSpPr>
          <p:cNvPr id="43" name="TextBox 42">
            <a:extLst>
              <a:ext uri="{FF2B5EF4-FFF2-40B4-BE49-F238E27FC236}">
                <a16:creationId xmlns:a16="http://schemas.microsoft.com/office/drawing/2014/main" id="{75F2228C-A523-8882-6231-085DCCC1C0AA}"/>
              </a:ext>
            </a:extLst>
          </p:cNvPr>
          <p:cNvSpPr txBox="1"/>
          <p:nvPr/>
        </p:nvSpPr>
        <p:spPr>
          <a:xfrm>
            <a:off x="10408597" y="2678470"/>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37" name="TextBox 36">
            <a:extLst>
              <a:ext uri="{FF2B5EF4-FFF2-40B4-BE49-F238E27FC236}">
                <a16:creationId xmlns:a16="http://schemas.microsoft.com/office/drawing/2014/main" id="{8DC43C0C-7B1C-6F3E-D0DE-42E61F873D01}"/>
              </a:ext>
            </a:extLst>
          </p:cNvPr>
          <p:cNvSpPr txBox="1"/>
          <p:nvPr/>
        </p:nvSpPr>
        <p:spPr>
          <a:xfrm>
            <a:off x="2801813" y="5225246"/>
            <a:ext cx="8874372" cy="1077218"/>
          </a:xfrm>
          <a:prstGeom prst="rect">
            <a:avLst/>
          </a:prstGeom>
          <a:solidFill>
            <a:srgbClr val="FFC000"/>
          </a:solidFill>
        </p:spPr>
        <p:txBody>
          <a:bodyPr wrap="square" rtlCol="0">
            <a:spAutoFit/>
          </a:bodyPr>
          <a:lstStyle/>
          <a:p>
            <a:r>
              <a:rPr lang="en-US" sz="1600" dirty="0">
                <a:latin typeface="Courier New" panose="02070309020205020404" pitchFamily="49" charset="0"/>
                <a:cs typeface="Courier New" panose="02070309020205020404" pitchFamily="49" charset="0"/>
              </a:rPr>
              <a:t>Do a MEMCPY for each 64 bytes (32x2) of the pre-computed </a:t>
            </a:r>
            <a:r>
              <a:rPr lang="en-US" sz="1600" dirty="0" err="1">
                <a:latin typeface="Courier New" panose="02070309020205020404" pitchFamily="49" charset="0"/>
                <a:cs typeface="Courier New" panose="02070309020205020404" pitchFamily="49" charset="0"/>
              </a:rPr>
              <a:t>big_letter</a:t>
            </a:r>
            <a:r>
              <a:rPr lang="en-US" sz="1600" dirty="0">
                <a:latin typeface="Courier New" panose="02070309020205020404" pitchFamily="49" charset="0"/>
                <a:cs typeface="Courier New" panose="02070309020205020404" pitchFamily="49" charset="0"/>
              </a:rPr>
              <a:t> content over to what fits on the screen.  After each row, update the pointer so that the next time through, the row will be shifted over by two characters.  When all the rows are done, perform a brief delay.</a:t>
            </a:r>
          </a:p>
        </p:txBody>
      </p:sp>
      <p:sp>
        <p:nvSpPr>
          <p:cNvPr id="38" name="Rectangle 37">
            <a:extLst>
              <a:ext uri="{FF2B5EF4-FFF2-40B4-BE49-F238E27FC236}">
                <a16:creationId xmlns:a16="http://schemas.microsoft.com/office/drawing/2014/main" id="{63BC8509-DB9E-5919-9AF8-1B8135125570}"/>
              </a:ext>
            </a:extLst>
          </p:cNvPr>
          <p:cNvSpPr/>
          <p:nvPr/>
        </p:nvSpPr>
        <p:spPr>
          <a:xfrm>
            <a:off x="8909692" y="1142955"/>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CBCEB80-25EB-F811-38F7-22A0277081C5}"/>
              </a:ext>
            </a:extLst>
          </p:cNvPr>
          <p:cNvSpPr/>
          <p:nvPr/>
        </p:nvSpPr>
        <p:spPr>
          <a:xfrm>
            <a:off x="9325286" y="2393706"/>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79">
            <a:extLst>
              <a:ext uri="{FF2B5EF4-FFF2-40B4-BE49-F238E27FC236}">
                <a16:creationId xmlns:a16="http://schemas.microsoft.com/office/drawing/2014/main" id="{1C3A2853-2018-63DB-48AF-DED441B9FE57}"/>
              </a:ext>
            </a:extLst>
          </p:cNvPr>
          <p:cNvCxnSpPr>
            <a:cxnSpLocks/>
            <a:stCxn id="39" idx="3"/>
            <a:endCxn id="38" idx="3"/>
          </p:cNvCxnSpPr>
          <p:nvPr/>
        </p:nvCxnSpPr>
        <p:spPr>
          <a:xfrm flipH="1" flipV="1">
            <a:off x="9073815" y="1222574"/>
            <a:ext cx="415594" cy="1250751"/>
          </a:xfrm>
          <a:prstGeom prst="bentConnector3">
            <a:avLst>
              <a:gd name="adj1" fmla="val -55006"/>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09D95589-1D47-2605-E5FD-436B31926AEE}"/>
              </a:ext>
            </a:extLst>
          </p:cNvPr>
          <p:cNvSpPr/>
          <p:nvPr/>
        </p:nvSpPr>
        <p:spPr>
          <a:xfrm>
            <a:off x="9489409" y="724841"/>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A7FE257C-6449-E320-8A4C-E72DDF18E3F8}"/>
              </a:ext>
            </a:extLst>
          </p:cNvPr>
          <p:cNvSpPr/>
          <p:nvPr/>
        </p:nvSpPr>
        <p:spPr>
          <a:xfrm>
            <a:off x="9435434" y="3879452"/>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79">
            <a:extLst>
              <a:ext uri="{FF2B5EF4-FFF2-40B4-BE49-F238E27FC236}">
                <a16:creationId xmlns:a16="http://schemas.microsoft.com/office/drawing/2014/main" id="{54B1D12C-754C-BA7C-D96F-ECEC26F8225A}"/>
              </a:ext>
            </a:extLst>
          </p:cNvPr>
          <p:cNvCxnSpPr>
            <a:cxnSpLocks/>
            <a:stCxn id="48" idx="3"/>
            <a:endCxn id="47" idx="3"/>
          </p:cNvCxnSpPr>
          <p:nvPr/>
        </p:nvCxnSpPr>
        <p:spPr>
          <a:xfrm flipV="1">
            <a:off x="9599557" y="804460"/>
            <a:ext cx="53975" cy="3154611"/>
          </a:xfrm>
          <a:prstGeom prst="bentConnector3">
            <a:avLst>
              <a:gd name="adj1" fmla="val 523529"/>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D3F458D-5050-C81B-E822-0368214C02A8}"/>
              </a:ext>
            </a:extLst>
          </p:cNvPr>
          <p:cNvCxnSpPr>
            <a:cxnSpLocks/>
          </p:cNvCxnSpPr>
          <p:nvPr/>
        </p:nvCxnSpPr>
        <p:spPr>
          <a:xfrm>
            <a:off x="2203938" y="750277"/>
            <a:ext cx="867508" cy="4126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Arrow: Down 52">
            <a:extLst>
              <a:ext uri="{FF2B5EF4-FFF2-40B4-BE49-F238E27FC236}">
                <a16:creationId xmlns:a16="http://schemas.microsoft.com/office/drawing/2014/main" id="{E7FFEEB4-D5FB-9426-5F91-EC8A7978F67F}"/>
              </a:ext>
            </a:extLst>
          </p:cNvPr>
          <p:cNvSpPr/>
          <p:nvPr/>
        </p:nvSpPr>
        <p:spPr>
          <a:xfrm>
            <a:off x="11354972" y="2331879"/>
            <a:ext cx="351693" cy="369332"/>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2256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11D98-2DB7-FD14-1CD0-A688A3CD23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D2333D-3D73-E7E2-0AD9-44EFB1BCDE46}"/>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0958</a:t>
            </a:r>
          </a:p>
        </p:txBody>
      </p:sp>
      <p:sp>
        <p:nvSpPr>
          <p:cNvPr id="5" name="TextBox 4">
            <a:extLst>
              <a:ext uri="{FF2B5EF4-FFF2-40B4-BE49-F238E27FC236}">
                <a16:creationId xmlns:a16="http://schemas.microsoft.com/office/drawing/2014/main" id="{534B732E-8EDA-70D4-AF80-4E7B15C87196}"/>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D0002DA8-D401-57FD-FC7C-709B83C2A932}"/>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09F0</a:t>
            </a:r>
          </a:p>
        </p:txBody>
      </p:sp>
      <p:sp>
        <p:nvSpPr>
          <p:cNvPr id="7" name="Rectangle 6">
            <a:extLst>
              <a:ext uri="{FF2B5EF4-FFF2-40B4-BE49-F238E27FC236}">
                <a16:creationId xmlns:a16="http://schemas.microsoft.com/office/drawing/2014/main" id="{D08817EB-6082-6FA3-EBF1-68979C437A7F}"/>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09F8</a:t>
            </a:r>
          </a:p>
        </p:txBody>
      </p:sp>
      <p:sp>
        <p:nvSpPr>
          <p:cNvPr id="8" name="Rectangle 7">
            <a:extLst>
              <a:ext uri="{FF2B5EF4-FFF2-40B4-BE49-F238E27FC236}">
                <a16:creationId xmlns:a16="http://schemas.microsoft.com/office/drawing/2014/main" id="{CE102370-969D-2C29-7EF6-6EF9B25920BF}"/>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9" name="TextBox 8">
            <a:extLst>
              <a:ext uri="{FF2B5EF4-FFF2-40B4-BE49-F238E27FC236}">
                <a16:creationId xmlns:a16="http://schemas.microsoft.com/office/drawing/2014/main" id="{B9B5CAC0-8EA7-7990-20FF-5299E3CF62A3}"/>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E7F1F636-14D3-9584-2F39-941CE35C0695}"/>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C92FAB1C-278F-78F6-530A-56B1E04C07BE}"/>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5EEB06B6-7F00-1F4D-AEC0-DBCB8C729D16}"/>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0CC0</a:t>
            </a:r>
          </a:p>
        </p:txBody>
      </p:sp>
      <p:sp>
        <p:nvSpPr>
          <p:cNvPr id="13" name="TextBox 12">
            <a:extLst>
              <a:ext uri="{FF2B5EF4-FFF2-40B4-BE49-F238E27FC236}">
                <a16:creationId xmlns:a16="http://schemas.microsoft.com/office/drawing/2014/main" id="{0EC91E7B-0825-34B6-ADA7-7E1CA089F6B8}"/>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651A44E3-920F-069C-7F61-D5976769E6D0}"/>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0D80</a:t>
            </a:r>
          </a:p>
        </p:txBody>
      </p:sp>
      <p:sp>
        <p:nvSpPr>
          <p:cNvPr id="15" name="Rectangle 14">
            <a:extLst>
              <a:ext uri="{FF2B5EF4-FFF2-40B4-BE49-F238E27FC236}">
                <a16:creationId xmlns:a16="http://schemas.microsoft.com/office/drawing/2014/main" id="{82891C83-5107-D153-9418-4E58B3039939}"/>
              </a:ext>
            </a:extLst>
          </p:cNvPr>
          <p:cNvSpPr/>
          <p:nvPr/>
        </p:nvSpPr>
        <p:spPr>
          <a:xfrm>
            <a:off x="1384300" y="26162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a:t>
            </a:r>
            <a:r>
              <a:rPr lang="en-US" b="1" dirty="0">
                <a:solidFill>
                  <a:srgbClr val="FF0000"/>
                </a:solidFill>
                <a:latin typeface="Courier New" panose="02070309020205020404" pitchFamily="49" charset="0"/>
                <a:cs typeface="Courier New" panose="02070309020205020404" pitchFamily="49" charset="0"/>
              </a:rPr>
              <a:t>00</a:t>
            </a:r>
          </a:p>
        </p:txBody>
      </p:sp>
      <p:sp>
        <p:nvSpPr>
          <p:cNvPr id="16" name="Rectangle 15">
            <a:extLst>
              <a:ext uri="{FF2B5EF4-FFF2-40B4-BE49-F238E27FC236}">
                <a16:creationId xmlns:a16="http://schemas.microsoft.com/office/drawing/2014/main" id="{AAE97A7A-2BC1-204C-95A4-CA537940C9F9}"/>
              </a:ext>
            </a:extLst>
          </p:cNvPr>
          <p:cNvSpPr/>
          <p:nvPr/>
        </p:nvSpPr>
        <p:spPr>
          <a:xfrm>
            <a:off x="1384300" y="29591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b="1" dirty="0">
                <a:solidFill>
                  <a:srgbClr val="FF0000"/>
                </a:solidFill>
                <a:latin typeface="Courier New" panose="02070309020205020404" pitchFamily="49" charset="0"/>
                <a:cs typeface="Courier New" panose="02070309020205020404" pitchFamily="49" charset="0"/>
              </a:rPr>
              <a:t>00</a:t>
            </a:r>
          </a:p>
        </p:txBody>
      </p:sp>
      <p:sp>
        <p:nvSpPr>
          <p:cNvPr id="17" name="TextBox 16">
            <a:extLst>
              <a:ext uri="{FF2B5EF4-FFF2-40B4-BE49-F238E27FC236}">
                <a16:creationId xmlns:a16="http://schemas.microsoft.com/office/drawing/2014/main" id="{5602BC1B-A6CD-2C42-D62B-4B311DCB4FB5}"/>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1C299531-959A-14B0-8209-3AA163D5F6BD}"/>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01F1A7A4-CFDA-D006-2BFF-BA8AEB7606D5}"/>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F01A2CE9-79A8-1EFD-0669-5942DF4DB262}"/>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A701869F-5623-2B17-AF31-B4B83EEB3846}"/>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A3BF1077-1DA2-8BC7-145D-F2F3C3764D4B}"/>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1EC20609-B7F4-F7BB-6CBC-368E0A53D8CD}"/>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047E</a:t>
            </a:r>
          </a:p>
        </p:txBody>
      </p:sp>
      <p:sp>
        <p:nvSpPr>
          <p:cNvPr id="24" name="Rectangle 23">
            <a:extLst>
              <a:ext uri="{FF2B5EF4-FFF2-40B4-BE49-F238E27FC236}">
                <a16:creationId xmlns:a16="http://schemas.microsoft.com/office/drawing/2014/main" id="{95255AF9-BD7F-A328-24CF-1AC215E2F2D4}"/>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5" name="TextBox 24">
            <a:extLst>
              <a:ext uri="{FF2B5EF4-FFF2-40B4-BE49-F238E27FC236}">
                <a16:creationId xmlns:a16="http://schemas.microsoft.com/office/drawing/2014/main" id="{A67BE7AE-7535-A5C6-6252-246A2EC70247}"/>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CCA88F7E-5F3F-8AC5-DE28-13C2ABA26EE9}"/>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3C23B057-0AEC-5843-CB62-D0D1BD23E7A9}"/>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C53C6E66-9A3B-2264-0A7A-228C225AE690}"/>
              </a:ext>
            </a:extLst>
          </p:cNvPr>
          <p:cNvSpPr/>
          <p:nvPr/>
        </p:nvSpPr>
        <p:spPr>
          <a:xfrm>
            <a:off x="1384300" y="46868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0100</a:t>
            </a:r>
          </a:p>
        </p:txBody>
      </p:sp>
      <p:sp>
        <p:nvSpPr>
          <p:cNvPr id="29" name="TextBox 28">
            <a:extLst>
              <a:ext uri="{FF2B5EF4-FFF2-40B4-BE49-F238E27FC236}">
                <a16:creationId xmlns:a16="http://schemas.microsoft.com/office/drawing/2014/main" id="{F2FD781C-28FE-228C-6541-684F50E0A915}"/>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C8E822A3-8C4B-2994-0039-2BCC57448BC8}"/>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31" name="Rectangle 30">
            <a:extLst>
              <a:ext uri="{FF2B5EF4-FFF2-40B4-BE49-F238E27FC236}">
                <a16:creationId xmlns:a16="http://schemas.microsoft.com/office/drawing/2014/main" id="{92ECABD6-81B7-08D8-3E5C-5E0F6A5FAA03}"/>
              </a:ext>
            </a:extLst>
          </p:cNvPr>
          <p:cNvSpPr/>
          <p:nvPr/>
        </p:nvSpPr>
        <p:spPr>
          <a:xfrm>
            <a:off x="1384300" y="53726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0500</a:t>
            </a:r>
          </a:p>
        </p:txBody>
      </p:sp>
      <p:sp>
        <p:nvSpPr>
          <p:cNvPr id="32" name="Rectangle 31">
            <a:extLst>
              <a:ext uri="{FF2B5EF4-FFF2-40B4-BE49-F238E27FC236}">
                <a16:creationId xmlns:a16="http://schemas.microsoft.com/office/drawing/2014/main" id="{A8E32859-A471-F771-68CF-5164DBEDE434}"/>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33" name="TextBox 32">
            <a:extLst>
              <a:ext uri="{FF2B5EF4-FFF2-40B4-BE49-F238E27FC236}">
                <a16:creationId xmlns:a16="http://schemas.microsoft.com/office/drawing/2014/main" id="{B6015CB2-2458-FBD4-7181-E7F59D0A5D0B}"/>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96D90FEC-7C0B-BDDC-B15E-3E728F5D882C}"/>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91BE56D2-7A73-3F0D-1597-228B808A74FB}"/>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66C5C960-37B9-8CB7-2142-9321662A1619}"/>
              </a:ext>
            </a:extLst>
          </p:cNvPr>
          <p:cNvSpPr>
            <a:spLocks noGrp="1"/>
          </p:cNvSpPr>
          <p:nvPr>
            <p:ph idx="1"/>
          </p:nvPr>
        </p:nvSpPr>
        <p:spPr>
          <a:xfrm>
            <a:off x="2801814" y="351693"/>
            <a:ext cx="7167686" cy="4660402"/>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MAINLOOP_A: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0938	8720	LBI    R7, #32	   </a:t>
            </a:r>
            <a:r>
              <a:rPr lang="pt-BR" sz="1400" dirty="0">
                <a:latin typeface="Courier New" panose="02070309020205020404" pitchFamily="49" charset="0"/>
                <a:cs typeface="Courier New" panose="02070309020205020404" pitchFamily="49" charset="0"/>
                <a:sym typeface="Wingdings" panose="05000000000000000000" pitchFamily="2" charset="2"/>
              </a:rPr>
              <a:t> R7 = 32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093A	DCD8	MOVE   R12, (R13)   </a:t>
            </a:r>
            <a:r>
              <a:rPr lang="pt-BR" sz="1400" dirty="0">
                <a:latin typeface="Courier New" panose="02070309020205020404" pitchFamily="49" charset="0"/>
                <a:cs typeface="Courier New" panose="02070309020205020404" pitchFamily="49" charset="0"/>
                <a:sym typeface="Wingdings" panose="05000000000000000000" pitchFamily="2" charset="2"/>
              </a:rPr>
              <a:t> R12 = MEM[R13]</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MAINLOOP_B: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093C	DBC1	MOVE   R11, (R12)+  </a:t>
            </a:r>
            <a:r>
              <a:rPr lang="pt-BR" sz="1400" dirty="0">
                <a:latin typeface="Courier New" panose="02070309020205020404" pitchFamily="49" charset="0"/>
                <a:cs typeface="Courier New" panose="02070309020205020404" pitchFamily="49" charset="0"/>
                <a:sym typeface="Wingdings" panose="05000000000000000000" pitchFamily="2" charset="2"/>
              </a:rPr>
              <a:t> R11=MEM[R12], R12=R12+2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093E	5BE1	MOVE   (R14)+, R11  </a:t>
            </a:r>
            <a:r>
              <a:rPr lang="pt-BR" sz="1400" dirty="0">
                <a:latin typeface="Courier New" panose="02070309020205020404" pitchFamily="49" charset="0"/>
                <a:cs typeface="Courier New" panose="02070309020205020404" pitchFamily="49" charset="0"/>
                <a:sym typeface="Wingdings" panose="05000000000000000000" pitchFamily="2" charset="2"/>
              </a:rPr>
              <a:t> MEM[R14]=R11, R14=R14+2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0940	0771	DEC    R7           </a:t>
            </a:r>
            <a:r>
              <a:rPr lang="pt-BR" sz="1400" dirty="0">
                <a:latin typeface="Courier New" panose="02070309020205020404" pitchFamily="49" charset="0"/>
                <a:cs typeface="Courier New" panose="02070309020205020404" pitchFamily="49" charset="0"/>
                <a:sym typeface="Wingdings" panose="05000000000000000000" pitchFamily="2" charset="2"/>
              </a:rPr>
              <a:t> R7 = R7-1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0942	C703	SZ     R7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(R7 == 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0944	F009	BRA    MAINLOOP_B  ; (</a:t>
            </a:r>
            <a:r>
              <a:rPr lang="pt-BR" sz="1400" dirty="0" err="1">
                <a:latin typeface="Courier New" panose="02070309020205020404" pitchFamily="49" charset="0"/>
                <a:cs typeface="Courier New" panose="02070309020205020404" pitchFamily="49" charset="0"/>
              </a:rPr>
              <a:t>next</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column</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this</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row</a:t>
            </a:r>
            <a:r>
              <a:rPr lang="pt-BR" sz="1400" dirty="0">
                <a:latin typeface="Courier New" panose="02070309020205020404" pitchFamily="49" charset="0"/>
                <a:cs typeface="Courier New" panose="02070309020205020404" pitchFamily="49" charset="0"/>
              </a:rPr>
              <a: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0946	DCD8	MOVE   R12, (R13)   </a:t>
            </a:r>
            <a:r>
              <a:rPr lang="pt-BR" sz="1400" dirty="0">
                <a:latin typeface="Courier New" panose="02070309020205020404" pitchFamily="49" charset="0"/>
                <a:cs typeface="Courier New" panose="02070309020205020404" pitchFamily="49" charset="0"/>
                <a:sym typeface="Wingdings" panose="05000000000000000000" pitchFamily="2" charset="2"/>
              </a:rPr>
              <a:t> R12 = MEM[R13]</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0948	0CC3	INC2   R12          </a:t>
            </a:r>
            <a:r>
              <a:rPr lang="pt-BR" sz="1400" dirty="0">
                <a:latin typeface="Courier New" panose="02070309020205020404" pitchFamily="49" charset="0"/>
                <a:cs typeface="Courier New" panose="02070309020205020404" pitchFamily="49" charset="0"/>
                <a:sym typeface="Wingdings" panose="05000000000000000000" pitchFamily="2" charset="2"/>
              </a:rPr>
              <a:t> R12 = R12+2  (shift </a:t>
            </a:r>
            <a:r>
              <a:rPr lang="pt-BR" sz="1400" dirty="0" err="1">
                <a:latin typeface="Courier New" panose="02070309020205020404" pitchFamily="49" charset="0"/>
                <a:cs typeface="Courier New" panose="02070309020205020404" pitchFamily="49" charset="0"/>
                <a:sym typeface="Wingdings" panose="05000000000000000000" pitchFamily="2" charset="2"/>
              </a:rPr>
              <a:t>row</a:t>
            </a:r>
            <a:r>
              <a:rPr lang="pt-BR" sz="1400" dirty="0">
                <a:latin typeface="Courier New" panose="02070309020205020404" pitchFamily="49" charset="0"/>
                <a:cs typeface="Courier New" panose="02070309020205020404" pitchFamily="49" charset="0"/>
                <a:sym typeface="Wingdings" panose="05000000000000000000" pitchFamily="2" charset="2"/>
              </a:rPr>
              <a: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094A	5CD1	MOVE   (R13)+, R12  </a:t>
            </a:r>
            <a:r>
              <a:rPr lang="pt-BR" sz="1400" dirty="0">
                <a:latin typeface="Courier New" panose="02070309020205020404" pitchFamily="49" charset="0"/>
                <a:cs typeface="Courier New" panose="02070309020205020404" pitchFamily="49" charset="0"/>
                <a:sym typeface="Wingdings" panose="05000000000000000000" pitchFamily="2" charset="2"/>
              </a:rPr>
              <a:t> MEM[R13]=R12, R13=R13+2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094C	0661	DEC    R6           </a:t>
            </a:r>
            <a:r>
              <a:rPr lang="pt-BR" sz="1400" dirty="0">
                <a:latin typeface="Courier New" panose="02070309020205020404" pitchFamily="49" charset="0"/>
                <a:cs typeface="Courier New" panose="02070309020205020404" pitchFamily="49" charset="0"/>
                <a:sym typeface="Wingdings" panose="05000000000000000000" pitchFamily="2" charset="2"/>
              </a:rPr>
              <a:t> R6 = R6-1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094E	C603	SZ     R6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(R6 == 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0950	F019	BRA    MAINLOOP_A  ; (</a:t>
            </a:r>
            <a:r>
              <a:rPr lang="pt-BR" sz="1400" dirty="0" err="1">
                <a:latin typeface="Courier New" panose="02070309020205020404" pitchFamily="49" charset="0"/>
                <a:cs typeface="Courier New" panose="02070309020205020404" pitchFamily="49" charset="0"/>
              </a:rPr>
              <a:t>next</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row</a:t>
            </a:r>
            <a:r>
              <a:rPr lang="pt-BR" sz="1400" dirty="0">
                <a:latin typeface="Courier New" panose="02070309020205020404" pitchFamily="49" charset="0"/>
                <a:cs typeface="Courier New" panose="02070309020205020404" pitchFamily="49" charset="0"/>
              </a:rPr>
              <a: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0952	0203	CALL   </a:t>
            </a:r>
            <a:r>
              <a:rPr lang="pt-BR" sz="1400" dirty="0" err="1">
                <a:latin typeface="Courier New" panose="02070309020205020404" pitchFamily="49" charset="0"/>
                <a:cs typeface="Courier New" panose="02070309020205020404" pitchFamily="49" charset="0"/>
              </a:rPr>
              <a:t>SmallDelay</a:t>
            </a:r>
            <a:r>
              <a:rPr lang="pt-BR" sz="1400" dirty="0">
                <a:latin typeface="Courier New" panose="02070309020205020404" pitchFamily="49" charset="0"/>
                <a:cs typeface="Courier New" panose="02070309020205020404" pitchFamily="49" charset="0"/>
              </a:rPr>
              <a:t>, R2   ; (uses R12)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0954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0956	09AC	</a:t>
            </a:r>
          </a:p>
          <a:p>
            <a:pPr marL="0" indent="0">
              <a:spcBef>
                <a:spcPts val="200"/>
              </a:spcBef>
              <a:spcAft>
                <a:spcPts val="200"/>
              </a:spcAft>
              <a:buNone/>
            </a:pPr>
            <a:r>
              <a:rPr lang="en-US" sz="1400" dirty="0">
                <a:latin typeface="Courier New" panose="02070309020205020404" pitchFamily="49" charset="0"/>
                <a:cs typeface="Courier New" panose="02070309020205020404" pitchFamily="49" charset="0"/>
              </a:rPr>
              <a:t>  0958	...</a:t>
            </a:r>
            <a:endParaRPr lang="pt-BR" sz="1400"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1814D405-6A63-D463-C779-B0C9EB0DAB1C}"/>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E9424947-FA0B-4CF4-A85F-8D042E4E9CE0}"/>
              </a:ext>
            </a:extLst>
          </p:cNvPr>
          <p:cNvSpPr/>
          <p:nvPr/>
        </p:nvSpPr>
        <p:spPr>
          <a:xfrm>
            <a:off x="4639011" y="1377950"/>
            <a:ext cx="5165389" cy="3371850"/>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619DFEE-CCAE-A8BC-0937-330DAEFA36FE}"/>
              </a:ext>
            </a:extLst>
          </p:cNvPr>
          <p:cNvSpPr/>
          <p:nvPr/>
        </p:nvSpPr>
        <p:spPr>
          <a:xfrm>
            <a:off x="11128251" y="2678470"/>
            <a:ext cx="884850" cy="192405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Courier New" panose="02070309020205020404" pitchFamily="49" charset="0"/>
                <a:cs typeface="Courier New" panose="02070309020205020404" pitchFamily="49" charset="0"/>
              </a:rPr>
              <a:t>1006</a:t>
            </a:r>
          </a:p>
          <a:p>
            <a:r>
              <a:rPr lang="en-US" sz="1200" dirty="0">
                <a:latin typeface="Courier New" panose="02070309020205020404" pitchFamily="49" charset="0"/>
                <a:cs typeface="Courier New" panose="02070309020205020404" pitchFamily="49" charset="0"/>
              </a:rPr>
              <a:t>146E</a:t>
            </a:r>
          </a:p>
          <a:p>
            <a:r>
              <a:rPr lang="en-US" sz="1200" dirty="0">
                <a:latin typeface="Courier New" panose="02070309020205020404" pitchFamily="49" charset="0"/>
                <a:cs typeface="Courier New" panose="02070309020205020404" pitchFamily="49" charset="0"/>
              </a:rPr>
              <a:t>18D6</a:t>
            </a:r>
          </a:p>
          <a:p>
            <a:r>
              <a:rPr lang="en-US" sz="1200" dirty="0">
                <a:latin typeface="Courier New" panose="02070309020205020404" pitchFamily="49" charset="0"/>
                <a:cs typeface="Courier New" panose="02070309020205020404" pitchFamily="49" charset="0"/>
              </a:rPr>
              <a:t>1D3E</a:t>
            </a:r>
          </a:p>
          <a:p>
            <a:r>
              <a:rPr lang="en-US" sz="1200" dirty="0">
                <a:latin typeface="Courier New" panose="02070309020205020404" pitchFamily="49" charset="0"/>
                <a:cs typeface="Courier New" panose="02070309020205020404" pitchFamily="49" charset="0"/>
              </a:rPr>
              <a:t>21A6</a:t>
            </a:r>
          </a:p>
          <a:p>
            <a:r>
              <a:rPr lang="en-US" sz="1200" dirty="0">
                <a:latin typeface="Courier New" panose="02070309020205020404" pitchFamily="49" charset="0"/>
                <a:cs typeface="Courier New" panose="02070309020205020404" pitchFamily="49" charset="0"/>
              </a:rPr>
              <a:t>260E</a:t>
            </a:r>
          </a:p>
          <a:p>
            <a:r>
              <a:rPr lang="en-US" sz="1200" dirty="0">
                <a:latin typeface="Courier New" panose="02070309020205020404" pitchFamily="49" charset="0"/>
                <a:cs typeface="Courier New" panose="02070309020205020404" pitchFamily="49" charset="0"/>
              </a:rPr>
              <a:t>2A76</a:t>
            </a:r>
          </a:p>
          <a:p>
            <a:r>
              <a:rPr lang="en-US" sz="1200" dirty="0">
                <a:latin typeface="Courier New" panose="02070309020205020404" pitchFamily="49" charset="0"/>
                <a:cs typeface="Courier New" panose="02070309020205020404" pitchFamily="49" charset="0"/>
              </a:rPr>
              <a:t>2EDE</a:t>
            </a:r>
          </a:p>
          <a:p>
            <a:r>
              <a:rPr lang="en-US" sz="1200" dirty="0">
                <a:latin typeface="Courier New" panose="02070309020205020404" pitchFamily="49" charset="0"/>
                <a:cs typeface="Courier New" panose="02070309020205020404" pitchFamily="49" charset="0"/>
              </a:rPr>
              <a:t>3346</a:t>
            </a:r>
          </a:p>
          <a:p>
            <a:r>
              <a:rPr lang="en-US" sz="1200" dirty="0">
                <a:latin typeface="Courier New" panose="02070309020205020404" pitchFamily="49" charset="0"/>
                <a:cs typeface="Courier New" panose="02070309020205020404" pitchFamily="49" charset="0"/>
              </a:rPr>
              <a:t>37AE</a:t>
            </a:r>
          </a:p>
        </p:txBody>
      </p:sp>
      <p:sp>
        <p:nvSpPr>
          <p:cNvPr id="43" name="TextBox 42">
            <a:extLst>
              <a:ext uri="{FF2B5EF4-FFF2-40B4-BE49-F238E27FC236}">
                <a16:creationId xmlns:a16="http://schemas.microsoft.com/office/drawing/2014/main" id="{DBAE755E-066D-F399-4F97-7EA844524669}"/>
              </a:ext>
            </a:extLst>
          </p:cNvPr>
          <p:cNvSpPr txBox="1"/>
          <p:nvPr/>
        </p:nvSpPr>
        <p:spPr>
          <a:xfrm>
            <a:off x="10408597" y="2678470"/>
            <a:ext cx="721211" cy="1938992"/>
          </a:xfrm>
          <a:prstGeom prst="rect">
            <a:avLst/>
          </a:prstGeom>
          <a:solidFill>
            <a:schemeClr val="bg1"/>
          </a:solidFill>
          <a:ln>
            <a:solidFill>
              <a:schemeClr val="tx1"/>
            </a:solidFill>
          </a:ln>
        </p:spPr>
        <p:txBody>
          <a:bodyPr wrap="square" rtlCol="0">
            <a:spAutoFit/>
          </a:bodyPr>
          <a:lstStyle/>
          <a:p>
            <a:r>
              <a:rPr lang="nn-NO" sz="1200" dirty="0">
                <a:latin typeface="Courier New" panose="02070309020205020404" pitchFamily="49" charset="0"/>
                <a:cs typeface="Courier New" panose="02070309020205020404" pitchFamily="49" charset="0"/>
              </a:rPr>
              <a:t>0C96</a:t>
            </a:r>
          </a:p>
          <a:p>
            <a:r>
              <a:rPr lang="nn-NO" sz="1200" dirty="0">
                <a:latin typeface="Courier New" panose="02070309020205020404" pitchFamily="49" charset="0"/>
                <a:cs typeface="Courier New" panose="02070309020205020404" pitchFamily="49" charset="0"/>
              </a:rPr>
              <a:t>0C98</a:t>
            </a:r>
          </a:p>
          <a:p>
            <a:r>
              <a:rPr lang="nn-NO" sz="1200" dirty="0">
                <a:latin typeface="Courier New" panose="02070309020205020404" pitchFamily="49" charset="0"/>
                <a:cs typeface="Courier New" panose="02070309020205020404" pitchFamily="49" charset="0"/>
              </a:rPr>
              <a:t>0C9A</a:t>
            </a:r>
          </a:p>
          <a:p>
            <a:r>
              <a:rPr lang="nn-NO" sz="1200" dirty="0">
                <a:latin typeface="Courier New" panose="02070309020205020404" pitchFamily="49" charset="0"/>
                <a:cs typeface="Courier New" panose="02070309020205020404" pitchFamily="49" charset="0"/>
              </a:rPr>
              <a:t>0C9C</a:t>
            </a:r>
          </a:p>
          <a:p>
            <a:r>
              <a:rPr lang="nn-NO" sz="1200" dirty="0">
                <a:latin typeface="Courier New" panose="02070309020205020404" pitchFamily="49" charset="0"/>
                <a:cs typeface="Courier New" panose="02070309020205020404" pitchFamily="49" charset="0"/>
              </a:rPr>
              <a:t>0C9E</a:t>
            </a:r>
          </a:p>
          <a:p>
            <a:r>
              <a:rPr lang="nn-NO" sz="1200" dirty="0">
                <a:latin typeface="Courier New" panose="02070309020205020404" pitchFamily="49" charset="0"/>
                <a:cs typeface="Courier New" panose="02070309020205020404" pitchFamily="49" charset="0"/>
              </a:rPr>
              <a:t>0CA0</a:t>
            </a:r>
          </a:p>
          <a:p>
            <a:r>
              <a:rPr lang="nn-NO" sz="1200" dirty="0">
                <a:latin typeface="Courier New" panose="02070309020205020404" pitchFamily="49" charset="0"/>
                <a:cs typeface="Courier New" panose="02070309020205020404" pitchFamily="49" charset="0"/>
              </a:rPr>
              <a:t>0CA2</a:t>
            </a:r>
          </a:p>
          <a:p>
            <a:r>
              <a:rPr lang="nn-NO" sz="1200" dirty="0">
                <a:latin typeface="Courier New" panose="02070309020205020404" pitchFamily="49" charset="0"/>
                <a:cs typeface="Courier New" panose="02070309020205020404" pitchFamily="49" charset="0"/>
              </a:rPr>
              <a:t>0CA4</a:t>
            </a:r>
          </a:p>
          <a:p>
            <a:r>
              <a:rPr lang="nn-NO" sz="1200" dirty="0">
                <a:latin typeface="Courier New" panose="02070309020205020404" pitchFamily="49" charset="0"/>
                <a:cs typeface="Courier New" panose="02070309020205020404" pitchFamily="49" charset="0"/>
              </a:rPr>
              <a:t>0CA6</a:t>
            </a:r>
          </a:p>
          <a:p>
            <a:r>
              <a:rPr lang="nn-NO" sz="1200" dirty="0">
                <a:latin typeface="Courier New" panose="02070309020205020404" pitchFamily="49" charset="0"/>
                <a:cs typeface="Courier New" panose="02070309020205020404" pitchFamily="49" charset="0"/>
              </a:rPr>
              <a:t>0CA8</a:t>
            </a:r>
          </a:p>
        </p:txBody>
      </p:sp>
      <p:sp>
        <p:nvSpPr>
          <p:cNvPr id="37" name="TextBox 36">
            <a:extLst>
              <a:ext uri="{FF2B5EF4-FFF2-40B4-BE49-F238E27FC236}">
                <a16:creationId xmlns:a16="http://schemas.microsoft.com/office/drawing/2014/main" id="{A12E5F8F-15B2-1B31-8EC4-6081ED4559B2}"/>
              </a:ext>
            </a:extLst>
          </p:cNvPr>
          <p:cNvSpPr txBox="1"/>
          <p:nvPr/>
        </p:nvSpPr>
        <p:spPr>
          <a:xfrm>
            <a:off x="2801813" y="5225246"/>
            <a:ext cx="8874372" cy="1077218"/>
          </a:xfrm>
          <a:prstGeom prst="rect">
            <a:avLst/>
          </a:prstGeom>
          <a:solidFill>
            <a:srgbClr val="FFC000"/>
          </a:solidFill>
        </p:spPr>
        <p:txBody>
          <a:bodyPr wrap="square" rtlCol="0">
            <a:spAutoFit/>
          </a:bodyPr>
          <a:lstStyle/>
          <a:p>
            <a:r>
              <a:rPr lang="en-US" sz="1600" dirty="0">
                <a:latin typeface="Courier New" panose="02070309020205020404" pitchFamily="49" charset="0"/>
                <a:cs typeface="Courier New" panose="02070309020205020404" pitchFamily="49" charset="0"/>
              </a:rPr>
              <a:t>Do a MEMCPY for each 64 bytes (32x2) of the pre-computed </a:t>
            </a:r>
            <a:r>
              <a:rPr lang="en-US" sz="1600" dirty="0" err="1">
                <a:latin typeface="Courier New" panose="02070309020205020404" pitchFamily="49" charset="0"/>
                <a:cs typeface="Courier New" panose="02070309020205020404" pitchFamily="49" charset="0"/>
              </a:rPr>
              <a:t>big_letter</a:t>
            </a:r>
            <a:r>
              <a:rPr lang="en-US" sz="1600" dirty="0">
                <a:latin typeface="Courier New" panose="02070309020205020404" pitchFamily="49" charset="0"/>
                <a:cs typeface="Courier New" panose="02070309020205020404" pitchFamily="49" charset="0"/>
              </a:rPr>
              <a:t> content over to what fits on the screen.  After each row, update the pointer so that the next time through, the row will be shifted over by two characters.  When all the rows are done, perform a brief delay.</a:t>
            </a:r>
          </a:p>
        </p:txBody>
      </p:sp>
      <p:sp>
        <p:nvSpPr>
          <p:cNvPr id="38" name="Rectangle 37">
            <a:extLst>
              <a:ext uri="{FF2B5EF4-FFF2-40B4-BE49-F238E27FC236}">
                <a16:creationId xmlns:a16="http://schemas.microsoft.com/office/drawing/2014/main" id="{5A0BD80A-8349-F4A5-C6F2-1FA200289586}"/>
              </a:ext>
            </a:extLst>
          </p:cNvPr>
          <p:cNvSpPr/>
          <p:nvPr/>
        </p:nvSpPr>
        <p:spPr>
          <a:xfrm>
            <a:off x="8909692" y="1142955"/>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5F7C761-F6D1-2518-3604-D16BB017E363}"/>
              </a:ext>
            </a:extLst>
          </p:cNvPr>
          <p:cNvSpPr/>
          <p:nvPr/>
        </p:nvSpPr>
        <p:spPr>
          <a:xfrm>
            <a:off x="9325286" y="2393706"/>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79">
            <a:extLst>
              <a:ext uri="{FF2B5EF4-FFF2-40B4-BE49-F238E27FC236}">
                <a16:creationId xmlns:a16="http://schemas.microsoft.com/office/drawing/2014/main" id="{E10D2C97-28E4-4F31-FF31-6CDB0D0C6BD6}"/>
              </a:ext>
            </a:extLst>
          </p:cNvPr>
          <p:cNvCxnSpPr>
            <a:cxnSpLocks/>
            <a:stCxn id="39" idx="3"/>
            <a:endCxn id="38" idx="3"/>
          </p:cNvCxnSpPr>
          <p:nvPr/>
        </p:nvCxnSpPr>
        <p:spPr>
          <a:xfrm flipH="1" flipV="1">
            <a:off x="9073815" y="1222574"/>
            <a:ext cx="415594" cy="1250751"/>
          </a:xfrm>
          <a:prstGeom prst="bentConnector3">
            <a:avLst>
              <a:gd name="adj1" fmla="val -55006"/>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A15092CD-E2D8-39E3-1601-E65630C0BC8E}"/>
              </a:ext>
            </a:extLst>
          </p:cNvPr>
          <p:cNvSpPr/>
          <p:nvPr/>
        </p:nvSpPr>
        <p:spPr>
          <a:xfrm>
            <a:off x="9489409" y="724841"/>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953AF00-5F36-B4C5-33F8-1E3C69772700}"/>
              </a:ext>
            </a:extLst>
          </p:cNvPr>
          <p:cNvSpPr/>
          <p:nvPr/>
        </p:nvSpPr>
        <p:spPr>
          <a:xfrm>
            <a:off x="9435434" y="3879452"/>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79">
            <a:extLst>
              <a:ext uri="{FF2B5EF4-FFF2-40B4-BE49-F238E27FC236}">
                <a16:creationId xmlns:a16="http://schemas.microsoft.com/office/drawing/2014/main" id="{E3B1D5D4-7BE0-0AA1-26D2-DF68A21FFA19}"/>
              </a:ext>
            </a:extLst>
          </p:cNvPr>
          <p:cNvCxnSpPr>
            <a:cxnSpLocks/>
            <a:stCxn id="48" idx="3"/>
            <a:endCxn id="47" idx="3"/>
          </p:cNvCxnSpPr>
          <p:nvPr/>
        </p:nvCxnSpPr>
        <p:spPr>
          <a:xfrm flipV="1">
            <a:off x="9599557" y="804460"/>
            <a:ext cx="53975" cy="3154611"/>
          </a:xfrm>
          <a:prstGeom prst="bentConnector3">
            <a:avLst>
              <a:gd name="adj1" fmla="val 523529"/>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4FFA5AD-FC96-9B91-9760-15C1EC45E7BA}"/>
              </a:ext>
            </a:extLst>
          </p:cNvPr>
          <p:cNvCxnSpPr>
            <a:cxnSpLocks/>
          </p:cNvCxnSpPr>
          <p:nvPr/>
        </p:nvCxnSpPr>
        <p:spPr>
          <a:xfrm>
            <a:off x="2203938" y="750277"/>
            <a:ext cx="867508" cy="4126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Arrow: Down 52">
            <a:extLst>
              <a:ext uri="{FF2B5EF4-FFF2-40B4-BE49-F238E27FC236}">
                <a16:creationId xmlns:a16="http://schemas.microsoft.com/office/drawing/2014/main" id="{7370E35A-2E41-727E-99A9-A99CD961C080}"/>
              </a:ext>
            </a:extLst>
          </p:cNvPr>
          <p:cNvSpPr/>
          <p:nvPr/>
        </p:nvSpPr>
        <p:spPr>
          <a:xfrm>
            <a:off x="11354972" y="2331879"/>
            <a:ext cx="351693" cy="369332"/>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81E82989-1EB3-3857-97A3-CB8DFB881E04}"/>
              </a:ext>
            </a:extLst>
          </p:cNvPr>
          <p:cNvSpPr txBox="1"/>
          <p:nvPr/>
        </p:nvSpPr>
        <p:spPr>
          <a:xfrm>
            <a:off x="10325999" y="377503"/>
            <a:ext cx="1604504" cy="523220"/>
          </a:xfrm>
          <a:prstGeom prst="rect">
            <a:avLst/>
          </a:prstGeom>
          <a:solidFill>
            <a:srgbClr val="FFC000"/>
          </a:solidFill>
        </p:spPr>
        <p:txBody>
          <a:bodyPr wrap="square" rtlCol="0">
            <a:spAutoFit/>
          </a:bodyPr>
          <a:lstStyle/>
          <a:p>
            <a:pPr algn="ctr"/>
            <a:r>
              <a:rPr lang="en-US" sz="1400" dirty="0">
                <a:latin typeface="Courier New" panose="02070309020205020404" pitchFamily="49" charset="0"/>
                <a:cs typeface="Courier New" panose="02070309020205020404" pitchFamily="49" charset="0"/>
              </a:rPr>
              <a:t>Several shifts later…</a:t>
            </a:r>
            <a:endParaRPr lang="en-US" sz="1400"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309586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0A9E-2795-F06A-852A-4DD47166415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DD0215D-6E99-8C9C-FC7F-1DD86BB8E634}"/>
              </a:ext>
            </a:extLst>
          </p:cNvPr>
          <p:cNvSpPr txBox="1"/>
          <p:nvPr/>
        </p:nvSpPr>
        <p:spPr>
          <a:xfrm>
            <a:off x="247165" y="824455"/>
            <a:ext cx="1575203" cy="3231654"/>
          </a:xfrm>
          <a:prstGeom prst="rect">
            <a:avLst/>
          </a:prstGeom>
          <a:noFill/>
        </p:spPr>
        <p:txBody>
          <a:bodyPr wrap="square" rtlCol="0">
            <a:spAutoFit/>
          </a:bodyPr>
          <a:lstStyle/>
          <a:p>
            <a:r>
              <a:rPr lang="en-US" sz="1200" dirty="0">
                <a:latin typeface="Courier New" panose="02070309020205020404" pitchFamily="49" charset="0"/>
                <a:cs typeface="Courier New" panose="02070309020205020404" pitchFamily="49" charset="0"/>
              </a:rPr>
              <a:t>LINE 1  0x0200</a:t>
            </a:r>
          </a:p>
          <a:p>
            <a:r>
              <a:rPr lang="en-US" sz="1200" dirty="0">
                <a:latin typeface="Courier New" panose="02070309020205020404" pitchFamily="49" charset="0"/>
                <a:cs typeface="Courier New" panose="02070309020205020404" pitchFamily="49" charset="0"/>
              </a:rPr>
              <a:t>LINE 2  0x0240</a:t>
            </a:r>
          </a:p>
          <a:p>
            <a:r>
              <a:rPr lang="en-US" sz="1200" dirty="0">
                <a:latin typeface="Courier New" panose="02070309020205020404" pitchFamily="49" charset="0"/>
                <a:cs typeface="Courier New" panose="02070309020205020404" pitchFamily="49" charset="0"/>
              </a:rPr>
              <a:t>LINE 3  0x0280</a:t>
            </a:r>
          </a:p>
          <a:p>
            <a:r>
              <a:rPr lang="en-US" sz="1200" dirty="0">
                <a:latin typeface="Courier New" panose="02070309020205020404" pitchFamily="49" charset="0"/>
                <a:cs typeface="Courier New" panose="02070309020205020404" pitchFamily="49" charset="0"/>
              </a:rPr>
              <a:t>LINE 4  0x02C0</a:t>
            </a:r>
          </a:p>
          <a:p>
            <a:r>
              <a:rPr lang="en-US" sz="1200" dirty="0">
                <a:latin typeface="Courier New" panose="02070309020205020404" pitchFamily="49" charset="0"/>
                <a:cs typeface="Courier New" panose="02070309020205020404" pitchFamily="49" charset="0"/>
              </a:rPr>
              <a:t>LINE 5  0x0300</a:t>
            </a:r>
          </a:p>
          <a:p>
            <a:r>
              <a:rPr lang="en-US" sz="1200" dirty="0">
                <a:latin typeface="Courier New" panose="02070309020205020404" pitchFamily="49" charset="0"/>
                <a:cs typeface="Courier New" panose="02070309020205020404" pitchFamily="49" charset="0"/>
              </a:rPr>
              <a:t>LINE 6  0x0340</a:t>
            </a:r>
          </a:p>
          <a:p>
            <a:r>
              <a:rPr lang="en-US" sz="1200" dirty="0">
                <a:latin typeface="Courier New" panose="02070309020205020404" pitchFamily="49" charset="0"/>
                <a:cs typeface="Courier New" panose="02070309020205020404" pitchFamily="49" charset="0"/>
              </a:rPr>
              <a:t>LINE 7  0x0380</a:t>
            </a:r>
          </a:p>
          <a:p>
            <a:r>
              <a:rPr lang="en-US" sz="1200" dirty="0">
                <a:latin typeface="Courier New" panose="02070309020205020404" pitchFamily="49" charset="0"/>
                <a:cs typeface="Courier New" panose="02070309020205020404" pitchFamily="49" charset="0"/>
              </a:rPr>
              <a:t>LINE 8  0x03C0</a:t>
            </a:r>
          </a:p>
          <a:p>
            <a:r>
              <a:rPr lang="en-US" sz="1200" dirty="0">
                <a:latin typeface="Courier New" panose="02070309020205020404" pitchFamily="49" charset="0"/>
                <a:cs typeface="Courier New" panose="02070309020205020404" pitchFamily="49" charset="0"/>
              </a:rPr>
              <a:t>LINE 9  0x0400</a:t>
            </a:r>
          </a:p>
          <a:p>
            <a:r>
              <a:rPr lang="en-US" sz="1200" dirty="0">
                <a:latin typeface="Courier New" panose="02070309020205020404" pitchFamily="49" charset="0"/>
                <a:cs typeface="Courier New" panose="02070309020205020404" pitchFamily="49" charset="0"/>
              </a:rPr>
              <a:t>LINE 10 0x0440</a:t>
            </a:r>
          </a:p>
          <a:p>
            <a:r>
              <a:rPr lang="en-US" sz="1200" dirty="0">
                <a:latin typeface="Courier New" panose="02070309020205020404" pitchFamily="49" charset="0"/>
                <a:cs typeface="Courier New" panose="02070309020205020404" pitchFamily="49" charset="0"/>
              </a:rPr>
              <a:t>LINE 11 0x0480</a:t>
            </a:r>
          </a:p>
          <a:p>
            <a:r>
              <a:rPr lang="en-US" sz="1200" dirty="0">
                <a:latin typeface="Courier New" panose="02070309020205020404" pitchFamily="49" charset="0"/>
                <a:cs typeface="Courier New" panose="02070309020205020404" pitchFamily="49" charset="0"/>
              </a:rPr>
              <a:t>LINE 12 0x04C0</a:t>
            </a:r>
          </a:p>
          <a:p>
            <a:r>
              <a:rPr lang="en-US" sz="1200" dirty="0">
                <a:latin typeface="Courier New" panose="02070309020205020404" pitchFamily="49" charset="0"/>
                <a:cs typeface="Courier New" panose="02070309020205020404" pitchFamily="49" charset="0"/>
              </a:rPr>
              <a:t>LINE 13 0x0500</a:t>
            </a:r>
          </a:p>
          <a:p>
            <a:r>
              <a:rPr lang="en-US" sz="1200" dirty="0">
                <a:latin typeface="Courier New" panose="02070309020205020404" pitchFamily="49" charset="0"/>
                <a:cs typeface="Courier New" panose="02070309020205020404" pitchFamily="49" charset="0"/>
              </a:rPr>
              <a:t>LINE 14 0x0540</a:t>
            </a:r>
          </a:p>
          <a:p>
            <a:r>
              <a:rPr lang="en-US" sz="1200" dirty="0">
                <a:latin typeface="Courier New" panose="02070309020205020404" pitchFamily="49" charset="0"/>
                <a:cs typeface="Courier New" panose="02070309020205020404" pitchFamily="49" charset="0"/>
              </a:rPr>
              <a:t>LINE 15 0x0580</a:t>
            </a:r>
          </a:p>
          <a:p>
            <a:r>
              <a:rPr lang="en-US" sz="1200" dirty="0">
                <a:latin typeface="Courier New" panose="02070309020205020404" pitchFamily="49" charset="0"/>
                <a:cs typeface="Courier New" panose="02070309020205020404" pitchFamily="49" charset="0"/>
              </a:rPr>
              <a:t>LINE 16 0x05C0</a:t>
            </a:r>
          </a:p>
          <a:p>
            <a:r>
              <a:rPr lang="en-US" sz="1200" dirty="0">
                <a:latin typeface="Courier New" panose="02070309020205020404" pitchFamily="49" charset="0"/>
                <a:cs typeface="Courier New" panose="02070309020205020404" pitchFamily="49" charset="0"/>
              </a:rPr>
              <a:t>0x0600</a:t>
            </a:r>
          </a:p>
        </p:txBody>
      </p:sp>
      <p:sp>
        <p:nvSpPr>
          <p:cNvPr id="2" name="Rectangle 1">
            <a:extLst>
              <a:ext uri="{FF2B5EF4-FFF2-40B4-BE49-F238E27FC236}">
                <a16:creationId xmlns:a16="http://schemas.microsoft.com/office/drawing/2014/main" id="{EA6CFB3D-D04A-A3EC-1D87-EF6AEF28D029}"/>
              </a:ext>
            </a:extLst>
          </p:cNvPr>
          <p:cNvSpPr/>
          <p:nvPr/>
        </p:nvSpPr>
        <p:spPr>
          <a:xfrm>
            <a:off x="3405796" y="1364278"/>
            <a:ext cx="7836638" cy="1924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__FFFFFF</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__VV__VV</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__FFFF__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__CC____</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___VVVV_</a:t>
            </a:r>
            <a:r>
              <a:rPr lang="en-US" sz="1000" dirty="0">
                <a:solidFill>
                  <a:schemeClr val="tx1"/>
                </a:solidFill>
                <a:latin typeface="Courier New" panose="02070309020205020404" pitchFamily="49" charset="0"/>
                <a:cs typeface="Courier New" panose="02070309020205020404" pitchFamily="49" charset="0"/>
              </a:rPr>
              <a:t>__CCC_CC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___CCCCC</a:t>
            </a:r>
            <a:r>
              <a:rPr lang="en-US" sz="1000" dirty="0">
                <a:latin typeface="Courier New" panose="02070309020205020404" pitchFamily="49" charset="0"/>
                <a:cs typeface="Courier New" panose="02070309020205020404" pitchFamily="49" charset="0"/>
              </a:rPr>
              <a:t>__FF____</a:t>
            </a:r>
          </a:p>
          <a:p>
            <a:pPr>
              <a:spcBef>
                <a:spcPts val="60"/>
              </a:spcBef>
              <a:spcAft>
                <a:spcPts val="60"/>
              </a:spcAft>
            </a:pP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________</a:t>
            </a:r>
            <a:r>
              <a:rPr lang="en-US" sz="1000" dirty="0">
                <a:solidFill>
                  <a:schemeClr val="tx1"/>
                </a:solidFill>
                <a:latin typeface="Courier New" panose="02070309020205020404" pitchFamily="49" charset="0"/>
                <a:cs typeface="Courier New" panose="02070309020205020404" pitchFamily="49" charset="0"/>
              </a:rPr>
              <a:t>________</a:t>
            </a:r>
            <a:r>
              <a:rPr lang="en-US" sz="1000" dirty="0">
                <a:latin typeface="Courier New" panose="02070309020205020404" pitchFamily="49" charset="0"/>
                <a:cs typeface="Courier New" panose="02070309020205020404" pitchFamily="49" charset="0"/>
              </a:rPr>
              <a:t>____VV__</a:t>
            </a:r>
            <a:r>
              <a:rPr lang="en-US" sz="1000" dirty="0">
                <a:solidFill>
                  <a:schemeClr val="tx1"/>
                </a:solidFill>
                <a:latin typeface="Courier New" panose="02070309020205020404" pitchFamily="49" charset="0"/>
                <a:cs typeface="Courier New" panose="02070309020205020404" pitchFamily="49" charset="0"/>
              </a:rPr>
              <a:t>____CCC_</a:t>
            </a:r>
            <a:r>
              <a:rPr lang="en-US" sz="1000" dirty="0">
                <a:latin typeface="Courier New" panose="02070309020205020404" pitchFamily="49" charset="0"/>
                <a:cs typeface="Courier New" panose="02070309020205020404" pitchFamily="49" charset="0"/>
              </a:rPr>
              <a:t>__FF____</a:t>
            </a:r>
          </a:p>
        </p:txBody>
      </p:sp>
      <p:sp>
        <p:nvSpPr>
          <p:cNvPr id="3" name="TextBox 2">
            <a:extLst>
              <a:ext uri="{FF2B5EF4-FFF2-40B4-BE49-F238E27FC236}">
                <a16:creationId xmlns:a16="http://schemas.microsoft.com/office/drawing/2014/main" id="{4FE4FABB-465A-DEB5-7B12-AED5D7684E43}"/>
              </a:ext>
            </a:extLst>
          </p:cNvPr>
          <p:cNvSpPr txBox="1"/>
          <p:nvPr/>
        </p:nvSpPr>
        <p:spPr>
          <a:xfrm>
            <a:off x="1830593" y="1364278"/>
            <a:ext cx="1575203" cy="1938992"/>
          </a:xfrm>
          <a:prstGeom prst="rect">
            <a:avLst/>
          </a:prstGeom>
          <a:noFill/>
        </p:spPr>
        <p:txBody>
          <a:bodyPr wrap="square" rtlCol="0">
            <a:spAutoFit/>
          </a:bodyPr>
          <a:lstStyle/>
          <a:p>
            <a:r>
              <a:rPr lang="en-US" sz="1200" dirty="0">
                <a:solidFill>
                  <a:srgbClr val="FF0000"/>
                </a:solidFill>
                <a:latin typeface="Courier New" panose="02070309020205020404" pitchFamily="49" charset="0"/>
                <a:cs typeface="Courier New" panose="02070309020205020404" pitchFamily="49" charset="0"/>
              </a:rPr>
              <a:t>ROW 1   0x1000 </a:t>
            </a:r>
          </a:p>
          <a:p>
            <a:r>
              <a:rPr lang="en-US" sz="1200" dirty="0">
                <a:solidFill>
                  <a:srgbClr val="FF0000"/>
                </a:solidFill>
                <a:latin typeface="Courier New" panose="02070309020205020404" pitchFamily="49" charset="0"/>
                <a:cs typeface="Courier New" panose="02070309020205020404" pitchFamily="49" charset="0"/>
              </a:rPr>
              <a:t>ROW 2   0x1468</a:t>
            </a:r>
          </a:p>
          <a:p>
            <a:r>
              <a:rPr lang="en-US" sz="1200" dirty="0">
                <a:solidFill>
                  <a:srgbClr val="FF0000"/>
                </a:solidFill>
                <a:latin typeface="Courier New" panose="02070309020205020404" pitchFamily="49" charset="0"/>
                <a:cs typeface="Courier New" panose="02070309020205020404" pitchFamily="49" charset="0"/>
              </a:rPr>
              <a:t>ROW 3   0x18D0</a:t>
            </a:r>
          </a:p>
          <a:p>
            <a:r>
              <a:rPr lang="en-US" sz="1200" dirty="0">
                <a:solidFill>
                  <a:srgbClr val="FF0000"/>
                </a:solidFill>
                <a:latin typeface="Courier New" panose="02070309020205020404" pitchFamily="49" charset="0"/>
                <a:cs typeface="Courier New" panose="02070309020205020404" pitchFamily="49" charset="0"/>
              </a:rPr>
              <a:t>ROW 4   0x1D38</a:t>
            </a:r>
          </a:p>
          <a:p>
            <a:r>
              <a:rPr lang="en-US" sz="1200" dirty="0">
                <a:solidFill>
                  <a:srgbClr val="FF0000"/>
                </a:solidFill>
                <a:latin typeface="Courier New" panose="02070309020205020404" pitchFamily="49" charset="0"/>
                <a:cs typeface="Courier New" panose="02070309020205020404" pitchFamily="49" charset="0"/>
              </a:rPr>
              <a:t>ROW 5   0x21A0</a:t>
            </a:r>
          </a:p>
          <a:p>
            <a:r>
              <a:rPr lang="en-US" sz="1200" dirty="0">
                <a:solidFill>
                  <a:srgbClr val="FF0000"/>
                </a:solidFill>
                <a:latin typeface="Courier New" panose="02070309020205020404" pitchFamily="49" charset="0"/>
                <a:cs typeface="Courier New" panose="02070309020205020404" pitchFamily="49" charset="0"/>
              </a:rPr>
              <a:t>ROW 6   0x2608</a:t>
            </a:r>
          </a:p>
          <a:p>
            <a:r>
              <a:rPr lang="en-US" sz="1200" dirty="0">
                <a:solidFill>
                  <a:srgbClr val="FF0000"/>
                </a:solidFill>
                <a:latin typeface="Courier New" panose="02070309020205020404" pitchFamily="49" charset="0"/>
                <a:cs typeface="Courier New" panose="02070309020205020404" pitchFamily="49" charset="0"/>
              </a:rPr>
              <a:t>ROW 7   0x2A70</a:t>
            </a:r>
          </a:p>
          <a:p>
            <a:r>
              <a:rPr lang="en-US" sz="1200" dirty="0">
                <a:solidFill>
                  <a:srgbClr val="FF0000"/>
                </a:solidFill>
                <a:latin typeface="Courier New" panose="02070309020205020404" pitchFamily="49" charset="0"/>
                <a:cs typeface="Courier New" panose="02070309020205020404" pitchFamily="49" charset="0"/>
              </a:rPr>
              <a:t>ROW 8   0x2ED8</a:t>
            </a:r>
          </a:p>
          <a:p>
            <a:r>
              <a:rPr lang="en-US" sz="1200" dirty="0">
                <a:solidFill>
                  <a:srgbClr val="FF0000"/>
                </a:solidFill>
                <a:latin typeface="Courier New" panose="02070309020205020404" pitchFamily="49" charset="0"/>
                <a:cs typeface="Courier New" panose="02070309020205020404" pitchFamily="49" charset="0"/>
              </a:rPr>
              <a:t>ROW 9   0x3340</a:t>
            </a:r>
          </a:p>
          <a:p>
            <a:r>
              <a:rPr lang="en-US" sz="1200" dirty="0">
                <a:solidFill>
                  <a:srgbClr val="FF0000"/>
                </a:solidFill>
                <a:latin typeface="Courier New" panose="02070309020205020404" pitchFamily="49" charset="0"/>
                <a:cs typeface="Courier New" panose="02070309020205020404" pitchFamily="49" charset="0"/>
              </a:rPr>
              <a:t>ROW 10  0x37A8</a:t>
            </a:r>
          </a:p>
        </p:txBody>
      </p:sp>
      <p:sp>
        <p:nvSpPr>
          <p:cNvPr id="6" name="TextBox 5">
            <a:extLst>
              <a:ext uri="{FF2B5EF4-FFF2-40B4-BE49-F238E27FC236}">
                <a16:creationId xmlns:a16="http://schemas.microsoft.com/office/drawing/2014/main" id="{733398BF-2923-592C-B14C-C4ABE41151D7}"/>
              </a:ext>
            </a:extLst>
          </p:cNvPr>
          <p:cNvSpPr txBox="1"/>
          <p:nvPr/>
        </p:nvSpPr>
        <p:spPr>
          <a:xfrm>
            <a:off x="8642854" y="3951637"/>
            <a:ext cx="1575203" cy="1938992"/>
          </a:xfrm>
          <a:prstGeom prst="rect">
            <a:avLst/>
          </a:prstGeom>
          <a:noFill/>
        </p:spPr>
        <p:txBody>
          <a:bodyPr wrap="square" rtlCol="0">
            <a:spAutoFit/>
          </a:bodyPr>
          <a:lstStyle/>
          <a:p>
            <a:r>
              <a:rPr lang="en-US" sz="1200" b="1" dirty="0">
                <a:latin typeface="Courier New" panose="02070309020205020404" pitchFamily="49" charset="0"/>
                <a:cs typeface="Courier New" panose="02070309020205020404" pitchFamily="49" charset="0"/>
              </a:rPr>
              <a:t>0x1006 </a:t>
            </a:r>
          </a:p>
          <a:p>
            <a:r>
              <a:rPr lang="en-US" sz="1200" b="1" dirty="0">
                <a:latin typeface="Courier New" panose="02070309020205020404" pitchFamily="49" charset="0"/>
                <a:cs typeface="Courier New" panose="02070309020205020404" pitchFamily="49" charset="0"/>
              </a:rPr>
              <a:t>0x146E</a:t>
            </a:r>
          </a:p>
          <a:p>
            <a:r>
              <a:rPr lang="en-US" sz="1200" b="1" dirty="0">
                <a:latin typeface="Courier New" panose="02070309020205020404" pitchFamily="49" charset="0"/>
                <a:cs typeface="Courier New" panose="02070309020205020404" pitchFamily="49" charset="0"/>
              </a:rPr>
              <a:t>0x18D6</a:t>
            </a:r>
          </a:p>
          <a:p>
            <a:r>
              <a:rPr lang="en-US" sz="1200" b="1" dirty="0">
                <a:latin typeface="Courier New" panose="02070309020205020404" pitchFamily="49" charset="0"/>
                <a:cs typeface="Courier New" panose="02070309020205020404" pitchFamily="49" charset="0"/>
              </a:rPr>
              <a:t>0x1D3E</a:t>
            </a:r>
          </a:p>
          <a:p>
            <a:r>
              <a:rPr lang="en-US" sz="1200" b="1" dirty="0">
                <a:latin typeface="Courier New" panose="02070309020205020404" pitchFamily="49" charset="0"/>
                <a:cs typeface="Courier New" panose="02070309020205020404" pitchFamily="49" charset="0"/>
              </a:rPr>
              <a:t>0x21A6</a:t>
            </a:r>
          </a:p>
          <a:p>
            <a:r>
              <a:rPr lang="en-US" sz="1200" b="1" dirty="0">
                <a:latin typeface="Courier New" panose="02070309020205020404" pitchFamily="49" charset="0"/>
                <a:cs typeface="Courier New" panose="02070309020205020404" pitchFamily="49" charset="0"/>
              </a:rPr>
              <a:t>0x260E</a:t>
            </a:r>
          </a:p>
          <a:p>
            <a:r>
              <a:rPr lang="en-US" sz="1200" b="1" dirty="0">
                <a:latin typeface="Courier New" panose="02070309020205020404" pitchFamily="49" charset="0"/>
                <a:cs typeface="Courier New" panose="02070309020205020404" pitchFamily="49" charset="0"/>
              </a:rPr>
              <a:t>0x2A76</a:t>
            </a:r>
          </a:p>
          <a:p>
            <a:r>
              <a:rPr lang="en-US" sz="1200" b="1" dirty="0">
                <a:latin typeface="Courier New" panose="02070309020205020404" pitchFamily="49" charset="0"/>
                <a:cs typeface="Courier New" panose="02070309020205020404" pitchFamily="49" charset="0"/>
              </a:rPr>
              <a:t>0x2EDE</a:t>
            </a:r>
          </a:p>
          <a:p>
            <a:r>
              <a:rPr lang="en-US" sz="1200" b="1" dirty="0">
                <a:latin typeface="Courier New" panose="02070309020205020404" pitchFamily="49" charset="0"/>
                <a:cs typeface="Courier New" panose="02070309020205020404" pitchFamily="49" charset="0"/>
              </a:rPr>
              <a:t>0x3346</a:t>
            </a:r>
          </a:p>
          <a:p>
            <a:r>
              <a:rPr lang="en-US" sz="1200" b="1" dirty="0">
                <a:latin typeface="Courier New" panose="02070309020205020404" pitchFamily="49" charset="0"/>
                <a:cs typeface="Courier New" panose="02070309020205020404" pitchFamily="49" charset="0"/>
              </a:rPr>
              <a:t>0x37AE</a:t>
            </a:r>
          </a:p>
        </p:txBody>
      </p:sp>
      <p:sp>
        <p:nvSpPr>
          <p:cNvPr id="20" name="TextBox 19">
            <a:extLst>
              <a:ext uri="{FF2B5EF4-FFF2-40B4-BE49-F238E27FC236}">
                <a16:creationId xmlns:a16="http://schemas.microsoft.com/office/drawing/2014/main" id="{D15DEA25-F8F3-C272-FE54-30A15776DC95}"/>
              </a:ext>
            </a:extLst>
          </p:cNvPr>
          <p:cNvSpPr txBox="1"/>
          <p:nvPr/>
        </p:nvSpPr>
        <p:spPr>
          <a:xfrm>
            <a:off x="3707818" y="468073"/>
            <a:ext cx="5067886" cy="400110"/>
          </a:xfrm>
          <a:prstGeom prst="rect">
            <a:avLst/>
          </a:prstGeom>
          <a:noFill/>
        </p:spPr>
        <p:txBody>
          <a:bodyPr wrap="square" rtlCol="0">
            <a:spAutoFit/>
          </a:bodyPr>
          <a:lstStyle/>
          <a:p>
            <a:r>
              <a:rPr lang="en-US" sz="1000" dirty="0">
                <a:latin typeface="Courier New" panose="02070309020205020404" pitchFamily="49" charset="0"/>
                <a:cs typeface="Courier New" panose="02070309020205020404" pitchFamily="49" charset="0"/>
              </a:rPr>
              <a:t>         1         2         3         4         5         6</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1234567890123456789012345678901234567890123456789012345678901234</a:t>
            </a:r>
          </a:p>
        </p:txBody>
      </p:sp>
      <p:sp>
        <p:nvSpPr>
          <p:cNvPr id="5" name="Rectangle 4">
            <a:extLst>
              <a:ext uri="{FF2B5EF4-FFF2-40B4-BE49-F238E27FC236}">
                <a16:creationId xmlns:a16="http://schemas.microsoft.com/office/drawing/2014/main" id="{B0903B55-185B-67F4-CCF0-BB4AEC596676}"/>
              </a:ext>
            </a:extLst>
          </p:cNvPr>
          <p:cNvSpPr/>
          <p:nvPr/>
        </p:nvSpPr>
        <p:spPr>
          <a:xfrm>
            <a:off x="3773911" y="855483"/>
            <a:ext cx="4896883" cy="2942370"/>
          </a:xfrm>
          <a:prstGeom prst="rect">
            <a:avLst/>
          </a:prstGeom>
          <a:solidFill>
            <a:schemeClr val="bg2">
              <a:lumMod val="25000"/>
              <a:alpha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0D2FCC2-2E5C-D184-EB23-6BB671AFF02E}"/>
              </a:ext>
            </a:extLst>
          </p:cNvPr>
          <p:cNvSpPr txBox="1"/>
          <p:nvPr/>
        </p:nvSpPr>
        <p:spPr>
          <a:xfrm>
            <a:off x="9430455" y="4684643"/>
            <a:ext cx="1078629" cy="369332"/>
          </a:xfrm>
          <a:prstGeom prst="rect">
            <a:avLst/>
          </a:prstGeom>
          <a:noFill/>
        </p:spPr>
        <p:txBody>
          <a:bodyPr wrap="none" rtlCol="0">
            <a:spAutoFit/>
          </a:bodyPr>
          <a:lstStyle/>
          <a:p>
            <a:r>
              <a:rPr lang="en-US" dirty="0"/>
              <a:t>(working)</a:t>
            </a:r>
          </a:p>
        </p:txBody>
      </p:sp>
      <p:sp>
        <p:nvSpPr>
          <p:cNvPr id="9" name="TextBox 8">
            <a:extLst>
              <a:ext uri="{FF2B5EF4-FFF2-40B4-BE49-F238E27FC236}">
                <a16:creationId xmlns:a16="http://schemas.microsoft.com/office/drawing/2014/main" id="{251CD6C6-8BB4-C645-5463-A3886CA731BA}"/>
              </a:ext>
            </a:extLst>
          </p:cNvPr>
          <p:cNvSpPr txBox="1"/>
          <p:nvPr/>
        </p:nvSpPr>
        <p:spPr>
          <a:xfrm>
            <a:off x="2152630" y="994946"/>
            <a:ext cx="846707" cy="369332"/>
          </a:xfrm>
          <a:prstGeom prst="rect">
            <a:avLst/>
          </a:prstGeom>
          <a:noFill/>
        </p:spPr>
        <p:txBody>
          <a:bodyPr wrap="none" rtlCol="0">
            <a:spAutoFit/>
          </a:bodyPr>
          <a:lstStyle/>
          <a:p>
            <a:r>
              <a:rPr lang="en-US" dirty="0"/>
              <a:t>(initial)</a:t>
            </a:r>
          </a:p>
        </p:txBody>
      </p:sp>
      <p:pic>
        <p:nvPicPr>
          <p:cNvPr id="10" name="Picture 9">
            <a:extLst>
              <a:ext uri="{FF2B5EF4-FFF2-40B4-BE49-F238E27FC236}">
                <a16:creationId xmlns:a16="http://schemas.microsoft.com/office/drawing/2014/main" id="{D81910EA-32B8-6091-80BC-0561A2C6C4CF}"/>
              </a:ext>
            </a:extLst>
          </p:cNvPr>
          <p:cNvPicPr>
            <a:picLocks noChangeAspect="1"/>
          </p:cNvPicPr>
          <p:nvPr/>
        </p:nvPicPr>
        <p:blipFill>
          <a:blip r:embed="rId2"/>
          <a:stretch>
            <a:fillRect/>
          </a:stretch>
        </p:blipFill>
        <p:spPr>
          <a:xfrm>
            <a:off x="3766291" y="3459113"/>
            <a:ext cx="4915747" cy="3189725"/>
          </a:xfrm>
          <a:prstGeom prst="rect">
            <a:avLst/>
          </a:prstGeom>
        </p:spPr>
      </p:pic>
    </p:spTree>
    <p:extLst>
      <p:ext uri="{BB962C8B-B14F-4D97-AF65-F5344CB8AC3E}">
        <p14:creationId xmlns:p14="http://schemas.microsoft.com/office/powerpoint/2010/main" val="28111218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593B-6963-59CD-BF48-7EAA8030CD3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D8D638-4D62-CFBF-1946-1E286CEDA468}"/>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096E</a:t>
            </a:r>
          </a:p>
        </p:txBody>
      </p:sp>
      <p:sp>
        <p:nvSpPr>
          <p:cNvPr id="5" name="TextBox 4">
            <a:extLst>
              <a:ext uri="{FF2B5EF4-FFF2-40B4-BE49-F238E27FC236}">
                <a16:creationId xmlns:a16="http://schemas.microsoft.com/office/drawing/2014/main" id="{47A075C8-C1F6-D068-E446-7BF21771735A}"/>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878E1EC0-865E-F9D2-0ABC-2794AB19FFCD}"/>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096E</a:t>
            </a:r>
          </a:p>
        </p:txBody>
      </p:sp>
      <p:sp>
        <p:nvSpPr>
          <p:cNvPr id="7" name="Rectangle 6">
            <a:extLst>
              <a:ext uri="{FF2B5EF4-FFF2-40B4-BE49-F238E27FC236}">
                <a16:creationId xmlns:a16="http://schemas.microsoft.com/office/drawing/2014/main" id="{B8C01712-EB20-4542-194A-B723407DBB1E}"/>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0958</a:t>
            </a:r>
          </a:p>
        </p:txBody>
      </p:sp>
      <p:sp>
        <p:nvSpPr>
          <p:cNvPr id="8" name="Rectangle 7">
            <a:extLst>
              <a:ext uri="{FF2B5EF4-FFF2-40B4-BE49-F238E27FC236}">
                <a16:creationId xmlns:a16="http://schemas.microsoft.com/office/drawing/2014/main" id="{A2DA4637-A021-9DA5-121A-C07C4029BBC0}"/>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9" name="TextBox 8">
            <a:extLst>
              <a:ext uri="{FF2B5EF4-FFF2-40B4-BE49-F238E27FC236}">
                <a16:creationId xmlns:a16="http://schemas.microsoft.com/office/drawing/2014/main" id="{6EA08E2F-8825-AC8F-E444-D75CA1693A73}"/>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F35ADFCE-3A05-F024-2157-F70C247FC272}"/>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BBDFB0A9-411F-868B-A931-2184F0E6F29B}"/>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C29976EA-80AE-2291-F339-E9888F449867}"/>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3" name="TextBox 12">
            <a:extLst>
              <a:ext uri="{FF2B5EF4-FFF2-40B4-BE49-F238E27FC236}">
                <a16:creationId xmlns:a16="http://schemas.microsoft.com/office/drawing/2014/main" id="{FD40FEBB-8D05-7A6E-AC63-BFEA1DF80EB1}"/>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512249DD-6E97-D249-E7CD-6F911B0A50E7}"/>
              </a:ext>
            </a:extLst>
          </p:cNvPr>
          <p:cNvSpPr/>
          <p:nvPr/>
        </p:nvSpPr>
        <p:spPr>
          <a:xfrm>
            <a:off x="1384300" y="2273300"/>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0CC0</a:t>
            </a:r>
          </a:p>
        </p:txBody>
      </p:sp>
      <p:sp>
        <p:nvSpPr>
          <p:cNvPr id="15" name="Rectangle 14">
            <a:extLst>
              <a:ext uri="{FF2B5EF4-FFF2-40B4-BE49-F238E27FC236}">
                <a16:creationId xmlns:a16="http://schemas.microsoft.com/office/drawing/2014/main" id="{5DEC19B8-6AD1-F200-1D69-FFA12B68E683}"/>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3700</a:t>
            </a:r>
          </a:p>
        </p:txBody>
      </p:sp>
      <p:sp>
        <p:nvSpPr>
          <p:cNvPr id="16" name="Rectangle 15">
            <a:extLst>
              <a:ext uri="{FF2B5EF4-FFF2-40B4-BE49-F238E27FC236}">
                <a16:creationId xmlns:a16="http://schemas.microsoft.com/office/drawing/2014/main" id="{9F2BAF30-5CA5-2545-7E24-FB9E3C2A2484}"/>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8F424DA9-9168-78C5-8B43-1673CE1D9B03}"/>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A19FDA41-FC68-F9A7-95C3-0B34AF74B672}"/>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4854C948-7F8D-FC0F-CECD-4D40EB7FF0A5}"/>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212E8727-39E2-1D1D-912D-F18C0E0EEF46}"/>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2A85E466-61EC-7F07-E779-7E8C503468C4}"/>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F4712559-5553-2D98-AAB7-9AFC07887124}"/>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D24E0915-CA6D-F8AE-035C-CC411111AB3D}"/>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047E</a:t>
            </a:r>
          </a:p>
        </p:txBody>
      </p:sp>
      <p:sp>
        <p:nvSpPr>
          <p:cNvPr id="24" name="Rectangle 23">
            <a:extLst>
              <a:ext uri="{FF2B5EF4-FFF2-40B4-BE49-F238E27FC236}">
                <a16:creationId xmlns:a16="http://schemas.microsoft.com/office/drawing/2014/main" id="{C8B15385-C2C5-3F87-BBB8-2ABD4E53BAFC}"/>
              </a:ext>
            </a:extLst>
          </p:cNvPr>
          <p:cNvSpPr/>
          <p:nvPr/>
        </p:nvSpPr>
        <p:spPr>
          <a:xfrm>
            <a:off x="1384300" y="43439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5" name="TextBox 24">
            <a:extLst>
              <a:ext uri="{FF2B5EF4-FFF2-40B4-BE49-F238E27FC236}">
                <a16:creationId xmlns:a16="http://schemas.microsoft.com/office/drawing/2014/main" id="{ADE038C8-98CA-5962-272F-115CC2246A74}"/>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D0100412-2D67-DE39-CB77-4D823776A240}"/>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FAA739F9-FDDB-99AC-79F2-102107D53AC8}"/>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DCC7AAB4-378D-E10C-F965-A701479B7744}"/>
              </a:ext>
            </a:extLst>
          </p:cNvPr>
          <p:cNvSpPr/>
          <p:nvPr/>
        </p:nvSpPr>
        <p:spPr>
          <a:xfrm>
            <a:off x="1384300" y="46868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05CD</a:t>
            </a:r>
          </a:p>
        </p:txBody>
      </p:sp>
      <p:sp>
        <p:nvSpPr>
          <p:cNvPr id="29" name="TextBox 28">
            <a:extLst>
              <a:ext uri="{FF2B5EF4-FFF2-40B4-BE49-F238E27FC236}">
                <a16:creationId xmlns:a16="http://schemas.microsoft.com/office/drawing/2014/main" id="{68EC579D-62BB-6D9B-899F-3D7A9F79EAE0}"/>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D1AA7EA2-7793-BF34-8470-F584FBAD296D}"/>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31" name="Rectangle 30">
            <a:extLst>
              <a:ext uri="{FF2B5EF4-FFF2-40B4-BE49-F238E27FC236}">
                <a16:creationId xmlns:a16="http://schemas.microsoft.com/office/drawing/2014/main" id="{1CF78392-D57F-9DDD-2310-3E4278C134C9}"/>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0500</a:t>
            </a:r>
          </a:p>
        </p:txBody>
      </p:sp>
      <p:sp>
        <p:nvSpPr>
          <p:cNvPr id="32" name="Rectangle 31">
            <a:extLst>
              <a:ext uri="{FF2B5EF4-FFF2-40B4-BE49-F238E27FC236}">
                <a16:creationId xmlns:a16="http://schemas.microsoft.com/office/drawing/2014/main" id="{AB92C1A1-B9BA-B0BF-2F2D-33DACC25CCF4}"/>
              </a:ext>
            </a:extLst>
          </p:cNvPr>
          <p:cNvSpPr/>
          <p:nvPr/>
        </p:nvSpPr>
        <p:spPr>
          <a:xfrm>
            <a:off x="1384300" y="5715516"/>
            <a:ext cx="909320" cy="342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33" name="TextBox 32">
            <a:extLst>
              <a:ext uri="{FF2B5EF4-FFF2-40B4-BE49-F238E27FC236}">
                <a16:creationId xmlns:a16="http://schemas.microsoft.com/office/drawing/2014/main" id="{8F0CC320-30EF-FDD9-3944-B64F441C44D9}"/>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2BCD3E6F-C359-3647-0AF0-E885B31E6BEA}"/>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9F80A41A-78EF-F612-5077-53554FC63501}"/>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04F9A01E-2B3E-53F3-8D79-5545ABFB6F6D}"/>
              </a:ext>
            </a:extLst>
          </p:cNvPr>
          <p:cNvSpPr>
            <a:spLocks noGrp="1"/>
          </p:cNvSpPr>
          <p:nvPr>
            <p:ph idx="1"/>
          </p:nvPr>
        </p:nvSpPr>
        <p:spPr>
          <a:xfrm>
            <a:off x="2801814" y="351693"/>
            <a:ext cx="7624886" cy="4660402"/>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0958	DC01	LWI    R12, ADDR_SCREEN+(14*64)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095A	0580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095C	8B40	LBI    R11, #64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R11 = 64</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095E	0544	MOVE   R5, R4     </a:t>
            </a:r>
            <a:r>
              <a:rPr lang="pt-BR" sz="1400" dirty="0">
                <a:latin typeface="Courier New" panose="02070309020205020404" pitchFamily="49" charset="0"/>
                <a:cs typeface="Courier New" panose="02070309020205020404" pitchFamily="49" charset="0"/>
                <a:sym typeface="Wingdings" panose="05000000000000000000" pitchFamily="2" charset="2"/>
              </a:rPr>
              <a:t> R5 = R4</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err="1">
                <a:latin typeface="Courier New" panose="02070309020205020404" pitchFamily="49" charset="0"/>
                <a:cs typeface="Courier New" panose="02070309020205020404" pitchFamily="49" charset="0"/>
              </a:rPr>
              <a:t>PrintStringNextChar</a:t>
            </a:r>
            <a:r>
              <a:rPr lang="pt-BR" sz="1400" dirty="0">
                <a:latin typeface="Courier New" panose="02070309020205020404" pitchFamily="49" charset="0"/>
                <a:cs typeface="Courier New" panose="02070309020205020404" pitchFamily="49" charset="0"/>
              </a:rPr>
              <a: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0960	6F40	MOVB   R15,  (R4)+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R15 = MEM[R4], R4=R4+1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0962	CF0C	SNS    R15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Not</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All</a:t>
            </a:r>
            <a:r>
              <a:rPr lang="pt-BR" sz="1400" dirty="0">
                <a:latin typeface="Courier New" panose="02070309020205020404" pitchFamily="49" charset="0"/>
                <a:cs typeface="Courier New" panose="02070309020205020404" pitchFamily="49" charset="0"/>
                <a:sym typeface="Wingdings" panose="05000000000000000000" pitchFamily="2" charset="2"/>
              </a:rPr>
              <a:t> Set, R15</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0964	A007	BRA    RESET_STRING</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0966	7FC0	MOVB   (R12)+, R15   </a:t>
            </a:r>
            <a:r>
              <a:rPr lang="pt-BR" sz="1400" dirty="0">
                <a:latin typeface="Courier New" panose="02070309020205020404" pitchFamily="49" charset="0"/>
                <a:cs typeface="Courier New" panose="02070309020205020404" pitchFamily="49" charset="0"/>
                <a:sym typeface="Wingdings" panose="05000000000000000000" pitchFamily="2" charset="2"/>
              </a:rPr>
              <a:t> MEM[R12]=R15, R12=R12+2</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0968	0BB1	DEC    R11           </a:t>
            </a:r>
            <a:r>
              <a:rPr lang="pt-BR" sz="1400" dirty="0">
                <a:latin typeface="Courier New" panose="02070309020205020404" pitchFamily="49" charset="0"/>
                <a:cs typeface="Courier New" panose="02070309020205020404" pitchFamily="49" charset="0"/>
                <a:sym typeface="Wingdings" panose="05000000000000000000" pitchFamily="2" charset="2"/>
              </a:rPr>
              <a:t> R11 = R11-1</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096A	CB03	SZ     R11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(R11 = 0)</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096C	F00D	BRA    </a:t>
            </a:r>
            <a:r>
              <a:rPr lang="pt-BR" sz="1400" dirty="0" err="1">
                <a:latin typeface="Courier New" panose="02070309020205020404" pitchFamily="49" charset="0"/>
                <a:cs typeface="Courier New" panose="02070309020205020404" pitchFamily="49" charset="0"/>
              </a:rPr>
              <a:t>PrintStringNextChar</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RESET_STRING: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096E	...</a:t>
            </a:r>
          </a:p>
        </p:txBody>
      </p:sp>
      <p:sp>
        <p:nvSpPr>
          <p:cNvPr id="3" name="TextBox 2">
            <a:extLst>
              <a:ext uri="{FF2B5EF4-FFF2-40B4-BE49-F238E27FC236}">
                <a16:creationId xmlns:a16="http://schemas.microsoft.com/office/drawing/2014/main" id="{5C54B3EF-7504-33A5-C2E8-1B834259444A}"/>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36" name="Rectangle 35">
            <a:extLst>
              <a:ext uri="{FF2B5EF4-FFF2-40B4-BE49-F238E27FC236}">
                <a16:creationId xmlns:a16="http://schemas.microsoft.com/office/drawing/2014/main" id="{1654CCEE-9CAA-280D-8DC9-796F25CCF86D}"/>
              </a:ext>
            </a:extLst>
          </p:cNvPr>
          <p:cNvSpPr/>
          <p:nvPr/>
        </p:nvSpPr>
        <p:spPr>
          <a:xfrm>
            <a:off x="4639011" y="412750"/>
            <a:ext cx="5584489" cy="2927350"/>
          </a:xfrm>
          <a:prstGeom prst="rect">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E56A5EE-C76B-29C2-C75E-05293D2B5590}"/>
              </a:ext>
            </a:extLst>
          </p:cNvPr>
          <p:cNvSpPr txBox="1"/>
          <p:nvPr/>
        </p:nvSpPr>
        <p:spPr>
          <a:xfrm>
            <a:off x="2801813" y="5225246"/>
            <a:ext cx="7624886" cy="1077218"/>
          </a:xfrm>
          <a:prstGeom prst="rect">
            <a:avLst/>
          </a:prstGeom>
          <a:solidFill>
            <a:srgbClr val="FFC000"/>
          </a:solidFill>
        </p:spPr>
        <p:txBody>
          <a:bodyPr wrap="square" rtlCol="0">
            <a:spAutoFit/>
          </a:bodyPr>
          <a:lstStyle/>
          <a:p>
            <a:r>
              <a:rPr lang="en-US" sz="1600" b="1" dirty="0">
                <a:latin typeface="Courier New" panose="02070309020205020404" pitchFamily="49" charset="0"/>
                <a:cs typeface="Courier New" panose="02070309020205020404" pitchFamily="49" charset="0"/>
              </a:rPr>
              <a:t>R12 </a:t>
            </a:r>
            <a:r>
              <a:rPr lang="en-US" sz="1600" dirty="0">
                <a:latin typeface="Courier New" panose="02070309020205020404" pitchFamily="49" charset="0"/>
                <a:cs typeface="Courier New" panose="02070309020205020404" pitchFamily="49" charset="0"/>
              </a:rPr>
              <a:t>set to the address of the row on the CRT to render the single-row string.  This involves copying 64 characters across the entire CRT (</a:t>
            </a:r>
            <a:r>
              <a:rPr lang="en-US" sz="1600" b="1" dirty="0">
                <a:latin typeface="Courier New" panose="02070309020205020404" pitchFamily="49" charset="0"/>
                <a:cs typeface="Courier New" panose="02070309020205020404" pitchFamily="49" charset="0"/>
              </a:rPr>
              <a:t>R11</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R4</a:t>
            </a:r>
            <a:r>
              <a:rPr lang="en-US" sz="1600" dirty="0">
                <a:latin typeface="Courier New" panose="02070309020205020404" pitchFamily="49" charset="0"/>
                <a:cs typeface="Courier New" panose="02070309020205020404" pitchFamily="49" charset="0"/>
              </a:rPr>
              <a:t> is the address into the single row string to copy (incremented during the loop.</a:t>
            </a:r>
          </a:p>
        </p:txBody>
      </p:sp>
      <p:cxnSp>
        <p:nvCxnSpPr>
          <p:cNvPr id="44" name="Straight Arrow Connector 43">
            <a:extLst>
              <a:ext uri="{FF2B5EF4-FFF2-40B4-BE49-F238E27FC236}">
                <a16:creationId xmlns:a16="http://schemas.microsoft.com/office/drawing/2014/main" id="{BB1A6503-470D-5939-9B1B-E5E3B220995E}"/>
              </a:ext>
            </a:extLst>
          </p:cNvPr>
          <p:cNvCxnSpPr>
            <a:cxnSpLocks/>
          </p:cNvCxnSpPr>
          <p:nvPr/>
        </p:nvCxnSpPr>
        <p:spPr>
          <a:xfrm>
            <a:off x="2203938" y="750277"/>
            <a:ext cx="874542" cy="29378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8102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4D0BF-83AB-5549-9F37-E410E9A46A1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11DA69-5271-EC00-95C8-8B734BE174C4}"/>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0990</a:t>
            </a:r>
          </a:p>
        </p:txBody>
      </p:sp>
      <p:sp>
        <p:nvSpPr>
          <p:cNvPr id="5" name="TextBox 4">
            <a:extLst>
              <a:ext uri="{FF2B5EF4-FFF2-40B4-BE49-F238E27FC236}">
                <a16:creationId xmlns:a16="http://schemas.microsoft.com/office/drawing/2014/main" id="{75FDF985-61E4-7A38-3BEB-0B2F34EBA06A}"/>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6" name="Rectangle 5">
            <a:extLst>
              <a:ext uri="{FF2B5EF4-FFF2-40B4-BE49-F238E27FC236}">
                <a16:creationId xmlns:a16="http://schemas.microsoft.com/office/drawing/2014/main" id="{38665CE6-44A1-0B99-EA89-3139BA6EECE2}"/>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097E</a:t>
            </a:r>
          </a:p>
        </p:txBody>
      </p:sp>
      <p:sp>
        <p:nvSpPr>
          <p:cNvPr id="7" name="Rectangle 6">
            <a:extLst>
              <a:ext uri="{FF2B5EF4-FFF2-40B4-BE49-F238E27FC236}">
                <a16:creationId xmlns:a16="http://schemas.microsoft.com/office/drawing/2014/main" id="{4F3ED939-2A23-2CCF-C9DF-4706DA915B40}"/>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0958</a:t>
            </a:r>
          </a:p>
        </p:txBody>
      </p:sp>
      <p:sp>
        <p:nvSpPr>
          <p:cNvPr id="8" name="Rectangle 7">
            <a:extLst>
              <a:ext uri="{FF2B5EF4-FFF2-40B4-BE49-F238E27FC236}">
                <a16:creationId xmlns:a16="http://schemas.microsoft.com/office/drawing/2014/main" id="{625F73AF-7D2F-BC06-C350-A5615441EC2A}"/>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9" name="TextBox 8">
            <a:extLst>
              <a:ext uri="{FF2B5EF4-FFF2-40B4-BE49-F238E27FC236}">
                <a16:creationId xmlns:a16="http://schemas.microsoft.com/office/drawing/2014/main" id="{093ADA80-6B09-0DD1-FC37-7BC1AF3B2C31}"/>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10" name="TextBox 9">
            <a:extLst>
              <a:ext uri="{FF2B5EF4-FFF2-40B4-BE49-F238E27FC236}">
                <a16:creationId xmlns:a16="http://schemas.microsoft.com/office/drawing/2014/main" id="{F37BE4F3-1C96-ED18-9183-B76BFAF65846}"/>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11" name="TextBox 10">
            <a:extLst>
              <a:ext uri="{FF2B5EF4-FFF2-40B4-BE49-F238E27FC236}">
                <a16:creationId xmlns:a16="http://schemas.microsoft.com/office/drawing/2014/main" id="{C555B493-4271-9A49-6C2E-AEFEE004F136}"/>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12" name="Rectangle 11">
            <a:extLst>
              <a:ext uri="{FF2B5EF4-FFF2-40B4-BE49-F238E27FC236}">
                <a16:creationId xmlns:a16="http://schemas.microsoft.com/office/drawing/2014/main" id="{48B6EF92-3EC5-18E4-724A-1B2683AB2D45}"/>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0CC1</a:t>
            </a:r>
          </a:p>
        </p:txBody>
      </p:sp>
      <p:sp>
        <p:nvSpPr>
          <p:cNvPr id="13" name="TextBox 12">
            <a:extLst>
              <a:ext uri="{FF2B5EF4-FFF2-40B4-BE49-F238E27FC236}">
                <a16:creationId xmlns:a16="http://schemas.microsoft.com/office/drawing/2014/main" id="{21B5076A-9D73-7CA8-F219-5614026CB3C5}"/>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14" name="Rectangle 13">
            <a:extLst>
              <a:ext uri="{FF2B5EF4-FFF2-40B4-BE49-F238E27FC236}">
                <a16:creationId xmlns:a16="http://schemas.microsoft.com/office/drawing/2014/main" id="{2A4648BF-CAED-EC2D-11BB-9901E7BB325D}"/>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0D80</a:t>
            </a:r>
          </a:p>
        </p:txBody>
      </p:sp>
      <p:sp>
        <p:nvSpPr>
          <p:cNvPr id="15" name="Rectangle 14">
            <a:extLst>
              <a:ext uri="{FF2B5EF4-FFF2-40B4-BE49-F238E27FC236}">
                <a16:creationId xmlns:a16="http://schemas.microsoft.com/office/drawing/2014/main" id="{AC591821-C39F-E878-6A57-023E7A8B2C44}"/>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3700</a:t>
            </a:r>
          </a:p>
        </p:txBody>
      </p:sp>
      <p:sp>
        <p:nvSpPr>
          <p:cNvPr id="16" name="Rectangle 15">
            <a:extLst>
              <a:ext uri="{FF2B5EF4-FFF2-40B4-BE49-F238E27FC236}">
                <a16:creationId xmlns:a16="http://schemas.microsoft.com/office/drawing/2014/main" id="{B960B1B9-6604-F3F8-87E7-5F7E6FFCA436}"/>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17" name="TextBox 16">
            <a:extLst>
              <a:ext uri="{FF2B5EF4-FFF2-40B4-BE49-F238E27FC236}">
                <a16:creationId xmlns:a16="http://schemas.microsoft.com/office/drawing/2014/main" id="{E1DA99DD-F483-EFB5-D0A5-DFEBF51B7FBE}"/>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18" name="TextBox 17">
            <a:extLst>
              <a:ext uri="{FF2B5EF4-FFF2-40B4-BE49-F238E27FC236}">
                <a16:creationId xmlns:a16="http://schemas.microsoft.com/office/drawing/2014/main" id="{8BADC312-069C-6B93-1716-AF6625E74BFF}"/>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19" name="TextBox 18">
            <a:extLst>
              <a:ext uri="{FF2B5EF4-FFF2-40B4-BE49-F238E27FC236}">
                <a16:creationId xmlns:a16="http://schemas.microsoft.com/office/drawing/2014/main" id="{12E2AA9A-52CB-53DD-4B11-48360103BCBE}"/>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20" name="Rectangle 19">
            <a:extLst>
              <a:ext uri="{FF2B5EF4-FFF2-40B4-BE49-F238E27FC236}">
                <a16:creationId xmlns:a16="http://schemas.microsoft.com/office/drawing/2014/main" id="{C05E5BE6-BDAB-BD5C-A4DC-D6B719DFFE67}"/>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0002</a:t>
            </a:r>
          </a:p>
        </p:txBody>
      </p:sp>
      <p:sp>
        <p:nvSpPr>
          <p:cNvPr id="21" name="TextBox 20">
            <a:extLst>
              <a:ext uri="{FF2B5EF4-FFF2-40B4-BE49-F238E27FC236}">
                <a16:creationId xmlns:a16="http://schemas.microsoft.com/office/drawing/2014/main" id="{1D7495EF-8BD4-65D3-413F-517CE1C3BFCB}"/>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22" name="Rectangle 21">
            <a:extLst>
              <a:ext uri="{FF2B5EF4-FFF2-40B4-BE49-F238E27FC236}">
                <a16:creationId xmlns:a16="http://schemas.microsoft.com/office/drawing/2014/main" id="{E9D2CF9D-DF41-3742-B4B0-AC866AE9DE09}"/>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0414</a:t>
            </a:r>
          </a:p>
        </p:txBody>
      </p:sp>
      <p:sp>
        <p:nvSpPr>
          <p:cNvPr id="23" name="Rectangle 22">
            <a:extLst>
              <a:ext uri="{FF2B5EF4-FFF2-40B4-BE49-F238E27FC236}">
                <a16:creationId xmlns:a16="http://schemas.microsoft.com/office/drawing/2014/main" id="{A21F3082-CE43-49A5-C922-6EDF6386056A}"/>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047D</a:t>
            </a:r>
          </a:p>
        </p:txBody>
      </p:sp>
      <p:sp>
        <p:nvSpPr>
          <p:cNvPr id="24" name="Rectangle 23">
            <a:extLst>
              <a:ext uri="{FF2B5EF4-FFF2-40B4-BE49-F238E27FC236}">
                <a16:creationId xmlns:a16="http://schemas.microsoft.com/office/drawing/2014/main" id="{F3E65834-81DF-026E-F11F-5BEA5AC21719}"/>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25" name="TextBox 24">
            <a:extLst>
              <a:ext uri="{FF2B5EF4-FFF2-40B4-BE49-F238E27FC236}">
                <a16:creationId xmlns:a16="http://schemas.microsoft.com/office/drawing/2014/main" id="{0A9FF90F-70CD-F527-9327-203371B80813}"/>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26" name="TextBox 25">
            <a:extLst>
              <a:ext uri="{FF2B5EF4-FFF2-40B4-BE49-F238E27FC236}">
                <a16:creationId xmlns:a16="http://schemas.microsoft.com/office/drawing/2014/main" id="{D7E6016E-8913-FD63-9E78-CD358F2046E8}"/>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27" name="TextBox 26">
            <a:extLst>
              <a:ext uri="{FF2B5EF4-FFF2-40B4-BE49-F238E27FC236}">
                <a16:creationId xmlns:a16="http://schemas.microsoft.com/office/drawing/2014/main" id="{B6AB8290-6031-0B80-531C-E5767D52E186}"/>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28" name="Rectangle 27">
            <a:extLst>
              <a:ext uri="{FF2B5EF4-FFF2-40B4-BE49-F238E27FC236}">
                <a16:creationId xmlns:a16="http://schemas.microsoft.com/office/drawing/2014/main" id="{45034771-C1EF-71EA-1C5E-EA19C8CECDE0}"/>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05C0</a:t>
            </a:r>
          </a:p>
        </p:txBody>
      </p:sp>
      <p:sp>
        <p:nvSpPr>
          <p:cNvPr id="29" name="TextBox 28">
            <a:extLst>
              <a:ext uri="{FF2B5EF4-FFF2-40B4-BE49-F238E27FC236}">
                <a16:creationId xmlns:a16="http://schemas.microsoft.com/office/drawing/2014/main" id="{21AA7688-2279-8456-930C-6D22FC3E0331}"/>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30" name="Rectangle 29">
            <a:extLst>
              <a:ext uri="{FF2B5EF4-FFF2-40B4-BE49-F238E27FC236}">
                <a16:creationId xmlns:a16="http://schemas.microsoft.com/office/drawing/2014/main" id="{9F1C666C-2037-F65C-32D4-A2A3324CC7A8}"/>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31" name="Rectangle 30">
            <a:extLst>
              <a:ext uri="{FF2B5EF4-FFF2-40B4-BE49-F238E27FC236}">
                <a16:creationId xmlns:a16="http://schemas.microsoft.com/office/drawing/2014/main" id="{B27317C5-D752-F24C-CFE8-151107858340}"/>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0500</a:t>
            </a:r>
          </a:p>
        </p:txBody>
      </p:sp>
      <p:sp>
        <p:nvSpPr>
          <p:cNvPr id="32" name="Rectangle 31">
            <a:extLst>
              <a:ext uri="{FF2B5EF4-FFF2-40B4-BE49-F238E27FC236}">
                <a16:creationId xmlns:a16="http://schemas.microsoft.com/office/drawing/2014/main" id="{BD950235-7D5F-1EA8-DDD8-2AEC0C43F346}"/>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33" name="TextBox 32">
            <a:extLst>
              <a:ext uri="{FF2B5EF4-FFF2-40B4-BE49-F238E27FC236}">
                <a16:creationId xmlns:a16="http://schemas.microsoft.com/office/drawing/2014/main" id="{D793A601-43CA-A010-9039-FE7877F6AC9C}"/>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34" name="TextBox 33">
            <a:extLst>
              <a:ext uri="{FF2B5EF4-FFF2-40B4-BE49-F238E27FC236}">
                <a16:creationId xmlns:a16="http://schemas.microsoft.com/office/drawing/2014/main" id="{E3CB5992-4C25-2A3A-D421-5389D7754DAD}"/>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35" name="TextBox 34">
            <a:extLst>
              <a:ext uri="{FF2B5EF4-FFF2-40B4-BE49-F238E27FC236}">
                <a16:creationId xmlns:a16="http://schemas.microsoft.com/office/drawing/2014/main" id="{88E4578B-579E-92A1-FF5E-525CD3CEE722}"/>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2" name="Content Placeholder 2">
            <a:extLst>
              <a:ext uri="{FF2B5EF4-FFF2-40B4-BE49-F238E27FC236}">
                <a16:creationId xmlns:a16="http://schemas.microsoft.com/office/drawing/2014/main" id="{083F6B2F-8A17-D9A0-38BD-B0A7E1AF3480}"/>
              </a:ext>
            </a:extLst>
          </p:cNvPr>
          <p:cNvSpPr>
            <a:spLocks noGrp="1"/>
          </p:cNvSpPr>
          <p:nvPr>
            <p:ph idx="1"/>
          </p:nvPr>
        </p:nvSpPr>
        <p:spPr>
          <a:xfrm>
            <a:off x="2801814" y="351693"/>
            <a:ext cx="7624886" cy="4182207"/>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RESET_STRING: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096E	0454       MOVE   R4, R5</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0970	A400       ADDI   R4, #1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0972	D501 0D80  LWI    R5, TITLE_STRING_TEMP</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0976	5458       MOVE   (R5), R4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0978	0AA1       DEC    R10</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097A	CA03       SZ     R10</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097C	A011       BRA    </a:t>
            </a:r>
            <a:r>
              <a:rPr lang="pt-BR" sz="1400" dirty="0" err="1">
                <a:latin typeface="Courier New" panose="02070309020205020404" pitchFamily="49" charset="0"/>
                <a:cs typeface="Courier New" panose="02070309020205020404" pitchFamily="49" charset="0"/>
              </a:rPr>
              <a:t>NextDelay</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097E	D401 0CBE  LWI    R4, TITLE_STRING</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0982	D501 0D80  LWI    R5, TITLE_STRING_TEMP</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0986	5458       MOVE   (R5), R4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0988	D401 0D80  LWI    R4, TITLE_STRING_TEMP</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098C	D448       MOVE   R4, (R4)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098E	8A80       LBI    R10, #128</a:t>
            </a:r>
          </a:p>
          <a:p>
            <a:pPr marL="0" indent="0">
              <a:spcBef>
                <a:spcPts val="200"/>
              </a:spcBef>
              <a:spcAft>
                <a:spcPts val="200"/>
              </a:spcAft>
              <a:buNone/>
            </a:pPr>
            <a:r>
              <a:rPr lang="pt-BR" sz="1400" dirty="0" err="1">
                <a:latin typeface="Courier New" panose="02070309020205020404" pitchFamily="49" charset="0"/>
                <a:cs typeface="Courier New" panose="02070309020205020404" pitchFamily="49" charset="0"/>
              </a:rPr>
              <a:t>NextDelay</a:t>
            </a:r>
            <a:r>
              <a:rPr lang="pt-BR" sz="1400" dirty="0">
                <a:latin typeface="Courier New" panose="02070309020205020404" pitchFamily="49" charset="0"/>
                <a:cs typeface="Courier New" panose="02070309020205020404" pitchFamily="49" charset="0"/>
              </a:rPr>
              <a: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0990	...</a:t>
            </a:r>
          </a:p>
        </p:txBody>
      </p:sp>
      <p:sp>
        <p:nvSpPr>
          <p:cNvPr id="3" name="TextBox 2">
            <a:extLst>
              <a:ext uri="{FF2B5EF4-FFF2-40B4-BE49-F238E27FC236}">
                <a16:creationId xmlns:a16="http://schemas.microsoft.com/office/drawing/2014/main" id="{606FE802-33DE-E7DB-2197-670B08A6CCB5}"/>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cxnSp>
        <p:nvCxnSpPr>
          <p:cNvPr id="38" name="Straight Arrow Connector 37">
            <a:extLst>
              <a:ext uri="{FF2B5EF4-FFF2-40B4-BE49-F238E27FC236}">
                <a16:creationId xmlns:a16="http://schemas.microsoft.com/office/drawing/2014/main" id="{A0D52013-1960-39FB-DEBC-959BC6458A31}"/>
              </a:ext>
            </a:extLst>
          </p:cNvPr>
          <p:cNvCxnSpPr>
            <a:cxnSpLocks/>
          </p:cNvCxnSpPr>
          <p:nvPr/>
        </p:nvCxnSpPr>
        <p:spPr>
          <a:xfrm>
            <a:off x="2203938" y="750277"/>
            <a:ext cx="902677" cy="34231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1060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5CE17-8BEE-FB44-EF8C-35D28D5B494C}"/>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EB432A2-6F4D-081B-E04A-44FDF7E33075}"/>
              </a:ext>
            </a:extLst>
          </p:cNvPr>
          <p:cNvSpPr>
            <a:spLocks noGrp="1"/>
          </p:cNvSpPr>
          <p:nvPr>
            <p:ph idx="1"/>
          </p:nvPr>
        </p:nvSpPr>
        <p:spPr>
          <a:xfrm>
            <a:off x="2801813" y="351693"/>
            <a:ext cx="8651047" cy="3965791"/>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err="1">
                <a:latin typeface="Courier New" panose="02070309020205020404" pitchFamily="49" charset="0"/>
                <a:cs typeface="Courier New" panose="02070309020205020404" pitchFamily="49" charset="0"/>
              </a:rPr>
              <a:t>NextDelay</a:t>
            </a:r>
            <a:r>
              <a:rPr lang="pt-BR" sz="1400" dirty="0">
                <a:latin typeface="Courier New" panose="02070309020205020404" pitchFamily="49" charset="0"/>
                <a:cs typeface="Courier New" panose="02070309020205020404" pitchFamily="49" charset="0"/>
              </a:rPr>
              <a: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0990	0203	CALL   </a:t>
            </a:r>
            <a:r>
              <a:rPr lang="pt-BR" sz="1400" dirty="0" err="1">
                <a:latin typeface="Courier New" panose="02070309020205020404" pitchFamily="49" charset="0"/>
                <a:cs typeface="Courier New" panose="02070309020205020404" pitchFamily="49" charset="0"/>
              </a:rPr>
              <a:t>SmallDelay</a:t>
            </a:r>
            <a:r>
              <a:rPr lang="pt-BR" sz="1400" dirty="0">
                <a:latin typeface="Courier New" panose="02070309020205020404" pitchFamily="49" charset="0"/>
                <a:cs typeface="Courier New" panose="02070309020205020404" pitchFamily="49" charset="0"/>
              </a:rPr>
              <a:t>, R2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0992	D021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0994	09AC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0996	A300	ADDI   R3, #1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0998	0F3C	HTL    R15, R3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R15 = </a:t>
            </a:r>
            <a:r>
              <a:rPr lang="pt-BR" sz="1400" dirty="0" err="1">
                <a:latin typeface="Courier New" panose="02070309020205020404" pitchFamily="49" charset="0"/>
                <a:cs typeface="Courier New" panose="02070309020205020404" pitchFamily="49" charset="0"/>
                <a:sym typeface="Wingdings" panose="05000000000000000000" pitchFamily="2" charset="2"/>
              </a:rPr>
              <a:t>Hi</a:t>
            </a:r>
            <a:r>
              <a:rPr lang="pt-BR" sz="1400" dirty="0">
                <a:latin typeface="Courier New" panose="02070309020205020404" pitchFamily="49" charset="0"/>
                <a:cs typeface="Courier New" panose="02070309020205020404" pitchFamily="49" charset="0"/>
                <a:sym typeface="Wingdings" panose="05000000000000000000" pitchFamily="2" charset="2"/>
              </a:rPr>
              <a:t> R3</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099A	CF82	SE     R15, R8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R15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R8</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099C	F06F	BRA    MAINLOOP   ; </a:t>
            </a:r>
            <a:r>
              <a:rPr lang="pt-BR" sz="1400" dirty="0" err="1">
                <a:latin typeface="Courier New" panose="02070309020205020404" pitchFamily="49" charset="0"/>
                <a:cs typeface="Courier New" panose="02070309020205020404" pitchFamily="49" charset="0"/>
              </a:rPr>
              <a:t>not</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yet</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reached</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number</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of</a:t>
            </a:r>
            <a:r>
              <a:rPr lang="pt-BR" sz="1400" dirty="0">
                <a:latin typeface="Courier New" panose="02070309020205020404" pitchFamily="49" charset="0"/>
                <a:cs typeface="Courier New" panose="02070309020205020404" pitchFamily="49" charset="0"/>
              </a:rPr>
              <a:t> steps </a:t>
            </a:r>
            <a:r>
              <a:rPr lang="pt-BR" sz="1400" dirty="0" err="1">
                <a:latin typeface="Courier New" panose="02070309020205020404" pitchFamily="49" charset="0"/>
                <a:cs typeface="Courier New" panose="02070309020205020404" pitchFamily="49" charset="0"/>
              </a:rPr>
              <a:t>to</a:t>
            </a:r>
            <a:r>
              <a:rPr lang="pt-BR" sz="1400" dirty="0">
                <a:latin typeface="Courier New" panose="02070309020205020404" pitchFamily="49" charset="0"/>
                <a:cs typeface="Courier New" panose="02070309020205020404" pitchFamily="49" charset="0"/>
              </a:rPr>
              <a:t> shift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099E	C392	SE     R3, R9    </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Skip</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if</a:t>
            </a:r>
            <a:r>
              <a:rPr lang="pt-BR" sz="1400" dirty="0">
                <a:latin typeface="Courier New" panose="02070309020205020404" pitchFamily="49" charset="0"/>
                <a:cs typeface="Courier New" panose="02070309020205020404" pitchFamily="49" charset="0"/>
                <a:sym typeface="Wingdings" panose="05000000000000000000" pitchFamily="2" charset="2"/>
              </a:rPr>
              <a:t>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R3 == </a:t>
            </a:r>
            <a:r>
              <a:rPr lang="pt-BR" sz="1400" dirty="0" err="1">
                <a:latin typeface="Courier New" panose="02070309020205020404" pitchFamily="49" charset="0"/>
                <a:cs typeface="Courier New" panose="02070309020205020404" pitchFamily="49" charset="0"/>
                <a:sym typeface="Wingdings" panose="05000000000000000000" pitchFamily="2" charset="2"/>
              </a:rPr>
              <a:t>Lo</a:t>
            </a:r>
            <a:r>
              <a:rPr lang="pt-BR" sz="1400" dirty="0">
                <a:latin typeface="Courier New" panose="02070309020205020404" pitchFamily="49" charset="0"/>
                <a:cs typeface="Courier New" panose="02070309020205020404" pitchFamily="49" charset="0"/>
                <a:sym typeface="Wingdings" panose="05000000000000000000" pitchFamily="2" charset="2"/>
              </a:rPr>
              <a:t> R9</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09A0	F073	BRA    MAINLOOP   ; </a:t>
            </a:r>
            <a:r>
              <a:rPr lang="pt-BR" sz="1400" dirty="0" err="1">
                <a:latin typeface="Courier New" panose="02070309020205020404" pitchFamily="49" charset="0"/>
                <a:cs typeface="Courier New" panose="02070309020205020404" pitchFamily="49" charset="0"/>
              </a:rPr>
              <a:t>perform</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one</a:t>
            </a:r>
            <a:r>
              <a:rPr lang="pt-BR" sz="1400" dirty="0">
                <a:latin typeface="Courier New" panose="02070309020205020404" pitchFamily="49" charset="0"/>
                <a:cs typeface="Courier New" panose="02070309020205020404" pitchFamily="49" charset="0"/>
              </a:rPr>
              <a:t> scroll </a:t>
            </a:r>
            <a:r>
              <a:rPr lang="pt-BR" sz="1400" dirty="0" err="1">
                <a:latin typeface="Courier New" panose="02070309020205020404" pitchFamily="49" charset="0"/>
                <a:cs typeface="Courier New" panose="02070309020205020404" pitchFamily="49" charset="0"/>
              </a:rPr>
              <a:t>cycle</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09A2	F095	BRA    MAINLOOP_INIT2  ; </a:t>
            </a:r>
            <a:r>
              <a:rPr lang="pt-BR" sz="1400" dirty="0" err="1">
                <a:latin typeface="Courier New" panose="02070309020205020404" pitchFamily="49" charset="0"/>
                <a:cs typeface="Courier New" panose="02070309020205020404" pitchFamily="49" charset="0"/>
              </a:rPr>
              <a:t>Restart</a:t>
            </a:r>
            <a:r>
              <a:rPr lang="pt-BR" sz="1400" dirty="0">
                <a:latin typeface="Courier New" panose="02070309020205020404" pitchFamily="49" charset="0"/>
                <a:cs typeface="Courier New" panose="02070309020205020404" pitchFamily="49" charset="0"/>
              </a:rPr>
              <a:t> big banner </a:t>
            </a:r>
            <a:r>
              <a:rPr lang="pt-BR" sz="1400" dirty="0" err="1">
                <a:latin typeface="Courier New" panose="02070309020205020404" pitchFamily="49" charset="0"/>
                <a:cs typeface="Courier New" panose="02070309020205020404" pitchFamily="49" charset="0"/>
              </a:rPr>
              <a:t>from</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left</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09A4	F077	BRA    MAINLOOP   ; </a:t>
            </a:r>
            <a:r>
              <a:rPr lang="pt-BR" sz="1400" dirty="0" err="1">
                <a:latin typeface="Courier New" panose="02070309020205020404" pitchFamily="49" charset="0"/>
                <a:cs typeface="Courier New" panose="02070309020205020404" pitchFamily="49" charset="0"/>
              </a:rPr>
              <a:t>not</a:t>
            </a:r>
            <a:r>
              <a:rPr lang="pt-BR" sz="1400" dirty="0">
                <a:latin typeface="Courier New" panose="02070309020205020404" pitchFamily="49" charset="0"/>
                <a:cs typeface="Courier New" panose="02070309020205020404" pitchFamily="49" charset="0"/>
              </a:rPr>
              <a:t> </a:t>
            </a:r>
            <a:r>
              <a:rPr lang="pt-BR" sz="1400" dirty="0" err="1">
                <a:latin typeface="Courier New" panose="02070309020205020404" pitchFamily="49" charset="0"/>
                <a:cs typeface="Courier New" panose="02070309020205020404" pitchFamily="49" charset="0"/>
              </a:rPr>
              <a:t>required</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09A6	0000	HALT              ; extra </a:t>
            </a:r>
            <a:r>
              <a:rPr lang="pt-BR" sz="1400" dirty="0" err="1">
                <a:latin typeface="Courier New" panose="02070309020205020404" pitchFamily="49" charset="0"/>
                <a:cs typeface="Courier New" panose="02070309020205020404" pitchFamily="49" charset="0"/>
              </a:rPr>
              <a:t>precaution</a:t>
            </a:r>
            <a:endParaRPr lang="pt-BR" sz="1400" dirty="0">
              <a:latin typeface="Courier New" panose="02070309020205020404" pitchFamily="49" charset="0"/>
              <a:cs typeface="Courier New" panose="02070309020205020404" pitchFamily="49" charset="0"/>
            </a:endParaRP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09A8	0004	NOP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09AA	0004	NOP</a:t>
            </a:r>
          </a:p>
        </p:txBody>
      </p:sp>
      <p:sp>
        <p:nvSpPr>
          <p:cNvPr id="36" name="Rectangle 35">
            <a:extLst>
              <a:ext uri="{FF2B5EF4-FFF2-40B4-BE49-F238E27FC236}">
                <a16:creationId xmlns:a16="http://schemas.microsoft.com/office/drawing/2014/main" id="{515B5CE7-165F-DA3B-9F1F-4810B279257A}"/>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099A</a:t>
            </a:r>
          </a:p>
        </p:txBody>
      </p:sp>
      <p:sp>
        <p:nvSpPr>
          <p:cNvPr id="37" name="TextBox 36">
            <a:extLst>
              <a:ext uri="{FF2B5EF4-FFF2-40B4-BE49-F238E27FC236}">
                <a16:creationId xmlns:a16="http://schemas.microsoft.com/office/drawing/2014/main" id="{6C4F4A13-B441-BDC0-3F12-65611744F395}"/>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38" name="Rectangle 37">
            <a:extLst>
              <a:ext uri="{FF2B5EF4-FFF2-40B4-BE49-F238E27FC236}">
                <a16:creationId xmlns:a16="http://schemas.microsoft.com/office/drawing/2014/main" id="{3684B108-275E-949B-ABA4-B316E48EA8F6}"/>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09F0</a:t>
            </a:r>
          </a:p>
        </p:txBody>
      </p:sp>
      <p:sp>
        <p:nvSpPr>
          <p:cNvPr id="39" name="Rectangle 38">
            <a:extLst>
              <a:ext uri="{FF2B5EF4-FFF2-40B4-BE49-F238E27FC236}">
                <a16:creationId xmlns:a16="http://schemas.microsoft.com/office/drawing/2014/main" id="{C7542F35-F7BF-12A4-D743-C453873264A9}"/>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0996</a:t>
            </a:r>
          </a:p>
        </p:txBody>
      </p:sp>
      <p:sp>
        <p:nvSpPr>
          <p:cNvPr id="40" name="Rectangle 39">
            <a:extLst>
              <a:ext uri="{FF2B5EF4-FFF2-40B4-BE49-F238E27FC236}">
                <a16:creationId xmlns:a16="http://schemas.microsoft.com/office/drawing/2014/main" id="{EF27A345-AF66-AF93-97CF-C62A8AB5EF0B}"/>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dirty="0">
                <a:solidFill>
                  <a:srgbClr val="FF0000"/>
                </a:solidFill>
                <a:latin typeface="Courier New" panose="02070309020205020404" pitchFamily="49" charset="0"/>
                <a:cs typeface="Courier New" panose="02070309020205020404" pitchFamily="49" charset="0"/>
              </a:rPr>
              <a:t>03</a:t>
            </a:r>
          </a:p>
        </p:txBody>
      </p:sp>
      <p:sp>
        <p:nvSpPr>
          <p:cNvPr id="41" name="TextBox 40">
            <a:extLst>
              <a:ext uri="{FF2B5EF4-FFF2-40B4-BE49-F238E27FC236}">
                <a16:creationId xmlns:a16="http://schemas.microsoft.com/office/drawing/2014/main" id="{C8763442-1A60-25BE-D6D4-4691E5C1B6E6}"/>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42" name="TextBox 41">
            <a:extLst>
              <a:ext uri="{FF2B5EF4-FFF2-40B4-BE49-F238E27FC236}">
                <a16:creationId xmlns:a16="http://schemas.microsoft.com/office/drawing/2014/main" id="{989DB0F8-50F6-988D-9B5A-245B7C5F826A}"/>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43" name="TextBox 42">
            <a:extLst>
              <a:ext uri="{FF2B5EF4-FFF2-40B4-BE49-F238E27FC236}">
                <a16:creationId xmlns:a16="http://schemas.microsoft.com/office/drawing/2014/main" id="{4E6A4763-69BF-0843-FF97-30CE66120157}"/>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44" name="Rectangle 43">
            <a:extLst>
              <a:ext uri="{FF2B5EF4-FFF2-40B4-BE49-F238E27FC236}">
                <a16:creationId xmlns:a16="http://schemas.microsoft.com/office/drawing/2014/main" id="{E2630355-54F5-5CC5-F023-0EEA816F0EF2}"/>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0CC1</a:t>
            </a:r>
          </a:p>
        </p:txBody>
      </p:sp>
      <p:sp>
        <p:nvSpPr>
          <p:cNvPr id="45" name="TextBox 44">
            <a:extLst>
              <a:ext uri="{FF2B5EF4-FFF2-40B4-BE49-F238E27FC236}">
                <a16:creationId xmlns:a16="http://schemas.microsoft.com/office/drawing/2014/main" id="{2AFA077E-C6B4-9836-FA57-94979E5AC71C}"/>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46" name="Rectangle 45">
            <a:extLst>
              <a:ext uri="{FF2B5EF4-FFF2-40B4-BE49-F238E27FC236}">
                <a16:creationId xmlns:a16="http://schemas.microsoft.com/office/drawing/2014/main" id="{BB7BFCCE-A909-6E57-2531-E56EB84E07FB}"/>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0D80</a:t>
            </a:r>
          </a:p>
        </p:txBody>
      </p:sp>
      <p:sp>
        <p:nvSpPr>
          <p:cNvPr id="47" name="Rectangle 46">
            <a:extLst>
              <a:ext uri="{FF2B5EF4-FFF2-40B4-BE49-F238E27FC236}">
                <a16:creationId xmlns:a16="http://schemas.microsoft.com/office/drawing/2014/main" id="{4512FB94-2F79-BAA8-137D-B45502C8258C}"/>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3700</a:t>
            </a:r>
          </a:p>
        </p:txBody>
      </p:sp>
      <p:sp>
        <p:nvSpPr>
          <p:cNvPr id="48" name="Rectangle 47">
            <a:extLst>
              <a:ext uri="{FF2B5EF4-FFF2-40B4-BE49-F238E27FC236}">
                <a16:creationId xmlns:a16="http://schemas.microsoft.com/office/drawing/2014/main" id="{3EA5BA4A-FE66-4198-4E99-C46547EBA999}"/>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49" name="TextBox 48">
            <a:extLst>
              <a:ext uri="{FF2B5EF4-FFF2-40B4-BE49-F238E27FC236}">
                <a16:creationId xmlns:a16="http://schemas.microsoft.com/office/drawing/2014/main" id="{F9C686E8-A152-37E1-88B7-8E87E8EF6E91}"/>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50" name="TextBox 49">
            <a:extLst>
              <a:ext uri="{FF2B5EF4-FFF2-40B4-BE49-F238E27FC236}">
                <a16:creationId xmlns:a16="http://schemas.microsoft.com/office/drawing/2014/main" id="{633525F0-2142-1082-C30C-933DF6FC3CAF}"/>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51" name="TextBox 50">
            <a:extLst>
              <a:ext uri="{FF2B5EF4-FFF2-40B4-BE49-F238E27FC236}">
                <a16:creationId xmlns:a16="http://schemas.microsoft.com/office/drawing/2014/main" id="{0D7A444E-8F1D-1139-A1F2-0ED6DE1DF287}"/>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52" name="Rectangle 51">
            <a:extLst>
              <a:ext uri="{FF2B5EF4-FFF2-40B4-BE49-F238E27FC236}">
                <a16:creationId xmlns:a16="http://schemas.microsoft.com/office/drawing/2014/main" id="{532A2B35-63C2-5B32-1FA8-DFB1A82A4ED1}"/>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dirty="0">
                <a:solidFill>
                  <a:srgbClr val="FF0000"/>
                </a:solidFill>
                <a:latin typeface="Courier New" panose="02070309020205020404" pitchFamily="49" charset="0"/>
                <a:cs typeface="Courier New" panose="02070309020205020404" pitchFamily="49" charset="0"/>
              </a:rPr>
              <a:t>02</a:t>
            </a:r>
          </a:p>
        </p:txBody>
      </p:sp>
      <p:sp>
        <p:nvSpPr>
          <p:cNvPr id="53" name="TextBox 52">
            <a:extLst>
              <a:ext uri="{FF2B5EF4-FFF2-40B4-BE49-F238E27FC236}">
                <a16:creationId xmlns:a16="http://schemas.microsoft.com/office/drawing/2014/main" id="{4CA57A9A-3285-33A2-131F-2F1B4FFACE86}"/>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54" name="Rectangle 53">
            <a:extLst>
              <a:ext uri="{FF2B5EF4-FFF2-40B4-BE49-F238E27FC236}">
                <a16:creationId xmlns:a16="http://schemas.microsoft.com/office/drawing/2014/main" id="{FC46DA5E-2246-4B50-5A56-CEBE09A13363}"/>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a:t>
            </a:r>
            <a:r>
              <a:rPr lang="en-US" dirty="0">
                <a:solidFill>
                  <a:srgbClr val="FF0000"/>
                </a:solidFill>
                <a:latin typeface="Courier New" panose="02070309020205020404" pitchFamily="49" charset="0"/>
                <a:cs typeface="Courier New" panose="02070309020205020404" pitchFamily="49" charset="0"/>
              </a:rPr>
              <a:t>14</a:t>
            </a:r>
          </a:p>
        </p:txBody>
      </p:sp>
      <p:sp>
        <p:nvSpPr>
          <p:cNvPr id="55" name="Rectangle 54">
            <a:extLst>
              <a:ext uri="{FF2B5EF4-FFF2-40B4-BE49-F238E27FC236}">
                <a16:creationId xmlns:a16="http://schemas.microsoft.com/office/drawing/2014/main" id="{807EE81B-AF45-B9ED-7962-E7C3D1B2A7CC}"/>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047D</a:t>
            </a:r>
          </a:p>
        </p:txBody>
      </p:sp>
      <p:sp>
        <p:nvSpPr>
          <p:cNvPr id="56" name="Rectangle 55">
            <a:extLst>
              <a:ext uri="{FF2B5EF4-FFF2-40B4-BE49-F238E27FC236}">
                <a16:creationId xmlns:a16="http://schemas.microsoft.com/office/drawing/2014/main" id="{681057FC-CD72-4E9A-4EC0-26C9678EA09A}"/>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0000</a:t>
            </a:r>
          </a:p>
        </p:txBody>
      </p:sp>
      <p:sp>
        <p:nvSpPr>
          <p:cNvPr id="57" name="TextBox 56">
            <a:extLst>
              <a:ext uri="{FF2B5EF4-FFF2-40B4-BE49-F238E27FC236}">
                <a16:creationId xmlns:a16="http://schemas.microsoft.com/office/drawing/2014/main" id="{E039EED8-4325-6B94-D030-3B12EB93F48B}"/>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58" name="TextBox 57">
            <a:extLst>
              <a:ext uri="{FF2B5EF4-FFF2-40B4-BE49-F238E27FC236}">
                <a16:creationId xmlns:a16="http://schemas.microsoft.com/office/drawing/2014/main" id="{A24F31C0-FDD2-80C6-13EA-F225AAEE5263}"/>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59" name="TextBox 58">
            <a:extLst>
              <a:ext uri="{FF2B5EF4-FFF2-40B4-BE49-F238E27FC236}">
                <a16:creationId xmlns:a16="http://schemas.microsoft.com/office/drawing/2014/main" id="{EA21922F-07F1-B353-F005-1FCA6A17D8AD}"/>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60" name="Rectangle 59">
            <a:extLst>
              <a:ext uri="{FF2B5EF4-FFF2-40B4-BE49-F238E27FC236}">
                <a16:creationId xmlns:a16="http://schemas.microsoft.com/office/drawing/2014/main" id="{AE415749-5A04-A73C-3E3E-A8C62B98DB40}"/>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0100</a:t>
            </a:r>
          </a:p>
        </p:txBody>
      </p:sp>
      <p:sp>
        <p:nvSpPr>
          <p:cNvPr id="61" name="TextBox 60">
            <a:extLst>
              <a:ext uri="{FF2B5EF4-FFF2-40B4-BE49-F238E27FC236}">
                <a16:creationId xmlns:a16="http://schemas.microsoft.com/office/drawing/2014/main" id="{E4C795DA-DC30-125C-E11A-260EC2A6B40D}"/>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62" name="Rectangle 61">
            <a:extLst>
              <a:ext uri="{FF2B5EF4-FFF2-40B4-BE49-F238E27FC236}">
                <a16:creationId xmlns:a16="http://schemas.microsoft.com/office/drawing/2014/main" id="{BE35ABFA-47CE-1F02-27C6-CD6F99011CCF}"/>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0CAA</a:t>
            </a:r>
          </a:p>
        </p:txBody>
      </p:sp>
      <p:sp>
        <p:nvSpPr>
          <p:cNvPr id="63" name="Rectangle 62">
            <a:extLst>
              <a:ext uri="{FF2B5EF4-FFF2-40B4-BE49-F238E27FC236}">
                <a16:creationId xmlns:a16="http://schemas.microsoft.com/office/drawing/2014/main" id="{4D212DCA-6DAE-412E-9828-A30C51330B35}"/>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0500</a:t>
            </a:r>
          </a:p>
        </p:txBody>
      </p:sp>
      <p:sp>
        <p:nvSpPr>
          <p:cNvPr id="64" name="Rectangle 63">
            <a:extLst>
              <a:ext uri="{FF2B5EF4-FFF2-40B4-BE49-F238E27FC236}">
                <a16:creationId xmlns:a16="http://schemas.microsoft.com/office/drawing/2014/main" id="{BFEAFF60-0129-AB69-027E-D0993CF6B186}"/>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00</a:t>
            </a:r>
            <a:r>
              <a:rPr lang="en-US" dirty="0">
                <a:solidFill>
                  <a:srgbClr val="FF0000"/>
                </a:solidFill>
                <a:latin typeface="Courier New" panose="02070309020205020404" pitchFamily="49" charset="0"/>
                <a:cs typeface="Courier New" panose="02070309020205020404" pitchFamily="49" charset="0"/>
              </a:rPr>
              <a:t>00</a:t>
            </a:r>
          </a:p>
        </p:txBody>
      </p:sp>
      <p:sp>
        <p:nvSpPr>
          <p:cNvPr id="65" name="TextBox 64">
            <a:extLst>
              <a:ext uri="{FF2B5EF4-FFF2-40B4-BE49-F238E27FC236}">
                <a16:creationId xmlns:a16="http://schemas.microsoft.com/office/drawing/2014/main" id="{EADEA091-6A54-5509-6FF6-DDD2A62FC5A2}"/>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66" name="TextBox 65">
            <a:extLst>
              <a:ext uri="{FF2B5EF4-FFF2-40B4-BE49-F238E27FC236}">
                <a16:creationId xmlns:a16="http://schemas.microsoft.com/office/drawing/2014/main" id="{E048FB29-C26C-8374-11B8-AE60B2103826}"/>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67" name="TextBox 66">
            <a:extLst>
              <a:ext uri="{FF2B5EF4-FFF2-40B4-BE49-F238E27FC236}">
                <a16:creationId xmlns:a16="http://schemas.microsoft.com/office/drawing/2014/main" id="{A0D492E6-6238-D0D9-FD4E-5E80ED25F455}"/>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68" name="TextBox 67">
            <a:extLst>
              <a:ext uri="{FF2B5EF4-FFF2-40B4-BE49-F238E27FC236}">
                <a16:creationId xmlns:a16="http://schemas.microsoft.com/office/drawing/2014/main" id="{334DD000-9631-31F6-A416-082A308BC4C7}"/>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cxnSp>
        <p:nvCxnSpPr>
          <p:cNvPr id="69" name="Straight Arrow Connector 68">
            <a:extLst>
              <a:ext uri="{FF2B5EF4-FFF2-40B4-BE49-F238E27FC236}">
                <a16:creationId xmlns:a16="http://schemas.microsoft.com/office/drawing/2014/main" id="{570873BB-3195-A0D5-F044-43FECF2CE43B}"/>
              </a:ext>
            </a:extLst>
          </p:cNvPr>
          <p:cNvCxnSpPr>
            <a:cxnSpLocks/>
          </p:cNvCxnSpPr>
          <p:nvPr/>
        </p:nvCxnSpPr>
        <p:spPr>
          <a:xfrm>
            <a:off x="2203938" y="750277"/>
            <a:ext cx="879231" cy="11801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1287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D7F9-160A-3B19-B00A-87A88355E4BF}"/>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EB675BB-B0ED-E961-53F5-A5629FE39032}"/>
              </a:ext>
            </a:extLst>
          </p:cNvPr>
          <p:cNvSpPr>
            <a:spLocks noGrp="1"/>
          </p:cNvSpPr>
          <p:nvPr>
            <p:ph idx="1"/>
          </p:nvPr>
        </p:nvSpPr>
        <p:spPr>
          <a:xfrm>
            <a:off x="2801814" y="351693"/>
            <a:ext cx="7624886" cy="4855307"/>
          </a:xfrm>
          <a:ln>
            <a:solidFill>
              <a:schemeClr val="accent1">
                <a:shade val="15000"/>
              </a:schemeClr>
            </a:solidFill>
          </a:ln>
        </p:spPr>
        <p:txBody>
          <a:bodyPr lIns="91440" tIns="91440" rIns="91440" bIns="91440">
            <a:noAutofit/>
          </a:bodyPr>
          <a:lstStyle/>
          <a:p>
            <a:pPr marL="0" indent="0">
              <a:spcBef>
                <a:spcPts val="200"/>
              </a:spcBef>
              <a:spcAft>
                <a:spcPts val="200"/>
              </a:spcAft>
              <a:buNone/>
            </a:pPr>
            <a:r>
              <a:rPr lang="pt-BR" sz="1400" dirty="0" err="1">
                <a:latin typeface="Courier New" panose="02070309020205020404" pitchFamily="49" charset="0"/>
                <a:cs typeface="Courier New" panose="02070309020205020404" pitchFamily="49" charset="0"/>
              </a:rPr>
              <a:t>SmallDelay</a:t>
            </a:r>
            <a:r>
              <a:rPr lang="pt-BR" sz="1400" dirty="0">
                <a:latin typeface="Courier New" panose="02070309020205020404" pitchFamily="49" charset="0"/>
                <a:cs typeface="Courier New" panose="02070309020205020404" pitchFamily="49" charset="0"/>
              </a:rPr>
              <a: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09AC	DC01 01C0  LWI    R12, DELAY_COUNT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09B0	DCC8       MOVE   R12,(R12)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delay_1: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09B2	DB01       NOP	 ; 1</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09B4	01C0       NOP 	 ; 2</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09B6	DF01       NOP	 ; 3</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09DE	55F8       NOP	 ; 23</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09E0	0004       NOP	 ; 24</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09E2	0CC1       DEC    R12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09E4	CC03       SZ     R12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09E6	F031       BRA    delay_1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09E8	0CCC       HTL    R12, R12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09EA	0CC1       DEC    R12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09EC	CC0B       SNZ    R12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09EE	0024       </a:t>
            </a:r>
            <a:r>
              <a:rPr lang="pt-BR" sz="1400" b="1" dirty="0">
                <a:latin typeface="Courier New" panose="02070309020205020404" pitchFamily="49" charset="0"/>
                <a:cs typeface="Courier New" panose="02070309020205020404" pitchFamily="49" charset="0"/>
              </a:rPr>
              <a:t>RET    R2</a:t>
            </a:r>
            <a:r>
              <a:rPr lang="pt-BR" sz="1400" dirty="0">
                <a:latin typeface="Courier New" panose="02070309020205020404" pitchFamily="49" charset="0"/>
                <a:cs typeface="Courier New" panose="02070309020205020404" pitchFamily="49" charset="0"/>
              </a:rPr>
              <a:t>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09F0	0CCD       LTH    R12, R12	</a:t>
            </a:r>
          </a:p>
          <a:p>
            <a:pPr marL="0" indent="0">
              <a:spcBef>
                <a:spcPts val="200"/>
              </a:spcBef>
              <a:spcAft>
                <a:spcPts val="200"/>
              </a:spcAft>
              <a:buNone/>
            </a:pPr>
            <a:r>
              <a:rPr lang="pt-BR" sz="1400" dirty="0">
                <a:latin typeface="Courier New" panose="02070309020205020404" pitchFamily="49" charset="0"/>
                <a:cs typeface="Courier New" panose="02070309020205020404" pitchFamily="49" charset="0"/>
              </a:rPr>
              <a:t>  09F2	F03D       BRA    delay_1	</a:t>
            </a:r>
          </a:p>
        </p:txBody>
      </p:sp>
      <p:sp>
        <p:nvSpPr>
          <p:cNvPr id="36" name="Rectangle 35">
            <a:extLst>
              <a:ext uri="{FF2B5EF4-FFF2-40B4-BE49-F238E27FC236}">
                <a16:creationId xmlns:a16="http://schemas.microsoft.com/office/drawing/2014/main" id="{4C84B725-A29D-83CD-4D28-439CDD58968B}"/>
              </a:ext>
            </a:extLst>
          </p:cNvPr>
          <p:cNvSpPr/>
          <p:nvPr/>
        </p:nvSpPr>
        <p:spPr>
          <a:xfrm>
            <a:off x="9576356" y="1164981"/>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B2C37B4-6197-F86B-5F76-FD476A469D3F}"/>
              </a:ext>
            </a:extLst>
          </p:cNvPr>
          <p:cNvSpPr/>
          <p:nvPr/>
        </p:nvSpPr>
        <p:spPr>
          <a:xfrm>
            <a:off x="9818632" y="4852857"/>
            <a:ext cx="164123" cy="159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79">
            <a:extLst>
              <a:ext uri="{FF2B5EF4-FFF2-40B4-BE49-F238E27FC236}">
                <a16:creationId xmlns:a16="http://schemas.microsoft.com/office/drawing/2014/main" id="{6F8D25AF-B1AB-AEAF-1827-619F64609F8C}"/>
              </a:ext>
            </a:extLst>
          </p:cNvPr>
          <p:cNvCxnSpPr>
            <a:cxnSpLocks/>
            <a:stCxn id="37" idx="3"/>
            <a:endCxn id="36" idx="3"/>
          </p:cNvCxnSpPr>
          <p:nvPr/>
        </p:nvCxnSpPr>
        <p:spPr>
          <a:xfrm flipH="1" flipV="1">
            <a:off x="9740479" y="1244600"/>
            <a:ext cx="242276" cy="3687876"/>
          </a:xfrm>
          <a:prstGeom prst="bentConnector3">
            <a:avLst>
              <a:gd name="adj1" fmla="val -94355"/>
            </a:avLst>
          </a:prstGeom>
          <a:ln w="25400">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DE61C308-3501-AB0E-1EF8-34FABA1C1F55}"/>
              </a:ext>
            </a:extLst>
          </p:cNvPr>
          <p:cNvSpPr/>
          <p:nvPr/>
        </p:nvSpPr>
        <p:spPr>
          <a:xfrm>
            <a:off x="1384300" y="5588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PC</a:t>
            </a:r>
          </a:p>
        </p:txBody>
      </p:sp>
      <p:sp>
        <p:nvSpPr>
          <p:cNvPr id="42" name="TextBox 41">
            <a:extLst>
              <a:ext uri="{FF2B5EF4-FFF2-40B4-BE49-F238E27FC236}">
                <a16:creationId xmlns:a16="http://schemas.microsoft.com/office/drawing/2014/main" id="{F31E16B3-7AAB-782F-8C9A-B0C411B22F9F}"/>
              </a:ext>
            </a:extLst>
          </p:cNvPr>
          <p:cNvSpPr txBox="1"/>
          <p:nvPr/>
        </p:nvSpPr>
        <p:spPr>
          <a:xfrm>
            <a:off x="739140" y="5455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R0</a:t>
            </a:r>
          </a:p>
        </p:txBody>
      </p:sp>
      <p:sp>
        <p:nvSpPr>
          <p:cNvPr id="43" name="Rectangle 42">
            <a:extLst>
              <a:ext uri="{FF2B5EF4-FFF2-40B4-BE49-F238E27FC236}">
                <a16:creationId xmlns:a16="http://schemas.microsoft.com/office/drawing/2014/main" id="{B0A2A39A-46AE-9F06-3B43-D50B5227B28D}"/>
              </a:ext>
            </a:extLst>
          </p:cNvPr>
          <p:cNvSpPr/>
          <p:nvPr/>
        </p:nvSpPr>
        <p:spPr>
          <a:xfrm>
            <a:off x="1384300" y="9017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4" name="Rectangle 43">
            <a:extLst>
              <a:ext uri="{FF2B5EF4-FFF2-40B4-BE49-F238E27FC236}">
                <a16:creationId xmlns:a16="http://schemas.microsoft.com/office/drawing/2014/main" id="{F8CDB128-C449-92AF-AE3F-60E1C6424D5C}"/>
              </a:ext>
            </a:extLst>
          </p:cNvPr>
          <p:cNvSpPr/>
          <p:nvPr/>
        </p:nvSpPr>
        <p:spPr>
          <a:xfrm>
            <a:off x="1384300" y="12446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5" name="Rectangle 44">
            <a:extLst>
              <a:ext uri="{FF2B5EF4-FFF2-40B4-BE49-F238E27FC236}">
                <a16:creationId xmlns:a16="http://schemas.microsoft.com/office/drawing/2014/main" id="{5540D450-2972-3D89-81BA-91CB3BCD4613}"/>
              </a:ext>
            </a:extLst>
          </p:cNvPr>
          <p:cNvSpPr/>
          <p:nvPr/>
        </p:nvSpPr>
        <p:spPr>
          <a:xfrm>
            <a:off x="1384300" y="15875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46" name="TextBox 45">
            <a:extLst>
              <a:ext uri="{FF2B5EF4-FFF2-40B4-BE49-F238E27FC236}">
                <a16:creationId xmlns:a16="http://schemas.microsoft.com/office/drawing/2014/main" id="{D5DE2BE6-9F0A-AB03-4E84-9EB61590CC19}"/>
              </a:ext>
            </a:extLst>
          </p:cNvPr>
          <p:cNvSpPr txBox="1"/>
          <p:nvPr/>
        </p:nvSpPr>
        <p:spPr>
          <a:xfrm>
            <a:off x="739140" y="8840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a:t>
            </a:r>
          </a:p>
        </p:txBody>
      </p:sp>
      <p:sp>
        <p:nvSpPr>
          <p:cNvPr id="47" name="TextBox 46">
            <a:extLst>
              <a:ext uri="{FF2B5EF4-FFF2-40B4-BE49-F238E27FC236}">
                <a16:creationId xmlns:a16="http://schemas.microsoft.com/office/drawing/2014/main" id="{4F4AC162-4C14-DBF5-3A43-13E56A677D17}"/>
              </a:ext>
            </a:extLst>
          </p:cNvPr>
          <p:cNvSpPr txBox="1"/>
          <p:nvPr/>
        </p:nvSpPr>
        <p:spPr>
          <a:xfrm>
            <a:off x="739140" y="12225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R2</a:t>
            </a:r>
          </a:p>
        </p:txBody>
      </p:sp>
      <p:sp>
        <p:nvSpPr>
          <p:cNvPr id="48" name="TextBox 47">
            <a:extLst>
              <a:ext uri="{FF2B5EF4-FFF2-40B4-BE49-F238E27FC236}">
                <a16:creationId xmlns:a16="http://schemas.microsoft.com/office/drawing/2014/main" id="{22F0AD37-36EB-1070-6CD7-F7C782B29601}"/>
              </a:ext>
            </a:extLst>
          </p:cNvPr>
          <p:cNvSpPr txBox="1"/>
          <p:nvPr/>
        </p:nvSpPr>
        <p:spPr>
          <a:xfrm>
            <a:off x="739140" y="15610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R3</a:t>
            </a:r>
          </a:p>
        </p:txBody>
      </p:sp>
      <p:sp>
        <p:nvSpPr>
          <p:cNvPr id="49" name="Rectangle 48">
            <a:extLst>
              <a:ext uri="{FF2B5EF4-FFF2-40B4-BE49-F238E27FC236}">
                <a16:creationId xmlns:a16="http://schemas.microsoft.com/office/drawing/2014/main" id="{8FB0A6BF-2135-78AC-4BBC-1E060C8DE49D}"/>
              </a:ext>
            </a:extLst>
          </p:cNvPr>
          <p:cNvSpPr/>
          <p:nvPr/>
        </p:nvSpPr>
        <p:spPr>
          <a:xfrm>
            <a:off x="1384300" y="19304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0" name="TextBox 49">
            <a:extLst>
              <a:ext uri="{FF2B5EF4-FFF2-40B4-BE49-F238E27FC236}">
                <a16:creationId xmlns:a16="http://schemas.microsoft.com/office/drawing/2014/main" id="{C3576B6F-B8A7-07E9-BB64-E5FAF8871692}"/>
              </a:ext>
            </a:extLst>
          </p:cNvPr>
          <p:cNvSpPr txBox="1"/>
          <p:nvPr/>
        </p:nvSpPr>
        <p:spPr>
          <a:xfrm>
            <a:off x="739140" y="191718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R4</a:t>
            </a:r>
          </a:p>
        </p:txBody>
      </p:sp>
      <p:sp>
        <p:nvSpPr>
          <p:cNvPr id="51" name="Rectangle 50">
            <a:extLst>
              <a:ext uri="{FF2B5EF4-FFF2-40B4-BE49-F238E27FC236}">
                <a16:creationId xmlns:a16="http://schemas.microsoft.com/office/drawing/2014/main" id="{B81405B6-E5BD-C649-72AB-E0B472793DCE}"/>
              </a:ext>
            </a:extLst>
          </p:cNvPr>
          <p:cNvSpPr/>
          <p:nvPr/>
        </p:nvSpPr>
        <p:spPr>
          <a:xfrm>
            <a:off x="1384300" y="22733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2" name="Rectangle 51">
            <a:extLst>
              <a:ext uri="{FF2B5EF4-FFF2-40B4-BE49-F238E27FC236}">
                <a16:creationId xmlns:a16="http://schemas.microsoft.com/office/drawing/2014/main" id="{EA61F54B-36E6-DBB4-A583-C86187E07C4E}"/>
              </a:ext>
            </a:extLst>
          </p:cNvPr>
          <p:cNvSpPr/>
          <p:nvPr/>
        </p:nvSpPr>
        <p:spPr>
          <a:xfrm>
            <a:off x="1384300" y="26162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3" name="Rectangle 52">
            <a:extLst>
              <a:ext uri="{FF2B5EF4-FFF2-40B4-BE49-F238E27FC236}">
                <a16:creationId xmlns:a16="http://schemas.microsoft.com/office/drawing/2014/main" id="{4F0EC809-7183-CB21-D2CF-16A9D11996D3}"/>
              </a:ext>
            </a:extLst>
          </p:cNvPr>
          <p:cNvSpPr/>
          <p:nvPr/>
        </p:nvSpPr>
        <p:spPr>
          <a:xfrm>
            <a:off x="1384300" y="2959100"/>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4" name="TextBox 53">
            <a:extLst>
              <a:ext uri="{FF2B5EF4-FFF2-40B4-BE49-F238E27FC236}">
                <a16:creationId xmlns:a16="http://schemas.microsoft.com/office/drawing/2014/main" id="{62C68545-D6E6-3473-684C-BC956FDCC2A1}"/>
              </a:ext>
            </a:extLst>
          </p:cNvPr>
          <p:cNvSpPr txBox="1"/>
          <p:nvPr/>
        </p:nvSpPr>
        <p:spPr>
          <a:xfrm>
            <a:off x="739140" y="2255679"/>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R5</a:t>
            </a:r>
          </a:p>
        </p:txBody>
      </p:sp>
      <p:sp>
        <p:nvSpPr>
          <p:cNvPr id="55" name="TextBox 54">
            <a:extLst>
              <a:ext uri="{FF2B5EF4-FFF2-40B4-BE49-F238E27FC236}">
                <a16:creationId xmlns:a16="http://schemas.microsoft.com/office/drawing/2014/main" id="{98BDE6FF-AA0C-BDC6-816D-DD2ACAB834CF}"/>
              </a:ext>
            </a:extLst>
          </p:cNvPr>
          <p:cNvSpPr txBox="1"/>
          <p:nvPr/>
        </p:nvSpPr>
        <p:spPr>
          <a:xfrm>
            <a:off x="739140" y="2594174"/>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R6</a:t>
            </a:r>
          </a:p>
        </p:txBody>
      </p:sp>
      <p:sp>
        <p:nvSpPr>
          <p:cNvPr id="56" name="TextBox 55">
            <a:extLst>
              <a:ext uri="{FF2B5EF4-FFF2-40B4-BE49-F238E27FC236}">
                <a16:creationId xmlns:a16="http://schemas.microsoft.com/office/drawing/2014/main" id="{F93C0DC6-F180-6724-1B61-2E6B1184C3F6}"/>
              </a:ext>
            </a:extLst>
          </p:cNvPr>
          <p:cNvSpPr txBox="1"/>
          <p:nvPr/>
        </p:nvSpPr>
        <p:spPr>
          <a:xfrm>
            <a:off x="739140" y="2932668"/>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R7</a:t>
            </a:r>
          </a:p>
        </p:txBody>
      </p:sp>
      <p:sp>
        <p:nvSpPr>
          <p:cNvPr id="57" name="Rectangle 56">
            <a:extLst>
              <a:ext uri="{FF2B5EF4-FFF2-40B4-BE49-F238E27FC236}">
                <a16:creationId xmlns:a16="http://schemas.microsoft.com/office/drawing/2014/main" id="{83FA2B67-1E24-7C44-8BA8-9493A57F47CB}"/>
              </a:ext>
            </a:extLst>
          </p:cNvPr>
          <p:cNvSpPr/>
          <p:nvPr/>
        </p:nvSpPr>
        <p:spPr>
          <a:xfrm>
            <a:off x="1384300" y="33152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58" name="TextBox 57">
            <a:extLst>
              <a:ext uri="{FF2B5EF4-FFF2-40B4-BE49-F238E27FC236}">
                <a16:creationId xmlns:a16="http://schemas.microsoft.com/office/drawing/2014/main" id="{5CBC6D4B-F46E-E733-C442-09B7461C0393}"/>
              </a:ext>
            </a:extLst>
          </p:cNvPr>
          <p:cNvSpPr txBox="1"/>
          <p:nvPr/>
        </p:nvSpPr>
        <p:spPr>
          <a:xfrm>
            <a:off x="739140" y="3302000"/>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R8</a:t>
            </a:r>
          </a:p>
        </p:txBody>
      </p:sp>
      <p:sp>
        <p:nvSpPr>
          <p:cNvPr id="59" name="Rectangle 58">
            <a:extLst>
              <a:ext uri="{FF2B5EF4-FFF2-40B4-BE49-F238E27FC236}">
                <a16:creationId xmlns:a16="http://schemas.microsoft.com/office/drawing/2014/main" id="{EB2E499F-AAA7-002B-E9E5-222B98D316F2}"/>
              </a:ext>
            </a:extLst>
          </p:cNvPr>
          <p:cNvSpPr/>
          <p:nvPr/>
        </p:nvSpPr>
        <p:spPr>
          <a:xfrm>
            <a:off x="1384300" y="36581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0" name="Rectangle 59">
            <a:extLst>
              <a:ext uri="{FF2B5EF4-FFF2-40B4-BE49-F238E27FC236}">
                <a16:creationId xmlns:a16="http://schemas.microsoft.com/office/drawing/2014/main" id="{86CA37A9-91FA-5BD3-3BFD-DCD5973FC19F}"/>
              </a:ext>
            </a:extLst>
          </p:cNvPr>
          <p:cNvSpPr/>
          <p:nvPr/>
        </p:nvSpPr>
        <p:spPr>
          <a:xfrm>
            <a:off x="1384300" y="40010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1" name="Rectangle 60">
            <a:extLst>
              <a:ext uri="{FF2B5EF4-FFF2-40B4-BE49-F238E27FC236}">
                <a16:creationId xmlns:a16="http://schemas.microsoft.com/office/drawing/2014/main" id="{12B885CA-8256-BBC6-1FD8-92545DD81906}"/>
              </a:ext>
            </a:extLst>
          </p:cNvPr>
          <p:cNvSpPr/>
          <p:nvPr/>
        </p:nvSpPr>
        <p:spPr>
          <a:xfrm>
            <a:off x="1384300" y="43439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2" name="TextBox 61">
            <a:extLst>
              <a:ext uri="{FF2B5EF4-FFF2-40B4-BE49-F238E27FC236}">
                <a16:creationId xmlns:a16="http://schemas.microsoft.com/office/drawing/2014/main" id="{7B556877-6BE8-56A3-C4BB-76434A996741}"/>
              </a:ext>
            </a:extLst>
          </p:cNvPr>
          <p:cNvSpPr txBox="1"/>
          <p:nvPr/>
        </p:nvSpPr>
        <p:spPr>
          <a:xfrm>
            <a:off x="739140" y="3640495"/>
            <a:ext cx="46038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R9</a:t>
            </a:r>
          </a:p>
        </p:txBody>
      </p:sp>
      <p:sp>
        <p:nvSpPr>
          <p:cNvPr id="63" name="TextBox 62">
            <a:extLst>
              <a:ext uri="{FF2B5EF4-FFF2-40B4-BE49-F238E27FC236}">
                <a16:creationId xmlns:a16="http://schemas.microsoft.com/office/drawing/2014/main" id="{6EAAF55F-3C16-4A85-884E-DC983F48222E}"/>
              </a:ext>
            </a:extLst>
          </p:cNvPr>
          <p:cNvSpPr txBox="1"/>
          <p:nvPr/>
        </p:nvSpPr>
        <p:spPr>
          <a:xfrm>
            <a:off x="739140" y="39789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R10</a:t>
            </a:r>
          </a:p>
        </p:txBody>
      </p:sp>
      <p:sp>
        <p:nvSpPr>
          <p:cNvPr id="64" name="TextBox 63">
            <a:extLst>
              <a:ext uri="{FF2B5EF4-FFF2-40B4-BE49-F238E27FC236}">
                <a16:creationId xmlns:a16="http://schemas.microsoft.com/office/drawing/2014/main" id="{1DA3A748-378D-1A8D-1D56-BCC857EE8F73}"/>
              </a:ext>
            </a:extLst>
          </p:cNvPr>
          <p:cNvSpPr txBox="1"/>
          <p:nvPr/>
        </p:nvSpPr>
        <p:spPr>
          <a:xfrm>
            <a:off x="739140" y="43174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R11</a:t>
            </a:r>
          </a:p>
        </p:txBody>
      </p:sp>
      <p:sp>
        <p:nvSpPr>
          <p:cNvPr id="65" name="Rectangle 64">
            <a:extLst>
              <a:ext uri="{FF2B5EF4-FFF2-40B4-BE49-F238E27FC236}">
                <a16:creationId xmlns:a16="http://schemas.microsoft.com/office/drawing/2014/main" id="{7DDD633E-34CC-103D-582C-12816180AC01}"/>
              </a:ext>
            </a:extLst>
          </p:cNvPr>
          <p:cNvSpPr/>
          <p:nvPr/>
        </p:nvSpPr>
        <p:spPr>
          <a:xfrm>
            <a:off x="1384300" y="46868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6" name="TextBox 65">
            <a:extLst>
              <a:ext uri="{FF2B5EF4-FFF2-40B4-BE49-F238E27FC236}">
                <a16:creationId xmlns:a16="http://schemas.microsoft.com/office/drawing/2014/main" id="{099A8473-A525-2024-B1F9-4ADB73C0E496}"/>
              </a:ext>
            </a:extLst>
          </p:cNvPr>
          <p:cNvSpPr txBox="1"/>
          <p:nvPr/>
        </p:nvSpPr>
        <p:spPr>
          <a:xfrm>
            <a:off x="739140" y="467360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R12</a:t>
            </a:r>
          </a:p>
        </p:txBody>
      </p:sp>
      <p:sp>
        <p:nvSpPr>
          <p:cNvPr id="67" name="Rectangle 66">
            <a:extLst>
              <a:ext uri="{FF2B5EF4-FFF2-40B4-BE49-F238E27FC236}">
                <a16:creationId xmlns:a16="http://schemas.microsoft.com/office/drawing/2014/main" id="{1CAE8069-8F95-0321-7C18-DFAB166AF555}"/>
              </a:ext>
            </a:extLst>
          </p:cNvPr>
          <p:cNvSpPr/>
          <p:nvPr/>
        </p:nvSpPr>
        <p:spPr>
          <a:xfrm>
            <a:off x="1384300" y="50297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8" name="Rectangle 67">
            <a:extLst>
              <a:ext uri="{FF2B5EF4-FFF2-40B4-BE49-F238E27FC236}">
                <a16:creationId xmlns:a16="http://schemas.microsoft.com/office/drawing/2014/main" id="{DCA6BBB9-1436-9A5E-EE93-B899102D68B4}"/>
              </a:ext>
            </a:extLst>
          </p:cNvPr>
          <p:cNvSpPr/>
          <p:nvPr/>
        </p:nvSpPr>
        <p:spPr>
          <a:xfrm>
            <a:off x="1384300" y="53726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69" name="Rectangle 68">
            <a:extLst>
              <a:ext uri="{FF2B5EF4-FFF2-40B4-BE49-F238E27FC236}">
                <a16:creationId xmlns:a16="http://schemas.microsoft.com/office/drawing/2014/main" id="{7C602FDB-EFA0-FE03-503B-17BC829F8E3B}"/>
              </a:ext>
            </a:extLst>
          </p:cNvPr>
          <p:cNvSpPr/>
          <p:nvPr/>
        </p:nvSpPr>
        <p:spPr>
          <a:xfrm>
            <a:off x="1384300" y="5715516"/>
            <a:ext cx="909320" cy="342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urier New" panose="02070309020205020404" pitchFamily="49" charset="0"/>
                <a:cs typeface="Courier New" panose="02070309020205020404" pitchFamily="49" charset="0"/>
              </a:rPr>
              <a:t>----</a:t>
            </a:r>
          </a:p>
        </p:txBody>
      </p:sp>
      <p:sp>
        <p:nvSpPr>
          <p:cNvPr id="70" name="TextBox 69">
            <a:extLst>
              <a:ext uri="{FF2B5EF4-FFF2-40B4-BE49-F238E27FC236}">
                <a16:creationId xmlns:a16="http://schemas.microsoft.com/office/drawing/2014/main" id="{6D388B28-7E12-CB8C-F078-63FF6147CC40}"/>
              </a:ext>
            </a:extLst>
          </p:cNvPr>
          <p:cNvSpPr txBox="1"/>
          <p:nvPr/>
        </p:nvSpPr>
        <p:spPr>
          <a:xfrm>
            <a:off x="739140" y="5012095"/>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R13</a:t>
            </a:r>
          </a:p>
        </p:txBody>
      </p:sp>
      <p:sp>
        <p:nvSpPr>
          <p:cNvPr id="71" name="TextBox 70">
            <a:extLst>
              <a:ext uri="{FF2B5EF4-FFF2-40B4-BE49-F238E27FC236}">
                <a16:creationId xmlns:a16="http://schemas.microsoft.com/office/drawing/2014/main" id="{8C798A13-6BFB-EBEB-958B-9FCBA1D9BB83}"/>
              </a:ext>
            </a:extLst>
          </p:cNvPr>
          <p:cNvSpPr txBox="1"/>
          <p:nvPr/>
        </p:nvSpPr>
        <p:spPr>
          <a:xfrm>
            <a:off x="739140" y="5350590"/>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R14</a:t>
            </a:r>
          </a:p>
        </p:txBody>
      </p:sp>
      <p:sp>
        <p:nvSpPr>
          <p:cNvPr id="72" name="TextBox 71">
            <a:extLst>
              <a:ext uri="{FF2B5EF4-FFF2-40B4-BE49-F238E27FC236}">
                <a16:creationId xmlns:a16="http://schemas.microsoft.com/office/drawing/2014/main" id="{39B636CF-A71C-E7EA-6227-6D292629BCE4}"/>
              </a:ext>
            </a:extLst>
          </p:cNvPr>
          <p:cNvSpPr txBox="1"/>
          <p:nvPr/>
        </p:nvSpPr>
        <p:spPr>
          <a:xfrm>
            <a:off x="739140" y="5689084"/>
            <a:ext cx="59824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R15</a:t>
            </a:r>
          </a:p>
        </p:txBody>
      </p:sp>
      <p:sp>
        <p:nvSpPr>
          <p:cNvPr id="73" name="TextBox 72">
            <a:extLst>
              <a:ext uri="{FF2B5EF4-FFF2-40B4-BE49-F238E27FC236}">
                <a16:creationId xmlns:a16="http://schemas.microsoft.com/office/drawing/2014/main" id="{94ED6D3A-1581-B582-D441-1DF70F6985FD}"/>
              </a:ext>
            </a:extLst>
          </p:cNvPr>
          <p:cNvSpPr txBox="1"/>
          <p:nvPr/>
        </p:nvSpPr>
        <p:spPr>
          <a:xfrm>
            <a:off x="1349131" y="187975"/>
            <a:ext cx="1011815"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HI  LO</a:t>
            </a:r>
          </a:p>
        </p:txBody>
      </p:sp>
      <p:sp>
        <p:nvSpPr>
          <p:cNvPr id="74" name="TextBox 73">
            <a:extLst>
              <a:ext uri="{FF2B5EF4-FFF2-40B4-BE49-F238E27FC236}">
                <a16:creationId xmlns:a16="http://schemas.microsoft.com/office/drawing/2014/main" id="{15F6862E-80AD-2337-7BF0-AA75FB70D74E}"/>
              </a:ext>
            </a:extLst>
          </p:cNvPr>
          <p:cNvSpPr txBox="1"/>
          <p:nvPr/>
        </p:nvSpPr>
        <p:spPr>
          <a:xfrm>
            <a:off x="8968154" y="490369"/>
            <a:ext cx="2484706" cy="307777"/>
          </a:xfrm>
          <a:prstGeom prst="rect">
            <a:avLst/>
          </a:prstGeom>
          <a:solidFill>
            <a:srgbClr val="FFC000"/>
          </a:solidFill>
        </p:spPr>
        <p:txBody>
          <a:bodyPr wrap="square" rtlCol="0">
            <a:spAutoFit/>
          </a:bodyPr>
          <a:lstStyle/>
          <a:p>
            <a:pPr algn="ctr"/>
            <a:r>
              <a:rPr lang="en-US" sz="1400" dirty="0">
                <a:latin typeface="Courier New" panose="02070309020205020404" pitchFamily="49" charset="0"/>
                <a:cs typeface="Courier New" panose="02070309020205020404" pitchFamily="49" charset="0"/>
              </a:rPr>
              <a:t>DELAY_COUNT = 0x2CFF</a:t>
            </a:r>
            <a:endParaRPr lang="en-US" sz="1400"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657384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2805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D0A6E-4048-EF61-8866-ECD16B8BB273}"/>
              </a:ext>
            </a:extLst>
          </p:cNvPr>
          <p:cNvSpPr>
            <a:spLocks noGrp="1"/>
          </p:cNvSpPr>
          <p:nvPr>
            <p:ph type="title"/>
          </p:nvPr>
        </p:nvSpPr>
        <p:spPr/>
        <p:txBody>
          <a:bodyPr/>
          <a:lstStyle/>
          <a:p>
            <a:r>
              <a:rPr lang="en-US" dirty="0"/>
              <a:t>Modifications…</a:t>
            </a:r>
          </a:p>
        </p:txBody>
      </p:sp>
      <p:sp>
        <p:nvSpPr>
          <p:cNvPr id="3" name="Content Placeholder 2">
            <a:extLst>
              <a:ext uri="{FF2B5EF4-FFF2-40B4-BE49-F238E27FC236}">
                <a16:creationId xmlns:a16="http://schemas.microsoft.com/office/drawing/2014/main" id="{47EFEB6A-6423-BF9A-A4F7-2592A3F83BDD}"/>
              </a:ext>
            </a:extLst>
          </p:cNvPr>
          <p:cNvSpPr>
            <a:spLocks noGrp="1"/>
          </p:cNvSpPr>
          <p:nvPr>
            <p:ph idx="1"/>
          </p:nvPr>
        </p:nvSpPr>
        <p:spPr/>
        <p:txBody>
          <a:bodyPr/>
          <a:lstStyle/>
          <a:p>
            <a:r>
              <a:rPr lang="en-US" dirty="0"/>
              <a:t>Adding the Up/Down Key polling to adjust scroll speed</a:t>
            </a:r>
          </a:p>
        </p:txBody>
      </p:sp>
    </p:spTree>
    <p:extLst>
      <p:ext uri="{BB962C8B-B14F-4D97-AF65-F5344CB8AC3E}">
        <p14:creationId xmlns:p14="http://schemas.microsoft.com/office/powerpoint/2010/main" val="17765580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9975-435C-586E-2063-33D6F918BFE2}"/>
              </a:ext>
            </a:extLst>
          </p:cNvPr>
          <p:cNvSpPr>
            <a:spLocks noGrp="1"/>
          </p:cNvSpPr>
          <p:nvPr>
            <p:ph type="title"/>
          </p:nvPr>
        </p:nvSpPr>
        <p:spPr/>
        <p:txBody>
          <a:bodyPr>
            <a:normAutofit/>
          </a:bodyPr>
          <a:lstStyle/>
          <a:p>
            <a:r>
              <a:rPr lang="en-US" sz="4000" dirty="0"/>
              <a:t>Ideas for the reserved “Per Character Settings”</a:t>
            </a:r>
          </a:p>
        </p:txBody>
      </p:sp>
      <p:sp>
        <p:nvSpPr>
          <p:cNvPr id="3" name="Content Placeholder 2">
            <a:extLst>
              <a:ext uri="{FF2B5EF4-FFF2-40B4-BE49-F238E27FC236}">
                <a16:creationId xmlns:a16="http://schemas.microsoft.com/office/drawing/2014/main" id="{AFC44E4E-7586-40B2-7550-1261A38BC029}"/>
              </a:ext>
            </a:extLst>
          </p:cNvPr>
          <p:cNvSpPr>
            <a:spLocks noGrp="1"/>
          </p:cNvSpPr>
          <p:nvPr>
            <p:ph idx="1"/>
          </p:nvPr>
        </p:nvSpPr>
        <p:spPr/>
        <p:txBody>
          <a:bodyPr/>
          <a:lstStyle/>
          <a:p>
            <a:r>
              <a:rPr lang="en-US" dirty="0"/>
              <a:t>Bits used for “special effects”</a:t>
            </a:r>
          </a:p>
          <a:p>
            <a:pPr lvl="1"/>
            <a:r>
              <a:rPr lang="en-US" dirty="0"/>
              <a:t>Alternate “symbol 1” vs “symbol 2” across each banner cycle</a:t>
            </a:r>
          </a:p>
          <a:p>
            <a:pPr lvl="1"/>
            <a:r>
              <a:rPr lang="en-US" dirty="0"/>
              <a:t>Counter to store number of full banner cycles (0-255)</a:t>
            </a:r>
          </a:p>
          <a:p>
            <a:pPr lvl="1"/>
            <a:r>
              <a:rPr lang="en-US" dirty="0"/>
              <a:t>“Invert” bit (reverse when to draw symbol vs background)</a:t>
            </a:r>
          </a:p>
          <a:p>
            <a:pPr lvl="1"/>
            <a:r>
              <a:rPr lang="en-US" dirty="0"/>
              <a:t>Trigger varying speed (to speed up/down delay)</a:t>
            </a:r>
          </a:p>
        </p:txBody>
      </p:sp>
    </p:spTree>
    <p:extLst>
      <p:ext uri="{BB962C8B-B14F-4D97-AF65-F5344CB8AC3E}">
        <p14:creationId xmlns:p14="http://schemas.microsoft.com/office/powerpoint/2010/main" val="80622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5892</TotalTime>
  <Words>13917</Words>
  <Application>Microsoft Office PowerPoint</Application>
  <PresentationFormat>Widescreen</PresentationFormat>
  <Paragraphs>2890</Paragraphs>
  <Slides>58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Calibri Light</vt:lpstr>
      <vt:lpstr>Courier New</vt:lpstr>
      <vt:lpstr>Times New Roman</vt:lpstr>
      <vt:lpstr>Wingdings</vt:lpstr>
      <vt:lpstr>Office Theme</vt:lpstr>
      <vt:lpstr>Xiphod’s Notes on IBM5100 Scroller PALM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Modifications…</vt:lpstr>
      <vt:lpstr>Ideas for the reserved “Per Character Settings”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Lewis</dc:creator>
  <cp:lastModifiedBy>Steve Lewis</cp:lastModifiedBy>
  <cp:revision>19</cp:revision>
  <dcterms:created xsi:type="dcterms:W3CDTF">2025-06-02T05:37:13Z</dcterms:created>
  <dcterms:modified xsi:type="dcterms:W3CDTF">2025-06-06T07:50:13Z</dcterms:modified>
</cp:coreProperties>
</file>